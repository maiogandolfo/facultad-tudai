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5143500" cx="9144000"/>
  <p:notesSz cx="6858000" cy="9144000"/>
  <p:embeddedFontLst>
    <p:embeddedFont>
      <p:font typeface="Helvetica Neue"/>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63" roundtripDataSignature="AMtx7mjCoRWzWwqrzXPiY658pE6VPjy2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HelveticaNeue-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e16e479c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1e16e479c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e16e479c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1e16e479c6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25e8ac6d6f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g125e8ac6d6f_2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25e8ac6d6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g125e8ac6d6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5e8ac6d6f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125e8ac6d6f_2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25e8ac6d6f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125e8ac6d6f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25e8ac6d6f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g125e8ac6d6f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5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5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5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5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5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5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6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62.png"/><Relationship Id="rId8"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38.png"/><Relationship Id="rId5"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35.png"/><Relationship Id="rId5"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38.png"/><Relationship Id="rId5"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45.png"/><Relationship Id="rId5"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40.png"/><Relationship Id="rId5"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50.png"/><Relationship Id="rId5"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46.png"/><Relationship Id="rId5"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9.png"/><Relationship Id="rId4" Type="http://schemas.openxmlformats.org/officeDocument/2006/relationships/image" Target="../media/image46.png"/><Relationship Id="rId5"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4.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3.pn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7.png"/><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9.png"/><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5.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1.png"/><Relationship Id="rId4" Type="http://schemas.openxmlformats.org/officeDocument/2006/relationships/image" Target="../media/image53.png"/><Relationship Id="rId5"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s://www.geogebra.org/m/mjpn9tb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0" y="4654500"/>
            <a:ext cx="9144000" cy="4890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Helvetica Neue"/>
                <a:ea typeface="Helvetica Neue"/>
                <a:cs typeface="Helvetica Neue"/>
                <a:sym typeface="Helvetica Neue"/>
              </a:rPr>
              <a:t>TUDAI / TUARI - Fac.Cs.Exactas - UNICEN</a:t>
            </a:r>
            <a:endParaRPr b="0" i="0" sz="1400" u="none" cap="none" strike="noStrike">
              <a:solidFill>
                <a:srgbClr val="FFFFFF"/>
              </a:solidFill>
              <a:latin typeface="Helvetica Neue"/>
              <a:ea typeface="Helvetica Neue"/>
              <a:cs typeface="Helvetica Neue"/>
              <a:sym typeface="Helvetica Neue"/>
            </a:endParaRPr>
          </a:p>
        </p:txBody>
      </p:sp>
      <p:pic>
        <p:nvPicPr>
          <p:cNvPr id="55" name="Google Shape;55;p1"/>
          <p:cNvPicPr preferRelativeResize="0"/>
          <p:nvPr/>
        </p:nvPicPr>
        <p:blipFill rotWithShape="1">
          <a:blip r:embed="rId3">
            <a:alphaModFix/>
          </a:blip>
          <a:srcRect b="13187" l="2625" r="65390" t="15642"/>
          <a:stretch/>
        </p:blipFill>
        <p:spPr>
          <a:xfrm>
            <a:off x="4084563" y="3759650"/>
            <a:ext cx="974875" cy="894850"/>
          </a:xfrm>
          <a:prstGeom prst="rect">
            <a:avLst/>
          </a:prstGeom>
          <a:noFill/>
          <a:ln>
            <a:noFill/>
          </a:ln>
        </p:spPr>
      </p:pic>
      <p:sp>
        <p:nvSpPr>
          <p:cNvPr id="56" name="Google Shape;56;p1"/>
          <p:cNvSpPr txBox="1"/>
          <p:nvPr/>
        </p:nvSpPr>
        <p:spPr>
          <a:xfrm>
            <a:off x="0" y="622200"/>
            <a:ext cx="9144000" cy="141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Helvetica Neue"/>
                <a:ea typeface="Helvetica Neue"/>
                <a:cs typeface="Helvetica Neue"/>
                <a:sym typeface="Helvetica Neue"/>
              </a:rPr>
              <a:t>TALLER DE MATEMÁTICA COMPUTACIONAL</a:t>
            </a:r>
            <a:endParaRPr b="0" i="0" sz="3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Helvetica Neue"/>
              <a:ea typeface="Helvetica Neue"/>
              <a:cs typeface="Helvetica Neue"/>
              <a:sym typeface="Helvetica Neue"/>
            </a:endParaRPr>
          </a:p>
        </p:txBody>
      </p:sp>
      <p:sp>
        <p:nvSpPr>
          <p:cNvPr id="57" name="Google Shape;57;p1"/>
          <p:cNvSpPr txBox="1"/>
          <p:nvPr/>
        </p:nvSpPr>
        <p:spPr>
          <a:xfrm>
            <a:off x="0" y="2374800"/>
            <a:ext cx="9144000" cy="73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Helvetica Neue"/>
                <a:ea typeface="Helvetica Neue"/>
                <a:cs typeface="Helvetica Neue"/>
                <a:sym typeface="Helvetica Neue"/>
              </a:rPr>
              <a:t>Unidad #3 - Funciones</a:t>
            </a:r>
            <a:endParaRPr b="0" i="0" sz="18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chemeClr val="dk1"/>
              </a:buClr>
              <a:buSzPts val="1100"/>
              <a:buFont typeface="Arial"/>
              <a:buNone/>
            </a:pPr>
            <a:r>
              <a:t/>
            </a:r>
            <a:endParaRPr b="0" i="0" sz="24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1e16e479c6e_0_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Son una herramienta fundamental de la </a:t>
            </a:r>
            <a:r>
              <a:rPr b="1" i="0" lang="en" sz="1800" u="none" cap="none" strike="noStrike">
                <a:solidFill>
                  <a:srgbClr val="000000"/>
                </a:solidFill>
                <a:latin typeface="Helvetica Neue"/>
                <a:ea typeface="Helvetica Neue"/>
                <a:cs typeface="Helvetica Neue"/>
                <a:sym typeface="Helvetica Neue"/>
              </a:rPr>
              <a:t>programación</a:t>
            </a:r>
            <a:r>
              <a:rPr b="0" i="0" lang="en" sz="1800" u="none" cap="none" strike="noStrike">
                <a:solidFill>
                  <a:srgbClr val="000000"/>
                </a:solidFill>
                <a:latin typeface="Helvetica Neue"/>
                <a:ea typeface="Helvetica Neue"/>
                <a:cs typeface="Helvetica Neue"/>
                <a:sym typeface="Helvetica Neue"/>
              </a:rPr>
              <a:t>:</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Modelan diferentes comportamientos del programa recibiendo parámetros de entrada y devolviendo una salida en base a ellos.</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Modularizan el código, haciéndolo más legible y facilitando su mantenimiento </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Permiten reutilizar código y evitar copias innecesarias.</a:t>
            </a:r>
            <a:endParaRPr b="0" i="0" sz="1800" u="none" cap="none" strike="noStrike">
              <a:solidFill>
                <a:srgbClr val="000000"/>
              </a:solidFill>
              <a:latin typeface="Helvetica Neue"/>
              <a:ea typeface="Helvetica Neue"/>
              <a:cs typeface="Helvetica Neue"/>
              <a:sym typeface="Helvetica Neue"/>
            </a:endParaRPr>
          </a:p>
        </p:txBody>
      </p:sp>
      <p:sp>
        <p:nvSpPr>
          <p:cNvPr id="63" name="Google Shape;63;g1e16e479c6e_0_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¿Por qué funciones en TUDAI?</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animEffect filter="fade" transition="in">
                                      <p:cBhvr>
                                        <p:cTn dur="500"/>
                                        <p:tgtEl>
                                          <p:spTgt spid="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animEffect filter="fade" transition="in">
                                      <p:cBhvr>
                                        <p:cTn dur="500"/>
                                        <p:tgtEl>
                                          <p:spTgt spid="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animEffect filter="fade" transition="in">
                                      <p:cBhvr>
                                        <p:cTn dur="500"/>
                                        <p:tgtEl>
                                          <p:spTgt spid="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3" st="3"/>
                                            </p:txEl>
                                          </p:spTgt>
                                        </p:tgtEl>
                                        <p:attrNameLst>
                                          <p:attrName>style.visibility</p:attrName>
                                        </p:attrNameLst>
                                      </p:cBhvr>
                                      <p:to>
                                        <p:strVal val="visible"/>
                                      </p:to>
                                    </p:set>
                                    <p:animEffect filter="fade" transition="in">
                                      <p:cBhvr>
                                        <p:cTn dur="500"/>
                                        <p:tgtEl>
                                          <p:spTgt spid="6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1e16e479c6e_0_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1" i="0" lang="en" sz="1800" u="none" cap="none" strike="noStrike">
                <a:solidFill>
                  <a:srgbClr val="000000"/>
                </a:solidFill>
                <a:latin typeface="Helvetica Neue"/>
                <a:ea typeface="Helvetica Neue"/>
                <a:cs typeface="Helvetica Neue"/>
                <a:sym typeface="Helvetica Neue"/>
              </a:rPr>
              <a:t>Modelar fenómenos</a:t>
            </a:r>
            <a:r>
              <a:rPr b="0" i="0" lang="en" sz="1800" u="none" cap="none" strike="noStrike">
                <a:solidFill>
                  <a:srgbClr val="000000"/>
                </a:solidFill>
                <a:latin typeface="Helvetica Neue"/>
                <a:ea typeface="Helvetica Neue"/>
                <a:cs typeface="Helvetica Neue"/>
                <a:sym typeface="Helvetica Neue"/>
              </a:rPr>
              <a:t>. Mediante las funciones podemos describir matemáticamente diferentes situaciones de la vida cotidiana, y luego aproximar la solución mediante un programa.</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Interpretar y realizar gráficos</a:t>
            </a:r>
            <a:r>
              <a:rPr b="0" i="0" lang="en" sz="1800" u="none" cap="none" strike="noStrike">
                <a:solidFill>
                  <a:srgbClr val="000000"/>
                </a:solidFill>
                <a:latin typeface="Helvetica Neue"/>
                <a:ea typeface="Helvetica Neue"/>
                <a:cs typeface="Helvetica Neue"/>
                <a:sym typeface="Helvetica Neue"/>
              </a:rPr>
              <a:t>. La visualización de información es central para la transmisión de nuestras soluciones. Muchas veces podemos usar gráficos de funciones para esto, por ejemplo la cantidad de alumnos de TUDAI en cada año.</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Resolver problemas. </a:t>
            </a:r>
            <a:r>
              <a:rPr b="0" i="0" lang="en" sz="1800" u="none" cap="none" strike="noStrike">
                <a:solidFill>
                  <a:srgbClr val="000000"/>
                </a:solidFill>
                <a:latin typeface="Helvetica Neue"/>
                <a:ea typeface="Helvetica Neue"/>
                <a:cs typeface="Helvetica Neue"/>
                <a:sym typeface="Helvetica Neue"/>
              </a:rPr>
              <a:t>Los conceptos por detrás de la resolución nos ayudarán a ser mejores programadores. Los conceptos de definición de función los podremos aplicar para entender el </a:t>
            </a:r>
            <a:r>
              <a:rPr b="0" i="1" lang="en" sz="1800" u="none" cap="none" strike="noStrike">
                <a:solidFill>
                  <a:srgbClr val="000000"/>
                </a:solidFill>
                <a:latin typeface="Helvetica Neue"/>
                <a:ea typeface="Helvetica Neue"/>
                <a:cs typeface="Helvetica Neue"/>
                <a:sym typeface="Helvetica Neue"/>
              </a:rPr>
              <a:t>hashing</a:t>
            </a:r>
            <a:r>
              <a:rPr b="0" i="0" lang="en" sz="1800" u="none" cap="none" strike="noStrike">
                <a:solidFill>
                  <a:srgbClr val="000000"/>
                </a:solidFill>
                <a:latin typeface="Helvetica Neue"/>
                <a:ea typeface="Helvetica Neue"/>
                <a:cs typeface="Helvetica Neue"/>
                <a:sym typeface="Helvetica Neue"/>
              </a:rPr>
              <a:t>, los conceptos de inecuaciones para resolver mejor consultas por rango, etc</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p:txBody>
      </p:sp>
      <p:sp>
        <p:nvSpPr>
          <p:cNvPr id="69" name="Google Shape;69;g1e16e479c6e_0_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¿Qué nos va a permitir saber funciones?</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animEffect filter="fade" transition="in">
                                      <p:cBhvr>
                                        <p:cTn dur="500"/>
                                        <p:tgtEl>
                                          <p:spTgt spid="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animEffect filter="fade" transition="in">
                                      <p:cBhvr>
                                        <p:cTn dur="500"/>
                                        <p:tgtEl>
                                          <p:spTgt spid="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animEffect filter="fade" transition="in">
                                      <p:cBhvr>
                                        <p:cTn dur="500"/>
                                        <p:tgtEl>
                                          <p:spTgt spid="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animEffect filter="fade" transition="in">
                                      <p:cBhvr>
                                        <p:cTn dur="500"/>
                                        <p:tgtEl>
                                          <p:spTgt spid="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animEffect filter="fade" transition="in">
                                      <p:cBhvr>
                                        <p:cTn dur="500"/>
                                        <p:tgtEl>
                                          <p:spTgt spid="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animEffect filter="fade" transition="in">
                                      <p:cBhvr>
                                        <p:cTn dur="500"/>
                                        <p:tgtEl>
                                          <p:spTgt spid="6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Helvetica Neue"/>
                <a:ea typeface="Helvetica Neue"/>
                <a:cs typeface="Helvetica Neue"/>
                <a:sym typeface="Helvetica Neue"/>
              </a:rPr>
              <a:t>Poder definir una función y sus características principales.</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Poder leer notación de funciones con facilidad.</a:t>
            </a:r>
            <a:endParaRPr b="1"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Reconocer, a partir de una gráfica, la forma general de una función y viceversa.</a:t>
            </a:r>
            <a:endParaRPr b="1"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Calcular raíces, ordenada al origen, asíntotas e intervalos de comportamiento de las funciones.</a:t>
            </a:r>
            <a:endParaRPr b="1"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p:txBody>
      </p:sp>
      <p:sp>
        <p:nvSpPr>
          <p:cNvPr id="75" name="Google Shape;75;p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Objetivos</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Effect filter="fade" transition="in">
                                      <p:cBhvr>
                                        <p:cTn dur="500"/>
                                        <p:tgtEl>
                                          <p:spTgt spid="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animEffect filter="fade" transition="in">
                                      <p:cBhvr>
                                        <p:cTn dur="500"/>
                                        <p:tgtEl>
                                          <p:spTgt spid="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animEffect filter="fade" transition="in">
                                      <p:cBhvr>
                                        <p:cTn dur="500"/>
                                        <p:tgtEl>
                                          <p:spTgt spid="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animEffect filter="fade" transition="in">
                                      <p:cBhvr>
                                        <p:cTn dur="500"/>
                                        <p:tgtEl>
                                          <p:spTgt spid="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animEffect filter="fade" transition="in">
                                      <p:cBhvr>
                                        <p:cTn dur="500"/>
                                        <p:tgtEl>
                                          <p:spTgt spid="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5" st="5"/>
                                            </p:txEl>
                                          </p:spTgt>
                                        </p:tgtEl>
                                        <p:attrNameLst>
                                          <p:attrName>style.visibility</p:attrName>
                                        </p:attrNameLst>
                                      </p:cBhvr>
                                      <p:to>
                                        <p:strVal val="visible"/>
                                      </p:to>
                                    </p:set>
                                    <p:animEffect filter="fade" transition="in">
                                      <p:cBhvr>
                                        <p:cTn dur="500"/>
                                        <p:tgtEl>
                                          <p:spTgt spid="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6" st="6"/>
                                            </p:txEl>
                                          </p:spTgt>
                                        </p:tgtEl>
                                        <p:attrNameLst>
                                          <p:attrName>style.visibility</p:attrName>
                                        </p:attrNameLst>
                                      </p:cBhvr>
                                      <p:to>
                                        <p:strVal val="visible"/>
                                      </p:to>
                                    </p:set>
                                    <p:animEffect filter="fade" transition="in">
                                      <p:cBhvr>
                                        <p:cTn dur="500"/>
                                        <p:tgtEl>
                                          <p:spTgt spid="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7" st="7"/>
                                            </p:txEl>
                                          </p:spTgt>
                                        </p:tgtEl>
                                        <p:attrNameLst>
                                          <p:attrName>style.visibility</p:attrName>
                                        </p:attrNameLst>
                                      </p:cBhvr>
                                      <p:to>
                                        <p:strVal val="visible"/>
                                      </p:to>
                                    </p:set>
                                    <p:animEffect filter="fade" transition="in">
                                      <p:cBhvr>
                                        <p:cTn dur="500"/>
                                        <p:tgtEl>
                                          <p:spTgt spid="7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nvSpPr>
        <p:spPr>
          <a:xfrm>
            <a:off x="-75" y="619775"/>
            <a:ext cx="9144000" cy="42951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Una función es una </a:t>
            </a:r>
            <a:r>
              <a:rPr b="1" i="0" lang="en" sz="1500" u="none" cap="none" strike="noStrike">
                <a:solidFill>
                  <a:srgbClr val="000000"/>
                </a:solidFill>
                <a:latin typeface="Helvetica Neue"/>
                <a:ea typeface="Helvetica Neue"/>
                <a:cs typeface="Helvetica Neue"/>
                <a:sym typeface="Helvetica Neue"/>
              </a:rPr>
              <a:t>relación entre dos conjuntos (Dominio y Codominio)</a:t>
            </a:r>
            <a:r>
              <a:rPr b="0" i="0" lang="en" sz="1500" u="none" cap="none" strike="noStrike">
                <a:solidFill>
                  <a:srgbClr val="000000"/>
                </a:solidFill>
                <a:latin typeface="Helvetica Neue"/>
                <a:ea typeface="Helvetica Neue"/>
                <a:cs typeface="Helvetica Neue"/>
                <a:sym typeface="Helvetica Neue"/>
              </a:rPr>
              <a:t>.</a:t>
            </a:r>
            <a:endParaRPr b="0" i="0" sz="15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Helvetica Neue"/>
              <a:ea typeface="Helvetica Neue"/>
              <a:cs typeface="Helvetica Neue"/>
              <a:sym typeface="Helvetica Neue"/>
            </a:endParaRPr>
          </a:p>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A cada elemento del </a:t>
            </a:r>
            <a:r>
              <a:rPr b="1" i="0" lang="en" sz="1500" u="none" cap="none" strike="noStrike">
                <a:solidFill>
                  <a:srgbClr val="000000"/>
                </a:solidFill>
                <a:latin typeface="Helvetica Neue"/>
                <a:ea typeface="Helvetica Neue"/>
                <a:cs typeface="Helvetica Neue"/>
                <a:sym typeface="Helvetica Neue"/>
              </a:rPr>
              <a:t>Dominio </a:t>
            </a:r>
            <a:r>
              <a:rPr b="0" i="0" lang="en" sz="1500" u="none" cap="none" strike="noStrike">
                <a:solidFill>
                  <a:srgbClr val="000000"/>
                </a:solidFill>
                <a:latin typeface="Helvetica Neue"/>
                <a:ea typeface="Helvetica Neue"/>
                <a:cs typeface="Helvetica Neue"/>
                <a:sym typeface="Helvetica Neue"/>
              </a:rPr>
              <a:t>le corresponde </a:t>
            </a:r>
            <a:r>
              <a:rPr b="1" i="0" lang="en" sz="1500" u="none" cap="none" strike="noStrike">
                <a:solidFill>
                  <a:srgbClr val="000000"/>
                </a:solidFill>
                <a:latin typeface="Helvetica Neue"/>
                <a:ea typeface="Helvetica Neue"/>
                <a:cs typeface="Helvetica Neue"/>
                <a:sym typeface="Helvetica Neue"/>
              </a:rPr>
              <a:t>un único valor</a:t>
            </a:r>
            <a:r>
              <a:rPr b="0" i="0" lang="en" sz="1500" u="none" cap="none" strike="noStrike">
                <a:solidFill>
                  <a:srgbClr val="000000"/>
                </a:solidFill>
                <a:latin typeface="Helvetica Neue"/>
                <a:ea typeface="Helvetica Neue"/>
                <a:cs typeface="Helvetica Neue"/>
                <a:sym typeface="Helvetica Neue"/>
              </a:rPr>
              <a:t> en el </a:t>
            </a:r>
            <a:r>
              <a:rPr b="1" i="0" lang="en" sz="1500" u="none" cap="none" strike="noStrike">
                <a:solidFill>
                  <a:srgbClr val="000000"/>
                </a:solidFill>
                <a:latin typeface="Helvetica Neue"/>
                <a:ea typeface="Helvetica Neue"/>
                <a:cs typeface="Helvetica Neue"/>
                <a:sym typeface="Helvetica Neue"/>
              </a:rPr>
              <a:t>Codominio</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p:txBody>
      </p:sp>
      <p:sp>
        <p:nvSpPr>
          <p:cNvPr id="81" name="Google Shape;81;p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Qué es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grpSp>
        <p:nvGrpSpPr>
          <p:cNvPr id="82" name="Google Shape;82;p3"/>
          <p:cNvGrpSpPr/>
          <p:nvPr/>
        </p:nvGrpSpPr>
        <p:grpSpPr>
          <a:xfrm>
            <a:off x="437138" y="2448275"/>
            <a:ext cx="1583700" cy="2272500"/>
            <a:chOff x="437138" y="2448275"/>
            <a:chExt cx="1583700" cy="2272500"/>
          </a:xfrm>
        </p:grpSpPr>
        <p:sp>
          <p:nvSpPr>
            <p:cNvPr id="83" name="Google Shape;83;p3"/>
            <p:cNvSpPr/>
            <p:nvPr/>
          </p:nvSpPr>
          <p:spPr>
            <a:xfrm>
              <a:off x="437138"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txBox="1"/>
            <p:nvPr/>
          </p:nvSpPr>
          <p:spPr>
            <a:xfrm>
              <a:off x="762800" y="2448275"/>
              <a:ext cx="932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Dominio</a:t>
              </a:r>
              <a:endParaRPr b="0" i="0" sz="1400" u="none" cap="none" strike="noStrike">
                <a:solidFill>
                  <a:srgbClr val="000000"/>
                </a:solidFill>
                <a:latin typeface="Arial"/>
                <a:ea typeface="Arial"/>
                <a:cs typeface="Arial"/>
                <a:sym typeface="Arial"/>
              </a:endParaRPr>
            </a:p>
          </p:txBody>
        </p:sp>
        <p:sp>
          <p:nvSpPr>
            <p:cNvPr id="85" name="Google Shape;85;p3"/>
            <p:cNvSpPr txBox="1"/>
            <p:nvPr/>
          </p:nvSpPr>
          <p:spPr>
            <a:xfrm>
              <a:off x="1032950"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86" name="Google Shape;86;p3"/>
          <p:cNvGrpSpPr/>
          <p:nvPr/>
        </p:nvGrpSpPr>
        <p:grpSpPr>
          <a:xfrm>
            <a:off x="3617813" y="2448275"/>
            <a:ext cx="1583700" cy="2272500"/>
            <a:chOff x="3617813" y="2448275"/>
            <a:chExt cx="1583700" cy="2272500"/>
          </a:xfrm>
        </p:grpSpPr>
        <p:sp>
          <p:nvSpPr>
            <p:cNvPr id="87" name="Google Shape;87;p3"/>
            <p:cNvSpPr/>
            <p:nvPr/>
          </p:nvSpPr>
          <p:spPr>
            <a:xfrm>
              <a:off x="3617813"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txBox="1"/>
            <p:nvPr/>
          </p:nvSpPr>
          <p:spPr>
            <a:xfrm>
              <a:off x="3827525" y="2448275"/>
              <a:ext cx="11643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Codominio</a:t>
              </a:r>
              <a:endParaRPr b="0" i="0" sz="1400" u="none" cap="none" strike="noStrike">
                <a:solidFill>
                  <a:srgbClr val="000000"/>
                </a:solidFill>
                <a:latin typeface="Arial"/>
                <a:ea typeface="Arial"/>
                <a:cs typeface="Arial"/>
                <a:sym typeface="Arial"/>
              </a:endParaRPr>
            </a:p>
          </p:txBody>
        </p:sp>
        <p:sp>
          <p:nvSpPr>
            <p:cNvPr id="89" name="Google Shape;89;p3"/>
            <p:cNvSpPr txBox="1"/>
            <p:nvPr/>
          </p:nvSpPr>
          <p:spPr>
            <a:xfrm>
              <a:off x="4213625"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grpSp>
      <p:cxnSp>
        <p:nvCxnSpPr>
          <p:cNvPr id="90" name="Google Shape;90;p3"/>
          <p:cNvCxnSpPr/>
          <p:nvPr/>
        </p:nvCxnSpPr>
        <p:spPr>
          <a:xfrm>
            <a:off x="1274300" y="3152700"/>
            <a:ext cx="2989800" cy="14700"/>
          </a:xfrm>
          <a:prstGeom prst="straightConnector1">
            <a:avLst/>
          </a:prstGeom>
          <a:noFill/>
          <a:ln cap="flat" cmpd="sng" w="9525">
            <a:solidFill>
              <a:schemeClr val="dk2"/>
            </a:solidFill>
            <a:prstDash val="solid"/>
            <a:round/>
            <a:headEnd len="sm" w="sm" type="none"/>
            <a:tailEnd len="med" w="med" type="triangle"/>
          </a:ln>
        </p:spPr>
      </p:cxnSp>
      <p:cxnSp>
        <p:nvCxnSpPr>
          <p:cNvPr id="91" name="Google Shape;91;p3"/>
          <p:cNvCxnSpPr/>
          <p:nvPr/>
        </p:nvCxnSpPr>
        <p:spPr>
          <a:xfrm>
            <a:off x="1307000" y="3578350"/>
            <a:ext cx="2957100" cy="11100"/>
          </a:xfrm>
          <a:prstGeom prst="straightConnector1">
            <a:avLst/>
          </a:prstGeom>
          <a:noFill/>
          <a:ln cap="flat" cmpd="sng" w="9525">
            <a:solidFill>
              <a:schemeClr val="dk2"/>
            </a:solidFill>
            <a:prstDash val="solid"/>
            <a:round/>
            <a:headEnd len="sm" w="sm" type="none"/>
            <a:tailEnd len="med" w="med" type="triangle"/>
          </a:ln>
        </p:spPr>
      </p:cxnSp>
      <p:cxnSp>
        <p:nvCxnSpPr>
          <p:cNvPr id="92" name="Google Shape;92;p3"/>
          <p:cNvCxnSpPr/>
          <p:nvPr/>
        </p:nvCxnSpPr>
        <p:spPr>
          <a:xfrm flipH="1" rot="10800000">
            <a:off x="1274300" y="3996500"/>
            <a:ext cx="2982600" cy="14700"/>
          </a:xfrm>
          <a:prstGeom prst="straightConnector1">
            <a:avLst/>
          </a:prstGeom>
          <a:noFill/>
          <a:ln cap="flat" cmpd="sng" w="9525">
            <a:solidFill>
              <a:schemeClr val="dk2"/>
            </a:solidFill>
            <a:prstDash val="solid"/>
            <a:round/>
            <a:headEnd len="sm" w="sm" type="none"/>
            <a:tailEnd len="med" w="med" type="triangle"/>
          </a:ln>
        </p:spPr>
      </p:cxnSp>
      <p:cxnSp>
        <p:nvCxnSpPr>
          <p:cNvPr id="93" name="Google Shape;93;p3"/>
          <p:cNvCxnSpPr/>
          <p:nvPr/>
        </p:nvCxnSpPr>
        <p:spPr>
          <a:xfrm flipH="1" rot="10800000">
            <a:off x="1340900" y="3182325"/>
            <a:ext cx="2819700" cy="12729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Una función es una </a:t>
            </a:r>
            <a:r>
              <a:rPr b="1" i="0" lang="en" sz="1500" u="none" cap="none" strike="noStrike">
                <a:solidFill>
                  <a:srgbClr val="000000"/>
                </a:solidFill>
                <a:latin typeface="Helvetica Neue"/>
                <a:ea typeface="Helvetica Neue"/>
                <a:cs typeface="Helvetica Neue"/>
                <a:sym typeface="Helvetica Neue"/>
              </a:rPr>
              <a:t>relación entre dos conjuntos (Dominio y Codominio)</a:t>
            </a:r>
            <a:r>
              <a:rPr b="0" i="0" lang="en" sz="1500" u="none" cap="none" strike="noStrike">
                <a:solidFill>
                  <a:srgbClr val="000000"/>
                </a:solidFill>
                <a:latin typeface="Helvetica Neue"/>
                <a:ea typeface="Helvetica Neue"/>
                <a:cs typeface="Helvetica Neue"/>
                <a:sym typeface="Helvetica Neue"/>
              </a:rPr>
              <a:t>.</a:t>
            </a:r>
            <a:endParaRPr b="0" i="0" sz="15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Helvetica Neue"/>
              <a:ea typeface="Helvetica Neue"/>
              <a:cs typeface="Helvetica Neue"/>
              <a:sym typeface="Helvetica Neue"/>
            </a:endParaRPr>
          </a:p>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A cada elemento del </a:t>
            </a:r>
            <a:r>
              <a:rPr b="1" i="0" lang="en" sz="1500" u="none" cap="none" strike="noStrike">
                <a:solidFill>
                  <a:srgbClr val="000000"/>
                </a:solidFill>
                <a:latin typeface="Helvetica Neue"/>
                <a:ea typeface="Helvetica Neue"/>
                <a:cs typeface="Helvetica Neue"/>
                <a:sym typeface="Helvetica Neue"/>
              </a:rPr>
              <a:t>Dominio </a:t>
            </a:r>
            <a:r>
              <a:rPr b="0" i="0" lang="en" sz="1500" u="none" cap="none" strike="noStrike">
                <a:solidFill>
                  <a:srgbClr val="000000"/>
                </a:solidFill>
                <a:latin typeface="Helvetica Neue"/>
                <a:ea typeface="Helvetica Neue"/>
                <a:cs typeface="Helvetica Neue"/>
                <a:sym typeface="Helvetica Neue"/>
              </a:rPr>
              <a:t>le corresponde </a:t>
            </a:r>
            <a:r>
              <a:rPr b="1" i="0" lang="en" sz="1500" u="none" cap="none" strike="noStrike">
                <a:solidFill>
                  <a:srgbClr val="000000"/>
                </a:solidFill>
                <a:latin typeface="Helvetica Neue"/>
                <a:ea typeface="Helvetica Neue"/>
                <a:cs typeface="Helvetica Neue"/>
                <a:sym typeface="Helvetica Neue"/>
              </a:rPr>
              <a:t>un único valor</a:t>
            </a:r>
            <a:r>
              <a:rPr b="0" i="0" lang="en" sz="1500" u="none" cap="none" strike="noStrike">
                <a:solidFill>
                  <a:srgbClr val="000000"/>
                </a:solidFill>
                <a:latin typeface="Helvetica Neue"/>
                <a:ea typeface="Helvetica Neue"/>
                <a:cs typeface="Helvetica Neue"/>
                <a:sym typeface="Helvetica Neue"/>
              </a:rPr>
              <a:t> en el </a:t>
            </a:r>
            <a:r>
              <a:rPr b="1" i="0" lang="en" sz="1500" u="none" cap="none" strike="noStrike">
                <a:solidFill>
                  <a:srgbClr val="000000"/>
                </a:solidFill>
                <a:latin typeface="Helvetica Neue"/>
                <a:ea typeface="Helvetica Neue"/>
                <a:cs typeface="Helvetica Neue"/>
                <a:sym typeface="Helvetica Neue"/>
              </a:rPr>
              <a:t>Codominio.</a:t>
            </a:r>
            <a:endParaRPr b="1" i="0" sz="15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El </a:t>
            </a:r>
            <a:r>
              <a:rPr b="1" i="0" lang="en" sz="1500" u="none" cap="none" strike="noStrike">
                <a:solidFill>
                  <a:srgbClr val="000000"/>
                </a:solidFill>
                <a:latin typeface="Helvetica Neue"/>
                <a:ea typeface="Helvetica Neue"/>
                <a:cs typeface="Helvetica Neue"/>
                <a:sym typeface="Helvetica Neue"/>
              </a:rPr>
              <a:t>conjunto</a:t>
            </a:r>
            <a:r>
              <a:rPr b="0" i="0" lang="en" sz="1500" u="none" cap="none" strike="noStrike">
                <a:solidFill>
                  <a:srgbClr val="000000"/>
                </a:solidFill>
                <a:latin typeface="Helvetica Neue"/>
                <a:ea typeface="Helvetica Neue"/>
                <a:cs typeface="Helvetica Neue"/>
                <a:sym typeface="Helvetica Neue"/>
              </a:rPr>
              <a:t> conformado por los valores alcanzados en el </a:t>
            </a:r>
            <a:r>
              <a:rPr b="1" i="0" lang="en" sz="1500" u="none" cap="none" strike="noStrike">
                <a:solidFill>
                  <a:srgbClr val="000000"/>
                </a:solidFill>
                <a:latin typeface="Helvetica Neue"/>
                <a:ea typeface="Helvetica Neue"/>
                <a:cs typeface="Helvetica Neue"/>
                <a:sym typeface="Helvetica Neue"/>
              </a:rPr>
              <a:t>Codominio </a:t>
            </a:r>
            <a:r>
              <a:rPr b="0" i="0" lang="en" sz="1500" u="none" cap="none" strike="noStrike">
                <a:solidFill>
                  <a:srgbClr val="000000"/>
                </a:solidFill>
                <a:latin typeface="Helvetica Neue"/>
                <a:ea typeface="Helvetica Neue"/>
                <a:cs typeface="Helvetica Neue"/>
                <a:sym typeface="Helvetica Neue"/>
              </a:rPr>
              <a:t>se denomina </a:t>
            </a:r>
            <a:r>
              <a:rPr b="1" i="0" lang="en" sz="1500" u="none" cap="none" strike="noStrike">
                <a:solidFill>
                  <a:srgbClr val="000000"/>
                </a:solidFill>
                <a:latin typeface="Helvetica Neue"/>
                <a:ea typeface="Helvetica Neue"/>
                <a:cs typeface="Helvetica Neue"/>
                <a:sym typeface="Helvetica Neue"/>
              </a:rPr>
              <a:t>Imagen.</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p:txBody>
      </p:sp>
      <p:sp>
        <p:nvSpPr>
          <p:cNvPr id="99" name="Google Shape;99;p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Qué es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sp>
        <p:nvSpPr>
          <p:cNvPr id="100" name="Google Shape;100;p4"/>
          <p:cNvSpPr/>
          <p:nvPr/>
        </p:nvSpPr>
        <p:spPr>
          <a:xfrm>
            <a:off x="437138"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
          <p:cNvSpPr/>
          <p:nvPr/>
        </p:nvSpPr>
        <p:spPr>
          <a:xfrm>
            <a:off x="3617813"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4"/>
          <p:cNvSpPr txBox="1"/>
          <p:nvPr/>
        </p:nvSpPr>
        <p:spPr>
          <a:xfrm>
            <a:off x="762800" y="2448275"/>
            <a:ext cx="932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Dominio</a:t>
            </a:r>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3827525" y="2448275"/>
            <a:ext cx="11643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Codominio</a:t>
            </a:r>
            <a:endParaRPr b="0" i="0" sz="1400" u="none" cap="none" strike="noStrike">
              <a:solidFill>
                <a:srgbClr val="000000"/>
              </a:solidFill>
              <a:latin typeface="Arial"/>
              <a:ea typeface="Arial"/>
              <a:cs typeface="Arial"/>
              <a:sym typeface="Arial"/>
            </a:endParaRPr>
          </a:p>
        </p:txBody>
      </p:sp>
      <p:sp>
        <p:nvSpPr>
          <p:cNvPr id="104" name="Google Shape;104;p4"/>
          <p:cNvSpPr txBox="1"/>
          <p:nvPr/>
        </p:nvSpPr>
        <p:spPr>
          <a:xfrm>
            <a:off x="1032950"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05" name="Google Shape;105;p4"/>
          <p:cNvSpPr/>
          <p:nvPr/>
        </p:nvSpPr>
        <p:spPr>
          <a:xfrm>
            <a:off x="4161725" y="3002950"/>
            <a:ext cx="495900" cy="116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txBox="1"/>
          <p:nvPr/>
        </p:nvSpPr>
        <p:spPr>
          <a:xfrm>
            <a:off x="4213625"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cxnSp>
        <p:nvCxnSpPr>
          <p:cNvPr id="107" name="Google Shape;107;p4"/>
          <p:cNvCxnSpPr/>
          <p:nvPr/>
        </p:nvCxnSpPr>
        <p:spPr>
          <a:xfrm>
            <a:off x="1274300" y="3152700"/>
            <a:ext cx="2989800" cy="14700"/>
          </a:xfrm>
          <a:prstGeom prst="straightConnector1">
            <a:avLst/>
          </a:prstGeom>
          <a:noFill/>
          <a:ln cap="flat" cmpd="sng" w="9525">
            <a:solidFill>
              <a:schemeClr val="dk2"/>
            </a:solidFill>
            <a:prstDash val="solid"/>
            <a:round/>
            <a:headEnd len="sm" w="sm" type="none"/>
            <a:tailEnd len="med" w="med" type="triangle"/>
          </a:ln>
        </p:spPr>
      </p:cxnSp>
      <p:cxnSp>
        <p:nvCxnSpPr>
          <p:cNvPr id="108" name="Google Shape;108;p4"/>
          <p:cNvCxnSpPr/>
          <p:nvPr/>
        </p:nvCxnSpPr>
        <p:spPr>
          <a:xfrm>
            <a:off x="1307000" y="3578350"/>
            <a:ext cx="2957100" cy="11100"/>
          </a:xfrm>
          <a:prstGeom prst="straightConnector1">
            <a:avLst/>
          </a:prstGeom>
          <a:noFill/>
          <a:ln cap="flat" cmpd="sng" w="9525">
            <a:solidFill>
              <a:schemeClr val="dk2"/>
            </a:solidFill>
            <a:prstDash val="solid"/>
            <a:round/>
            <a:headEnd len="sm" w="sm" type="none"/>
            <a:tailEnd len="med" w="med" type="triangle"/>
          </a:ln>
        </p:spPr>
      </p:cxnSp>
      <p:cxnSp>
        <p:nvCxnSpPr>
          <p:cNvPr id="109" name="Google Shape;109;p4"/>
          <p:cNvCxnSpPr/>
          <p:nvPr/>
        </p:nvCxnSpPr>
        <p:spPr>
          <a:xfrm flipH="1" rot="10800000">
            <a:off x="1274300" y="3996500"/>
            <a:ext cx="2982600" cy="14700"/>
          </a:xfrm>
          <a:prstGeom prst="straightConnector1">
            <a:avLst/>
          </a:prstGeom>
          <a:noFill/>
          <a:ln cap="flat" cmpd="sng" w="9525">
            <a:solidFill>
              <a:schemeClr val="dk2"/>
            </a:solidFill>
            <a:prstDash val="solid"/>
            <a:round/>
            <a:headEnd len="sm" w="sm" type="none"/>
            <a:tailEnd len="med" w="med" type="triangle"/>
          </a:ln>
        </p:spPr>
      </p:cxnSp>
      <p:cxnSp>
        <p:nvCxnSpPr>
          <p:cNvPr id="110" name="Google Shape;110;p4"/>
          <p:cNvCxnSpPr/>
          <p:nvPr/>
        </p:nvCxnSpPr>
        <p:spPr>
          <a:xfrm flipH="1" rot="10800000">
            <a:off x="1340900" y="3182325"/>
            <a:ext cx="2819700" cy="1272900"/>
          </a:xfrm>
          <a:prstGeom prst="straightConnector1">
            <a:avLst/>
          </a:prstGeom>
          <a:noFill/>
          <a:ln cap="flat" cmpd="sng" w="9525">
            <a:solidFill>
              <a:schemeClr val="dk2"/>
            </a:solidFill>
            <a:prstDash val="solid"/>
            <a:round/>
            <a:headEnd len="sm" w="sm" type="none"/>
            <a:tailEnd len="sm" w="sm" type="none"/>
          </a:ln>
        </p:spPr>
      </p:cxnSp>
      <p:sp>
        <p:nvSpPr>
          <p:cNvPr id="111" name="Google Shape;111;p4"/>
          <p:cNvSpPr txBox="1"/>
          <p:nvPr/>
        </p:nvSpPr>
        <p:spPr>
          <a:xfrm>
            <a:off x="4628820" y="3064025"/>
            <a:ext cx="987300" cy="3693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Imagen</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Una función es una </a:t>
            </a:r>
            <a:r>
              <a:rPr b="1" i="0" lang="en" sz="1500" u="none" cap="none" strike="noStrike">
                <a:solidFill>
                  <a:srgbClr val="000000"/>
                </a:solidFill>
                <a:latin typeface="Helvetica Neue"/>
                <a:ea typeface="Helvetica Neue"/>
                <a:cs typeface="Helvetica Neue"/>
                <a:sym typeface="Helvetica Neue"/>
              </a:rPr>
              <a:t>relación entre dos conjuntos (Dominio y Codominio)</a:t>
            </a:r>
            <a:r>
              <a:rPr b="0" i="0" lang="en" sz="1500" u="none" cap="none" strike="noStrike">
                <a:solidFill>
                  <a:srgbClr val="000000"/>
                </a:solidFill>
                <a:latin typeface="Helvetica Neue"/>
                <a:ea typeface="Helvetica Neue"/>
                <a:cs typeface="Helvetica Neue"/>
                <a:sym typeface="Helvetica Neue"/>
              </a:rPr>
              <a:t>.</a:t>
            </a:r>
            <a:endParaRPr b="0" i="0" sz="15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Helvetica Neue"/>
              <a:ea typeface="Helvetica Neue"/>
              <a:cs typeface="Helvetica Neue"/>
              <a:sym typeface="Helvetica Neue"/>
            </a:endParaRPr>
          </a:p>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A cada elemento del </a:t>
            </a:r>
            <a:r>
              <a:rPr b="1" i="0" lang="en" sz="1500" u="none" cap="none" strike="noStrike">
                <a:solidFill>
                  <a:srgbClr val="000000"/>
                </a:solidFill>
                <a:latin typeface="Helvetica Neue"/>
                <a:ea typeface="Helvetica Neue"/>
                <a:cs typeface="Helvetica Neue"/>
                <a:sym typeface="Helvetica Neue"/>
              </a:rPr>
              <a:t>Dominio </a:t>
            </a:r>
            <a:r>
              <a:rPr b="0" i="0" lang="en" sz="1500" u="none" cap="none" strike="noStrike">
                <a:solidFill>
                  <a:srgbClr val="000000"/>
                </a:solidFill>
                <a:latin typeface="Helvetica Neue"/>
                <a:ea typeface="Helvetica Neue"/>
                <a:cs typeface="Helvetica Neue"/>
                <a:sym typeface="Helvetica Neue"/>
              </a:rPr>
              <a:t>le corresponde </a:t>
            </a:r>
            <a:r>
              <a:rPr b="1" i="0" lang="en" sz="1500" u="none" cap="none" strike="noStrike">
                <a:solidFill>
                  <a:srgbClr val="000000"/>
                </a:solidFill>
                <a:latin typeface="Helvetica Neue"/>
                <a:ea typeface="Helvetica Neue"/>
                <a:cs typeface="Helvetica Neue"/>
                <a:sym typeface="Helvetica Neue"/>
              </a:rPr>
              <a:t>un único valor</a:t>
            </a:r>
            <a:r>
              <a:rPr b="0" i="0" lang="en" sz="1500" u="none" cap="none" strike="noStrike">
                <a:solidFill>
                  <a:srgbClr val="000000"/>
                </a:solidFill>
                <a:latin typeface="Helvetica Neue"/>
                <a:ea typeface="Helvetica Neue"/>
                <a:cs typeface="Helvetica Neue"/>
                <a:sym typeface="Helvetica Neue"/>
              </a:rPr>
              <a:t> en el </a:t>
            </a:r>
            <a:r>
              <a:rPr b="1" i="0" lang="en" sz="1500" u="none" cap="none" strike="noStrike">
                <a:solidFill>
                  <a:srgbClr val="000000"/>
                </a:solidFill>
                <a:latin typeface="Helvetica Neue"/>
                <a:ea typeface="Helvetica Neue"/>
                <a:cs typeface="Helvetica Neue"/>
                <a:sym typeface="Helvetica Neue"/>
              </a:rPr>
              <a:t>Codominio.</a:t>
            </a:r>
            <a:endParaRPr b="1" i="0" sz="15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323850" lvl="0" marL="457200" marR="0" rtl="0" algn="l">
              <a:lnSpc>
                <a:spcPct val="100000"/>
              </a:lnSpc>
              <a:spcBef>
                <a:spcPts val="0"/>
              </a:spcBef>
              <a:spcAft>
                <a:spcPts val="0"/>
              </a:spcAft>
              <a:buClr>
                <a:srgbClr val="000000"/>
              </a:buClr>
              <a:buSzPts val="1500"/>
              <a:buFont typeface="Helvetica Neue"/>
              <a:buChar char="●"/>
            </a:pPr>
            <a:r>
              <a:rPr b="0" i="0" lang="en" sz="1500" u="none" cap="none" strike="noStrike">
                <a:solidFill>
                  <a:srgbClr val="000000"/>
                </a:solidFill>
                <a:latin typeface="Helvetica Neue"/>
                <a:ea typeface="Helvetica Neue"/>
                <a:cs typeface="Helvetica Neue"/>
                <a:sym typeface="Helvetica Neue"/>
              </a:rPr>
              <a:t>El </a:t>
            </a:r>
            <a:r>
              <a:rPr b="1" i="0" lang="en" sz="1500" u="none" cap="none" strike="noStrike">
                <a:solidFill>
                  <a:srgbClr val="000000"/>
                </a:solidFill>
                <a:latin typeface="Helvetica Neue"/>
                <a:ea typeface="Helvetica Neue"/>
                <a:cs typeface="Helvetica Neue"/>
                <a:sym typeface="Helvetica Neue"/>
              </a:rPr>
              <a:t>conjunto</a:t>
            </a:r>
            <a:r>
              <a:rPr b="0" i="0" lang="en" sz="1500" u="none" cap="none" strike="noStrike">
                <a:solidFill>
                  <a:srgbClr val="000000"/>
                </a:solidFill>
                <a:latin typeface="Helvetica Neue"/>
                <a:ea typeface="Helvetica Neue"/>
                <a:cs typeface="Helvetica Neue"/>
                <a:sym typeface="Helvetica Neue"/>
              </a:rPr>
              <a:t> conformado por los valores alcanzados en el </a:t>
            </a:r>
            <a:r>
              <a:rPr b="1" i="0" lang="en" sz="1500" u="none" cap="none" strike="noStrike">
                <a:solidFill>
                  <a:srgbClr val="000000"/>
                </a:solidFill>
                <a:latin typeface="Helvetica Neue"/>
                <a:ea typeface="Helvetica Neue"/>
                <a:cs typeface="Helvetica Neue"/>
                <a:sym typeface="Helvetica Neue"/>
              </a:rPr>
              <a:t>Codominio </a:t>
            </a:r>
            <a:r>
              <a:rPr b="0" i="0" lang="en" sz="1500" u="none" cap="none" strike="noStrike">
                <a:solidFill>
                  <a:srgbClr val="000000"/>
                </a:solidFill>
                <a:latin typeface="Helvetica Neue"/>
                <a:ea typeface="Helvetica Neue"/>
                <a:cs typeface="Helvetica Neue"/>
                <a:sym typeface="Helvetica Neue"/>
              </a:rPr>
              <a:t>se denomina </a:t>
            </a:r>
            <a:r>
              <a:rPr b="1" i="0" lang="en" sz="1500" u="none" cap="none" strike="noStrike">
                <a:solidFill>
                  <a:srgbClr val="000000"/>
                </a:solidFill>
                <a:latin typeface="Helvetica Neue"/>
                <a:ea typeface="Helvetica Neue"/>
                <a:cs typeface="Helvetica Neue"/>
                <a:sym typeface="Helvetica Neue"/>
              </a:rPr>
              <a:t>Imagen.</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Helvetica Neue"/>
              <a:ea typeface="Helvetica Neue"/>
              <a:cs typeface="Helvetica Neue"/>
              <a:sym typeface="Helvetica Neue"/>
            </a:endParaRPr>
          </a:p>
        </p:txBody>
      </p:sp>
      <p:sp>
        <p:nvSpPr>
          <p:cNvPr id="117" name="Google Shape;117;p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Qué es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sp>
        <p:nvSpPr>
          <p:cNvPr id="118" name="Google Shape;118;p5"/>
          <p:cNvSpPr/>
          <p:nvPr/>
        </p:nvSpPr>
        <p:spPr>
          <a:xfrm>
            <a:off x="437138"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p:nvPr/>
        </p:nvSpPr>
        <p:spPr>
          <a:xfrm>
            <a:off x="3617813" y="2848475"/>
            <a:ext cx="1583700" cy="18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
          <p:cNvSpPr txBox="1"/>
          <p:nvPr/>
        </p:nvSpPr>
        <p:spPr>
          <a:xfrm>
            <a:off x="762800" y="2448275"/>
            <a:ext cx="932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Dominio</a:t>
            </a:r>
            <a:endParaRPr b="0" i="0" sz="1400" u="none" cap="none" strike="noStrike">
              <a:solidFill>
                <a:srgbClr val="000000"/>
              </a:solidFill>
              <a:latin typeface="Arial"/>
              <a:ea typeface="Arial"/>
              <a:cs typeface="Arial"/>
              <a:sym typeface="Arial"/>
            </a:endParaRPr>
          </a:p>
        </p:txBody>
      </p:sp>
      <p:sp>
        <p:nvSpPr>
          <p:cNvPr id="121" name="Google Shape;121;p5"/>
          <p:cNvSpPr txBox="1"/>
          <p:nvPr/>
        </p:nvSpPr>
        <p:spPr>
          <a:xfrm>
            <a:off x="3827525" y="2448275"/>
            <a:ext cx="11643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Codominio</a:t>
            </a:r>
            <a:endParaRPr b="0" i="0" sz="1400" u="none" cap="none" strike="noStrike">
              <a:solidFill>
                <a:srgbClr val="000000"/>
              </a:solidFill>
              <a:latin typeface="Arial"/>
              <a:ea typeface="Arial"/>
              <a:cs typeface="Arial"/>
              <a:sym typeface="Arial"/>
            </a:endParaRPr>
          </a:p>
        </p:txBody>
      </p:sp>
      <p:sp>
        <p:nvSpPr>
          <p:cNvPr id="122" name="Google Shape;122;p5"/>
          <p:cNvSpPr txBox="1"/>
          <p:nvPr/>
        </p:nvSpPr>
        <p:spPr>
          <a:xfrm>
            <a:off x="1032950"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3" name="Google Shape;123;p5"/>
          <p:cNvSpPr/>
          <p:nvPr/>
        </p:nvSpPr>
        <p:spPr>
          <a:xfrm>
            <a:off x="4161725" y="3002950"/>
            <a:ext cx="495900" cy="116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
          <p:cNvSpPr txBox="1"/>
          <p:nvPr/>
        </p:nvSpPr>
        <p:spPr>
          <a:xfrm>
            <a:off x="4213625" y="2938025"/>
            <a:ext cx="392100" cy="1693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cxnSp>
        <p:nvCxnSpPr>
          <p:cNvPr id="125" name="Google Shape;125;p5"/>
          <p:cNvCxnSpPr/>
          <p:nvPr/>
        </p:nvCxnSpPr>
        <p:spPr>
          <a:xfrm>
            <a:off x="1274300" y="3152700"/>
            <a:ext cx="2989800" cy="14700"/>
          </a:xfrm>
          <a:prstGeom prst="straightConnector1">
            <a:avLst/>
          </a:prstGeom>
          <a:noFill/>
          <a:ln cap="flat" cmpd="sng" w="9525">
            <a:solidFill>
              <a:schemeClr val="dk2"/>
            </a:solidFill>
            <a:prstDash val="solid"/>
            <a:round/>
            <a:headEnd len="sm" w="sm" type="none"/>
            <a:tailEnd len="med" w="med" type="triangle"/>
          </a:ln>
        </p:spPr>
      </p:cxnSp>
      <p:cxnSp>
        <p:nvCxnSpPr>
          <p:cNvPr id="126" name="Google Shape;126;p5"/>
          <p:cNvCxnSpPr/>
          <p:nvPr/>
        </p:nvCxnSpPr>
        <p:spPr>
          <a:xfrm>
            <a:off x="1307000" y="3578350"/>
            <a:ext cx="2957100" cy="11100"/>
          </a:xfrm>
          <a:prstGeom prst="straightConnector1">
            <a:avLst/>
          </a:prstGeom>
          <a:noFill/>
          <a:ln cap="flat" cmpd="sng" w="9525">
            <a:solidFill>
              <a:schemeClr val="dk2"/>
            </a:solidFill>
            <a:prstDash val="solid"/>
            <a:round/>
            <a:headEnd len="sm" w="sm" type="none"/>
            <a:tailEnd len="med" w="med" type="triangle"/>
          </a:ln>
        </p:spPr>
      </p:cxnSp>
      <p:cxnSp>
        <p:nvCxnSpPr>
          <p:cNvPr id="127" name="Google Shape;127;p5"/>
          <p:cNvCxnSpPr/>
          <p:nvPr/>
        </p:nvCxnSpPr>
        <p:spPr>
          <a:xfrm flipH="1" rot="10800000">
            <a:off x="1274300" y="3996500"/>
            <a:ext cx="2982600" cy="14700"/>
          </a:xfrm>
          <a:prstGeom prst="straightConnector1">
            <a:avLst/>
          </a:prstGeom>
          <a:noFill/>
          <a:ln cap="flat" cmpd="sng" w="9525">
            <a:solidFill>
              <a:schemeClr val="dk2"/>
            </a:solidFill>
            <a:prstDash val="solid"/>
            <a:round/>
            <a:headEnd len="sm" w="sm" type="none"/>
            <a:tailEnd len="med" w="med" type="triangle"/>
          </a:ln>
        </p:spPr>
      </p:cxnSp>
      <p:cxnSp>
        <p:nvCxnSpPr>
          <p:cNvPr id="128" name="Google Shape;128;p5"/>
          <p:cNvCxnSpPr/>
          <p:nvPr/>
        </p:nvCxnSpPr>
        <p:spPr>
          <a:xfrm flipH="1" rot="10800000">
            <a:off x="1340900" y="3182325"/>
            <a:ext cx="2819700" cy="1272900"/>
          </a:xfrm>
          <a:prstGeom prst="straightConnector1">
            <a:avLst/>
          </a:prstGeom>
          <a:noFill/>
          <a:ln cap="flat" cmpd="sng" w="9525">
            <a:solidFill>
              <a:schemeClr val="dk2"/>
            </a:solidFill>
            <a:prstDash val="solid"/>
            <a:round/>
            <a:headEnd len="sm" w="sm" type="none"/>
            <a:tailEnd len="sm" w="sm" type="none"/>
          </a:ln>
        </p:spPr>
      </p:cxnSp>
      <p:sp>
        <p:nvSpPr>
          <p:cNvPr id="129" name="Google Shape;129;p5"/>
          <p:cNvSpPr txBox="1"/>
          <p:nvPr/>
        </p:nvSpPr>
        <p:spPr>
          <a:xfrm>
            <a:off x="4628820" y="3064025"/>
            <a:ext cx="987300" cy="3693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Imagen</a:t>
            </a:r>
            <a:endParaRPr b="0" i="0" sz="1200" u="none" cap="none" strike="noStrike">
              <a:solidFill>
                <a:srgbClr val="000000"/>
              </a:solidFill>
              <a:latin typeface="Arial"/>
              <a:ea typeface="Arial"/>
              <a:cs typeface="Arial"/>
              <a:sym typeface="Arial"/>
            </a:endParaRPr>
          </a:p>
        </p:txBody>
      </p:sp>
      <p:sp>
        <p:nvSpPr>
          <p:cNvPr id="130" name="Google Shape;130;p5"/>
          <p:cNvSpPr txBox="1"/>
          <p:nvPr/>
        </p:nvSpPr>
        <p:spPr>
          <a:xfrm>
            <a:off x="5913175" y="3266825"/>
            <a:ext cx="2819700" cy="831300"/>
          </a:xfrm>
          <a:prstGeom prst="rect">
            <a:avLst/>
          </a:prstGeom>
          <a:noFill/>
          <a:ln>
            <a:noFill/>
          </a:ln>
        </p:spPr>
        <p:txBody>
          <a:bodyPr anchorCtr="0" anchor="ctr"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Dominio no puede ser </a:t>
            </a:r>
            <a:r>
              <a:rPr b="0" i="0" lang="en" sz="1400" u="none" cap="none" strike="noStrike">
                <a:solidFill>
                  <a:schemeClr val="dk2"/>
                </a:solidFill>
                <a:latin typeface="Arial"/>
                <a:ea typeface="Arial"/>
                <a:cs typeface="Arial"/>
                <a:sym typeface="Arial"/>
              </a:rPr>
              <a:t>Ø</a:t>
            </a:r>
            <a:endParaRPr b="0" i="0" sz="10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Codominio no puede ser </a:t>
            </a:r>
            <a:r>
              <a:rPr b="0" i="0" lang="en" sz="1400" u="none" cap="none" strike="noStrike">
                <a:solidFill>
                  <a:schemeClr val="dk2"/>
                </a:solidFill>
                <a:latin typeface="Arial"/>
                <a:ea typeface="Arial"/>
                <a:cs typeface="Arial"/>
                <a:sym typeface="Arial"/>
              </a:rPr>
              <a:t>Ø</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Imagen </a:t>
            </a:r>
            <a:r>
              <a:rPr b="0" i="0" lang="en" sz="1400" u="none" cap="none" strike="noStrike">
                <a:solidFill>
                  <a:schemeClr val="dk1"/>
                </a:solidFill>
                <a:latin typeface="Arial"/>
                <a:ea typeface="Arial"/>
                <a:cs typeface="Arial"/>
                <a:sym typeface="Arial"/>
              </a:rPr>
              <a:t>⊆ Codominio</a:t>
            </a:r>
            <a:endParaRPr b="0" i="0" sz="1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5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500"/>
                                        <p:tgtEl>
                                          <p:spTgt spid="13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Debemos definir</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Relación entre ambos</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36" name="Google Shape;136;p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Cómo definir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Debemos definir</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Relación entre ambos</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457200" lvl="0" marL="91440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42" name="Google Shape;142;p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Cómo definir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cxnSp>
        <p:nvCxnSpPr>
          <p:cNvPr id="143" name="Google Shape;143;p7"/>
          <p:cNvCxnSpPr/>
          <p:nvPr/>
        </p:nvCxnSpPr>
        <p:spPr>
          <a:xfrm flipH="1" rot="10800000">
            <a:off x="1645783" y="2824550"/>
            <a:ext cx="1582102" cy="611093"/>
          </a:xfrm>
          <a:prstGeom prst="straightConnector1">
            <a:avLst/>
          </a:prstGeom>
          <a:noFill/>
          <a:ln cap="flat" cmpd="sng" w="9525">
            <a:solidFill>
              <a:schemeClr val="dk2"/>
            </a:solidFill>
            <a:prstDash val="solid"/>
            <a:round/>
            <a:headEnd len="sm" w="sm" type="none"/>
            <a:tailEnd len="med" w="med" type="triangle"/>
          </a:ln>
        </p:spPr>
      </p:cxnSp>
      <p:cxnSp>
        <p:nvCxnSpPr>
          <p:cNvPr id="144" name="Google Shape;144;p7"/>
          <p:cNvCxnSpPr/>
          <p:nvPr/>
        </p:nvCxnSpPr>
        <p:spPr>
          <a:xfrm flipH="1">
            <a:off x="4443277" y="2061521"/>
            <a:ext cx="1842900" cy="466200"/>
          </a:xfrm>
          <a:prstGeom prst="straightConnector1">
            <a:avLst/>
          </a:prstGeom>
          <a:noFill/>
          <a:ln cap="flat" cmpd="sng" w="9525">
            <a:solidFill>
              <a:schemeClr val="dk2"/>
            </a:solidFill>
            <a:prstDash val="solid"/>
            <a:round/>
            <a:headEnd len="sm" w="sm" type="none"/>
            <a:tailEnd len="med" w="med" type="triangle"/>
          </a:ln>
        </p:spPr>
      </p:cxnSp>
      <p:cxnSp>
        <p:nvCxnSpPr>
          <p:cNvPr id="145" name="Google Shape;145;p7"/>
          <p:cNvCxnSpPr/>
          <p:nvPr/>
        </p:nvCxnSpPr>
        <p:spPr>
          <a:xfrm flipH="1">
            <a:off x="5645977" y="2800390"/>
            <a:ext cx="1280400" cy="7500"/>
          </a:xfrm>
          <a:prstGeom prst="straightConnector1">
            <a:avLst/>
          </a:prstGeom>
          <a:noFill/>
          <a:ln cap="flat" cmpd="sng" w="9525">
            <a:solidFill>
              <a:schemeClr val="dk2"/>
            </a:solidFill>
            <a:prstDash val="solid"/>
            <a:round/>
            <a:headEnd len="sm" w="sm" type="none"/>
            <a:tailEnd len="med" w="med" type="triangle"/>
          </a:ln>
        </p:spPr>
      </p:cxnSp>
      <p:cxnSp>
        <p:nvCxnSpPr>
          <p:cNvPr id="146" name="Google Shape;146;p7"/>
          <p:cNvCxnSpPr/>
          <p:nvPr/>
        </p:nvCxnSpPr>
        <p:spPr>
          <a:xfrm flipH="1" rot="10800000">
            <a:off x="4015136" y="3664358"/>
            <a:ext cx="29700" cy="717900"/>
          </a:xfrm>
          <a:prstGeom prst="straightConnector1">
            <a:avLst/>
          </a:prstGeom>
          <a:noFill/>
          <a:ln cap="flat" cmpd="sng" w="9525">
            <a:solidFill>
              <a:schemeClr val="dk2"/>
            </a:solidFill>
            <a:prstDash val="solid"/>
            <a:round/>
            <a:headEnd len="sm" w="sm" type="none"/>
            <a:tailEnd len="med" w="med" type="triangle"/>
          </a:ln>
        </p:spPr>
      </p:cxnSp>
      <p:cxnSp>
        <p:nvCxnSpPr>
          <p:cNvPr id="147" name="Google Shape;147;p7"/>
          <p:cNvCxnSpPr/>
          <p:nvPr/>
        </p:nvCxnSpPr>
        <p:spPr>
          <a:xfrm rot="10800000">
            <a:off x="5215182" y="3664358"/>
            <a:ext cx="1132500" cy="702900"/>
          </a:xfrm>
          <a:prstGeom prst="straightConnector1">
            <a:avLst/>
          </a:prstGeom>
          <a:noFill/>
          <a:ln cap="flat" cmpd="sng" w="9525">
            <a:solidFill>
              <a:schemeClr val="dk2"/>
            </a:solidFill>
            <a:prstDash val="solid"/>
            <a:round/>
            <a:headEnd len="sm" w="sm" type="none"/>
            <a:tailEnd len="med" w="med" type="triangle"/>
          </a:ln>
        </p:spPr>
      </p:cxnSp>
      <p:sp>
        <p:nvSpPr>
          <p:cNvPr id="148" name="Google Shape;148;p7"/>
          <p:cNvSpPr txBox="1"/>
          <p:nvPr/>
        </p:nvSpPr>
        <p:spPr>
          <a:xfrm>
            <a:off x="6324446" y="1783126"/>
            <a:ext cx="11272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Dominio</a:t>
            </a:r>
            <a:endParaRPr b="0" i="0" sz="1400" u="none" cap="none" strike="noStrike">
              <a:solidFill>
                <a:srgbClr val="000000"/>
              </a:solidFill>
              <a:latin typeface="Arial"/>
              <a:ea typeface="Arial"/>
              <a:cs typeface="Arial"/>
              <a:sym typeface="Arial"/>
            </a:endParaRPr>
          </a:p>
        </p:txBody>
      </p:sp>
      <p:sp>
        <p:nvSpPr>
          <p:cNvPr id="149" name="Google Shape;149;p7"/>
          <p:cNvSpPr txBox="1"/>
          <p:nvPr/>
        </p:nvSpPr>
        <p:spPr>
          <a:xfrm>
            <a:off x="6926377" y="2607835"/>
            <a:ext cx="145584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Codominio</a:t>
            </a:r>
            <a:endParaRPr b="0" i="0" sz="1400" u="none" cap="none" strike="noStrike">
              <a:solidFill>
                <a:srgbClr val="000000"/>
              </a:solidFill>
              <a:latin typeface="Arial"/>
              <a:ea typeface="Arial"/>
              <a:cs typeface="Arial"/>
              <a:sym typeface="Arial"/>
            </a:endParaRPr>
          </a:p>
        </p:txBody>
      </p:sp>
      <p:sp>
        <p:nvSpPr>
          <p:cNvPr id="150" name="Google Shape;150;p7"/>
          <p:cNvSpPr txBox="1"/>
          <p:nvPr/>
        </p:nvSpPr>
        <p:spPr>
          <a:xfrm>
            <a:off x="6423538" y="4117358"/>
            <a:ext cx="159691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Variable</a:t>
            </a:r>
            <a:br>
              <a:rPr b="0" i="0" lang="en" sz="2000" u="none" cap="none" strike="noStrike">
                <a:solidFill>
                  <a:srgbClr val="000000"/>
                </a:solidFill>
                <a:latin typeface="Arial"/>
                <a:ea typeface="Arial"/>
                <a:cs typeface="Arial"/>
                <a:sym typeface="Arial"/>
              </a:rPr>
            </a:br>
            <a:r>
              <a:rPr b="0" i="0" lang="en" sz="2000" u="none" cap="none" strike="noStrike">
                <a:solidFill>
                  <a:srgbClr val="000000"/>
                </a:solidFill>
                <a:latin typeface="Arial"/>
                <a:ea typeface="Arial"/>
                <a:cs typeface="Arial"/>
                <a:sym typeface="Arial"/>
              </a:rPr>
              <a:t>dependiente</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2649403" y="4149860"/>
            <a:ext cx="179728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Variable</a:t>
            </a:r>
            <a:br>
              <a:rPr b="0" i="0" lang="en" sz="2000" u="none" cap="none" strike="noStrike">
                <a:solidFill>
                  <a:srgbClr val="000000"/>
                </a:solidFill>
                <a:latin typeface="Arial"/>
                <a:ea typeface="Arial"/>
                <a:cs typeface="Arial"/>
                <a:sym typeface="Arial"/>
              </a:rPr>
            </a:br>
            <a:r>
              <a:rPr b="0" i="0" lang="en" sz="2000" u="none" cap="none" strike="noStrike">
                <a:solidFill>
                  <a:srgbClr val="000000"/>
                </a:solidFill>
                <a:latin typeface="Arial"/>
                <a:ea typeface="Arial"/>
                <a:cs typeface="Arial"/>
                <a:sym typeface="Arial"/>
              </a:rPr>
              <a:t>independiente</a:t>
            </a:r>
            <a:endParaRPr b="0" i="0" sz="1400" u="none" cap="none" strike="noStrike">
              <a:solidFill>
                <a:srgbClr val="000000"/>
              </a:solidFill>
              <a:latin typeface="Arial"/>
              <a:ea typeface="Arial"/>
              <a:cs typeface="Arial"/>
              <a:sym typeface="Arial"/>
            </a:endParaRPr>
          </a:p>
        </p:txBody>
      </p:sp>
      <p:sp>
        <p:nvSpPr>
          <p:cNvPr id="152" name="Google Shape;152;p7"/>
          <p:cNvSpPr txBox="1"/>
          <p:nvPr/>
        </p:nvSpPr>
        <p:spPr>
          <a:xfrm>
            <a:off x="549008" y="3371301"/>
            <a:ext cx="109677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Nombre</a:t>
            </a:r>
            <a:endParaRPr b="0" i="0" sz="1400" u="none" cap="none" strike="noStrike">
              <a:solidFill>
                <a:srgbClr val="000000"/>
              </a:solidFill>
              <a:latin typeface="Arial"/>
              <a:ea typeface="Arial"/>
              <a:cs typeface="Arial"/>
              <a:sym typeface="Arial"/>
            </a:endParaRPr>
          </a:p>
        </p:txBody>
      </p:sp>
      <p:pic>
        <p:nvPicPr>
          <p:cNvPr id="153" name="Google Shape;153;p7"/>
          <p:cNvPicPr preferRelativeResize="0"/>
          <p:nvPr/>
        </p:nvPicPr>
        <p:blipFill rotWithShape="1">
          <a:blip r:embed="rId3">
            <a:alphaModFix/>
          </a:blip>
          <a:srcRect b="0" l="0" r="0" t="0"/>
          <a:stretch/>
        </p:blipFill>
        <p:spPr>
          <a:xfrm>
            <a:off x="3368750" y="2610349"/>
            <a:ext cx="2136362" cy="428400"/>
          </a:xfrm>
          <a:prstGeom prst="rect">
            <a:avLst/>
          </a:prstGeom>
          <a:noFill/>
          <a:ln>
            <a:noFill/>
          </a:ln>
        </p:spPr>
      </p:pic>
      <p:pic>
        <p:nvPicPr>
          <p:cNvPr id="154" name="Google Shape;154;p7"/>
          <p:cNvPicPr preferRelativeResize="0"/>
          <p:nvPr/>
        </p:nvPicPr>
        <p:blipFill rotWithShape="1">
          <a:blip r:embed="rId4">
            <a:alphaModFix/>
          </a:blip>
          <a:srcRect b="0" l="0" r="0" t="0"/>
          <a:stretch/>
        </p:blipFill>
        <p:spPr>
          <a:xfrm>
            <a:off x="3556534" y="3221443"/>
            <a:ext cx="1600048" cy="428400"/>
          </a:xfrm>
          <a:prstGeom prst="rect">
            <a:avLst/>
          </a:prstGeom>
          <a:noFill/>
          <a:ln>
            <a:noFill/>
          </a:ln>
        </p:spPr>
      </p:pic>
      <p:cxnSp>
        <p:nvCxnSpPr>
          <p:cNvPr id="155" name="Google Shape;155;p7"/>
          <p:cNvCxnSpPr/>
          <p:nvPr/>
        </p:nvCxnSpPr>
        <p:spPr>
          <a:xfrm flipH="1" rot="10800000">
            <a:off x="1645783" y="3450658"/>
            <a:ext cx="1722892" cy="161201"/>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Debemos definir</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Codominio</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Relación entre ambos</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61" name="Google Shape;161;p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Cómo definir una </a:t>
            </a:r>
            <a:r>
              <a:rPr b="1" i="0" lang="en" sz="3600" u="none" cap="none" strike="noStrike">
                <a:solidFill>
                  <a:srgbClr val="FFFFFF"/>
                </a:solidFill>
                <a:latin typeface="Helvetica Neue"/>
                <a:ea typeface="Helvetica Neue"/>
                <a:cs typeface="Helvetica Neue"/>
                <a:sym typeface="Helvetica Neue"/>
              </a:rPr>
              <a:t>función</a:t>
            </a:r>
            <a:r>
              <a:rPr b="0" i="0" lang="en" sz="3600" u="none" cap="none" strike="noStrike">
                <a:solidFill>
                  <a:srgbClr val="FFFFFF"/>
                </a:solidFill>
                <a:latin typeface="Helvetica Neue"/>
                <a:ea typeface="Helvetica Neue"/>
                <a:cs typeface="Helvetica Neue"/>
                <a:sym typeface="Helvetica Neue"/>
              </a:rPr>
              <a:t>?</a:t>
            </a:r>
            <a:endParaRPr b="0" i="0" sz="3600" u="none" cap="none" strike="noStrike">
              <a:solidFill>
                <a:srgbClr val="FFFFFF"/>
              </a:solidFill>
              <a:latin typeface="Helvetica Neue"/>
              <a:ea typeface="Helvetica Neue"/>
              <a:cs typeface="Helvetica Neue"/>
              <a:sym typeface="Helvetica Neue"/>
            </a:endParaRPr>
          </a:p>
        </p:txBody>
      </p:sp>
      <p:sp>
        <p:nvSpPr>
          <p:cNvPr id="162" name="Google Shape;162;p8"/>
          <p:cNvSpPr txBox="1"/>
          <p:nvPr/>
        </p:nvSpPr>
        <p:spPr>
          <a:xfrm>
            <a:off x="103600" y="2901075"/>
            <a:ext cx="4758600" cy="6156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Ejemplos: (se pueden graficar en </a:t>
            </a:r>
            <a:r>
              <a:rPr b="0" i="1" lang="en" sz="1400" u="none" cap="none" strike="noStrike">
                <a:solidFill>
                  <a:srgbClr val="000000"/>
                </a:solidFill>
                <a:latin typeface="Arial"/>
                <a:ea typeface="Arial"/>
                <a:cs typeface="Arial"/>
                <a:sym typeface="Arial"/>
              </a:rPr>
              <a:t>desmos</a:t>
            </a:r>
            <a:r>
              <a:rPr b="0" i="0" lang="en" sz="1400" u="none" cap="none" strike="noStrike">
                <a:solidFill>
                  <a:srgbClr val="000000"/>
                </a:solidFill>
                <a:latin typeface="Arial"/>
                <a:ea typeface="Arial"/>
                <a:cs typeface="Arial"/>
                <a:sym typeface="Arial"/>
              </a:rPr>
              <a:t> o </a:t>
            </a:r>
            <a:r>
              <a:rPr b="0" i="1" lang="en" sz="1400" u="none" cap="none" strike="noStrike">
                <a:solidFill>
                  <a:srgbClr val="000000"/>
                </a:solidFill>
                <a:latin typeface="Arial"/>
                <a:ea typeface="Arial"/>
                <a:cs typeface="Arial"/>
                <a:sym typeface="Arial"/>
              </a:rPr>
              <a:t>geogebra</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1" baseline="30000" i="0" sz="1400" u="none" cap="none" strike="noStrike">
              <a:solidFill>
                <a:schemeClr val="dk2"/>
              </a:solidFill>
              <a:latin typeface="Arial"/>
              <a:ea typeface="Arial"/>
              <a:cs typeface="Arial"/>
              <a:sym typeface="Arial"/>
            </a:endParaRPr>
          </a:p>
        </p:txBody>
      </p:sp>
      <p:pic>
        <p:nvPicPr>
          <p:cNvPr id="163" name="Google Shape;163;p8"/>
          <p:cNvPicPr preferRelativeResize="0"/>
          <p:nvPr/>
        </p:nvPicPr>
        <p:blipFill rotWithShape="1">
          <a:blip r:embed="rId3">
            <a:alphaModFix/>
          </a:blip>
          <a:srcRect b="39361" l="19111" r="27756" t="44339"/>
          <a:stretch/>
        </p:blipFill>
        <p:spPr>
          <a:xfrm>
            <a:off x="475737" y="3383550"/>
            <a:ext cx="8192524" cy="1412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Sea </a:t>
            </a:r>
            <a:r>
              <a:rPr b="0" i="1" lang="en" sz="1800" u="none" cap="none" strike="noStrike">
                <a:solidFill>
                  <a:srgbClr val="000000"/>
                </a:solidFill>
                <a:latin typeface="Helvetica Neue"/>
                <a:ea typeface="Helvetica Neue"/>
                <a:cs typeface="Helvetica Neue"/>
                <a:sym typeface="Helvetica Neue"/>
              </a:rPr>
              <a:t>f</a:t>
            </a:r>
            <a:r>
              <a:rPr b="0" i="0" lang="en" sz="1800" u="none" cap="none" strike="noStrike">
                <a:solidFill>
                  <a:srgbClr val="000000"/>
                </a:solidFill>
                <a:latin typeface="Helvetica Neue"/>
                <a:ea typeface="Helvetica Neue"/>
                <a:cs typeface="Helvetica Neue"/>
                <a:sym typeface="Helvetica Neue"/>
              </a:rPr>
              <a:t> una función para obtener el </a:t>
            </a:r>
            <a:r>
              <a:rPr b="1" i="0" lang="en" sz="1800" u="none" cap="none" strike="noStrike">
                <a:solidFill>
                  <a:srgbClr val="000000"/>
                </a:solidFill>
                <a:latin typeface="Helvetica Neue"/>
                <a:ea typeface="Helvetica Neue"/>
                <a:cs typeface="Helvetica Neue"/>
                <a:sym typeface="Helvetica Neue"/>
              </a:rPr>
              <a:t>área</a:t>
            </a:r>
            <a:r>
              <a:rPr b="0" i="0" lang="en" sz="1800" u="none" cap="none" strike="noStrike">
                <a:solidFill>
                  <a:srgbClr val="000000"/>
                </a:solidFill>
                <a:latin typeface="Helvetica Neue"/>
                <a:ea typeface="Helvetica Neue"/>
                <a:cs typeface="Helvetica Neue"/>
                <a:sym typeface="Helvetica Neue"/>
              </a:rPr>
              <a:t> de un círculo</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Variable independiente: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Variable dependiente: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69" name="Google Shape;169;p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Ejemplo</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Sea </a:t>
            </a:r>
            <a:r>
              <a:rPr b="0" i="1" lang="en" sz="1800" u="none" cap="none" strike="noStrike">
                <a:solidFill>
                  <a:srgbClr val="000000"/>
                </a:solidFill>
                <a:latin typeface="Helvetica Neue"/>
                <a:ea typeface="Helvetica Neue"/>
                <a:cs typeface="Helvetica Neue"/>
                <a:sym typeface="Helvetica Neue"/>
              </a:rPr>
              <a:t>f</a:t>
            </a:r>
            <a:r>
              <a:rPr b="0" i="0" lang="en" sz="1800" u="none" cap="none" strike="noStrike">
                <a:solidFill>
                  <a:srgbClr val="000000"/>
                </a:solidFill>
                <a:latin typeface="Helvetica Neue"/>
                <a:ea typeface="Helvetica Neue"/>
                <a:cs typeface="Helvetica Neue"/>
                <a:sym typeface="Helvetica Neue"/>
              </a:rPr>
              <a:t> una función para obtener el </a:t>
            </a:r>
            <a:r>
              <a:rPr b="1" i="0" lang="en" sz="1800" u="none" cap="none" strike="noStrike">
                <a:solidFill>
                  <a:srgbClr val="000000"/>
                </a:solidFill>
                <a:latin typeface="Helvetica Neue"/>
                <a:ea typeface="Helvetica Neue"/>
                <a:cs typeface="Helvetica Neue"/>
                <a:sym typeface="Helvetica Neue"/>
              </a:rPr>
              <a:t>área</a:t>
            </a:r>
            <a:r>
              <a:rPr b="0" i="0" lang="en" sz="1800" u="none" cap="none" strike="noStrike">
                <a:solidFill>
                  <a:srgbClr val="000000"/>
                </a:solidFill>
                <a:latin typeface="Helvetica Neue"/>
                <a:ea typeface="Helvetica Neue"/>
                <a:cs typeface="Helvetica Neue"/>
                <a:sym typeface="Helvetica Neue"/>
              </a:rPr>
              <a:t> de un círculo</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Variable independiente: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Variable dependiente: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Helvetica Neue"/>
                <a:ea typeface="Helvetica Neue"/>
                <a:cs typeface="Helvetica Neue"/>
                <a:sym typeface="Helvetica Neue"/>
              </a:rPr>
              <a:t>Para cada valor del radio tenemos una única área:</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75" name="Google Shape;175;p1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Ejemplo</a:t>
            </a:r>
            <a:endParaRPr b="0" i="0" sz="3600" u="none" cap="none" strike="noStrike">
              <a:solidFill>
                <a:srgbClr val="FFFFFF"/>
              </a:solidFill>
              <a:latin typeface="Helvetica Neue"/>
              <a:ea typeface="Helvetica Neue"/>
              <a:cs typeface="Helvetica Neue"/>
              <a:sym typeface="Helvetica Neue"/>
            </a:endParaRPr>
          </a:p>
        </p:txBody>
      </p:sp>
      <p:pic>
        <p:nvPicPr>
          <p:cNvPr id="176" name="Google Shape;176;p10"/>
          <p:cNvPicPr preferRelativeResize="0"/>
          <p:nvPr/>
        </p:nvPicPr>
        <p:blipFill rotWithShape="1">
          <a:blip r:embed="rId3">
            <a:alphaModFix/>
          </a:blip>
          <a:srcRect b="0" l="0" r="0" t="0"/>
          <a:stretch/>
        </p:blipFill>
        <p:spPr>
          <a:xfrm>
            <a:off x="649705" y="3099444"/>
            <a:ext cx="1428750" cy="298140"/>
          </a:xfrm>
          <a:prstGeom prst="rect">
            <a:avLst/>
          </a:prstGeom>
          <a:noFill/>
          <a:ln>
            <a:noFill/>
          </a:ln>
        </p:spPr>
      </p:pic>
      <p:pic>
        <p:nvPicPr>
          <p:cNvPr id="177" name="Google Shape;177;p10"/>
          <p:cNvPicPr preferRelativeResize="0"/>
          <p:nvPr/>
        </p:nvPicPr>
        <p:blipFill rotWithShape="1">
          <a:blip r:embed="rId4">
            <a:alphaModFix/>
          </a:blip>
          <a:srcRect b="0" l="0" r="0" t="0"/>
          <a:stretch/>
        </p:blipFill>
        <p:spPr>
          <a:xfrm>
            <a:off x="649705" y="3623015"/>
            <a:ext cx="2141189" cy="321372"/>
          </a:xfrm>
          <a:prstGeom prst="rect">
            <a:avLst/>
          </a:prstGeom>
          <a:noFill/>
          <a:ln>
            <a:noFill/>
          </a:ln>
        </p:spPr>
      </p:pic>
      <p:pic>
        <p:nvPicPr>
          <p:cNvPr id="178" name="Google Shape;178;p10"/>
          <p:cNvPicPr preferRelativeResize="0"/>
          <p:nvPr/>
        </p:nvPicPr>
        <p:blipFill rotWithShape="1">
          <a:blip r:embed="rId5">
            <a:alphaModFix/>
          </a:blip>
          <a:srcRect b="0" l="0" r="0" t="0"/>
          <a:stretch/>
        </p:blipFill>
        <p:spPr>
          <a:xfrm>
            <a:off x="649705" y="4169818"/>
            <a:ext cx="1854665" cy="3213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84" name="Google Shape;184;p1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185" name="Google Shape;185;p11"/>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228600" lvl="0" marL="914400" marR="0" rtl="0" algn="l">
              <a:lnSpc>
                <a:spcPct val="100000"/>
              </a:lnSpc>
              <a:spcBef>
                <a:spcPts val="0"/>
              </a:spcBef>
              <a:spcAft>
                <a:spcPts val="0"/>
              </a:spcAft>
              <a:buClr>
                <a:schemeClr val="dk1"/>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91" name="Google Shape;191;p1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192" name="Google Shape;192;p12"/>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pic>
        <p:nvPicPr>
          <p:cNvPr id="193" name="Google Shape;193;p12"/>
          <p:cNvPicPr preferRelativeResize="0"/>
          <p:nvPr/>
        </p:nvPicPr>
        <p:blipFill rotWithShape="1">
          <a:blip r:embed="rId4">
            <a:alphaModFix/>
          </a:blip>
          <a:srcRect b="0" l="0" r="0" t="0"/>
          <a:stretch/>
        </p:blipFill>
        <p:spPr>
          <a:xfrm>
            <a:off x="1828800" y="2034605"/>
            <a:ext cx="3185206" cy="2997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Multiplicación:</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199" name="Google Shape;199;p1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00" name="Google Shape;200;p13"/>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pic>
        <p:nvPicPr>
          <p:cNvPr id="201" name="Google Shape;201;p13"/>
          <p:cNvPicPr preferRelativeResize="0"/>
          <p:nvPr/>
        </p:nvPicPr>
        <p:blipFill rotWithShape="1">
          <a:blip r:embed="rId4">
            <a:alphaModFix/>
          </a:blip>
          <a:srcRect b="0" l="0" r="0" t="0"/>
          <a:stretch/>
        </p:blipFill>
        <p:spPr>
          <a:xfrm>
            <a:off x="1828800" y="2034605"/>
            <a:ext cx="3185206" cy="299719"/>
          </a:xfrm>
          <a:prstGeom prst="rect">
            <a:avLst/>
          </a:prstGeom>
          <a:noFill/>
          <a:ln>
            <a:noFill/>
          </a:ln>
        </p:spPr>
      </p:pic>
      <p:pic>
        <p:nvPicPr>
          <p:cNvPr id="202" name="Google Shape;202;p13"/>
          <p:cNvPicPr preferRelativeResize="0"/>
          <p:nvPr/>
        </p:nvPicPr>
        <p:blipFill rotWithShape="1">
          <a:blip r:embed="rId5">
            <a:alphaModFix/>
          </a:blip>
          <a:srcRect b="0" l="0" r="0" t="0"/>
          <a:stretch/>
        </p:blipFill>
        <p:spPr>
          <a:xfrm>
            <a:off x="2606341" y="2542305"/>
            <a:ext cx="3185203" cy="3306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4"/>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Multiplicación:</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División:</a:t>
            </a:r>
            <a:endParaRPr b="0" i="0" sz="1400" u="none" cap="none" strike="noStrike">
              <a:solidFill>
                <a:srgbClr val="000000"/>
              </a:solidFill>
              <a:latin typeface="Arial"/>
              <a:ea typeface="Arial"/>
              <a:cs typeface="Arial"/>
              <a:sym typeface="Arial"/>
            </a:endParaRPr>
          </a:p>
          <a:p>
            <a:pPr indent="-228600" lvl="0" marL="91440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08" name="Google Shape;208;p1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09" name="Google Shape;209;p14"/>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pic>
        <p:nvPicPr>
          <p:cNvPr id="210" name="Google Shape;210;p14"/>
          <p:cNvPicPr preferRelativeResize="0"/>
          <p:nvPr/>
        </p:nvPicPr>
        <p:blipFill rotWithShape="1">
          <a:blip r:embed="rId4">
            <a:alphaModFix/>
          </a:blip>
          <a:srcRect b="0" l="0" r="0" t="0"/>
          <a:stretch/>
        </p:blipFill>
        <p:spPr>
          <a:xfrm>
            <a:off x="1828800" y="2034605"/>
            <a:ext cx="3185206" cy="299719"/>
          </a:xfrm>
          <a:prstGeom prst="rect">
            <a:avLst/>
          </a:prstGeom>
          <a:noFill/>
          <a:ln>
            <a:noFill/>
          </a:ln>
        </p:spPr>
      </p:pic>
      <p:pic>
        <p:nvPicPr>
          <p:cNvPr id="211" name="Google Shape;211;p14"/>
          <p:cNvPicPr preferRelativeResize="0"/>
          <p:nvPr/>
        </p:nvPicPr>
        <p:blipFill rotWithShape="1">
          <a:blip r:embed="rId5">
            <a:alphaModFix/>
          </a:blip>
          <a:srcRect b="0" l="0" r="0" t="0"/>
          <a:stretch/>
        </p:blipFill>
        <p:spPr>
          <a:xfrm>
            <a:off x="2606341" y="2542305"/>
            <a:ext cx="3185203" cy="330686"/>
          </a:xfrm>
          <a:prstGeom prst="rect">
            <a:avLst/>
          </a:prstGeom>
          <a:noFill/>
          <a:ln>
            <a:noFill/>
          </a:ln>
        </p:spPr>
      </p:pic>
      <p:pic>
        <p:nvPicPr>
          <p:cNvPr id="212" name="Google Shape;212;p14"/>
          <p:cNvPicPr preferRelativeResize="0"/>
          <p:nvPr/>
        </p:nvPicPr>
        <p:blipFill rotWithShape="1">
          <a:blip r:embed="rId6">
            <a:alphaModFix/>
          </a:blip>
          <a:srcRect b="0" l="0" r="0" t="0"/>
          <a:stretch/>
        </p:blipFill>
        <p:spPr>
          <a:xfrm>
            <a:off x="2042206" y="3080972"/>
            <a:ext cx="3185206" cy="3511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Multiplicación:</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División:</a:t>
            </a:r>
            <a:endParaRPr b="0" i="0" sz="1400" u="none" cap="none" strike="noStrike">
              <a:solidFill>
                <a:srgbClr val="000000"/>
              </a:solidFill>
              <a:latin typeface="Arial"/>
              <a:ea typeface="Arial"/>
              <a:cs typeface="Arial"/>
              <a:sym typeface="Arial"/>
            </a:endParaRPr>
          </a:p>
          <a:p>
            <a:pPr indent="-228600" lvl="0" marL="91440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Se deben excluir del dominio todos los x : g(x) = 0 </a:t>
            </a:r>
            <a:endParaRPr b="1"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18" name="Google Shape;218;p1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19" name="Google Shape;219;p15"/>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pic>
        <p:nvPicPr>
          <p:cNvPr id="220" name="Google Shape;220;p15"/>
          <p:cNvPicPr preferRelativeResize="0"/>
          <p:nvPr/>
        </p:nvPicPr>
        <p:blipFill rotWithShape="1">
          <a:blip r:embed="rId4">
            <a:alphaModFix/>
          </a:blip>
          <a:srcRect b="0" l="0" r="0" t="0"/>
          <a:stretch/>
        </p:blipFill>
        <p:spPr>
          <a:xfrm>
            <a:off x="1828800" y="2034605"/>
            <a:ext cx="3185206" cy="299719"/>
          </a:xfrm>
          <a:prstGeom prst="rect">
            <a:avLst/>
          </a:prstGeom>
          <a:noFill/>
          <a:ln>
            <a:noFill/>
          </a:ln>
        </p:spPr>
      </p:pic>
      <p:pic>
        <p:nvPicPr>
          <p:cNvPr id="221" name="Google Shape;221;p15"/>
          <p:cNvPicPr preferRelativeResize="0"/>
          <p:nvPr/>
        </p:nvPicPr>
        <p:blipFill rotWithShape="1">
          <a:blip r:embed="rId5">
            <a:alphaModFix/>
          </a:blip>
          <a:srcRect b="0" l="0" r="0" t="0"/>
          <a:stretch/>
        </p:blipFill>
        <p:spPr>
          <a:xfrm>
            <a:off x="2606341" y="2542305"/>
            <a:ext cx="3185203" cy="330686"/>
          </a:xfrm>
          <a:prstGeom prst="rect">
            <a:avLst/>
          </a:prstGeom>
          <a:noFill/>
          <a:ln>
            <a:noFill/>
          </a:ln>
        </p:spPr>
      </p:pic>
      <p:pic>
        <p:nvPicPr>
          <p:cNvPr id="222" name="Google Shape;222;p15"/>
          <p:cNvPicPr preferRelativeResize="0"/>
          <p:nvPr/>
        </p:nvPicPr>
        <p:blipFill rotWithShape="1">
          <a:blip r:embed="rId6">
            <a:alphaModFix/>
          </a:blip>
          <a:srcRect b="0" l="0" r="0" t="0"/>
          <a:stretch/>
        </p:blipFill>
        <p:spPr>
          <a:xfrm>
            <a:off x="2042206" y="3080972"/>
            <a:ext cx="3185206" cy="35114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6"/>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Multiplicación:</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División:</a:t>
            </a:r>
            <a:endParaRPr b="0" i="0" sz="1400" u="none" cap="none" strike="noStrike">
              <a:solidFill>
                <a:srgbClr val="000000"/>
              </a:solidFill>
              <a:latin typeface="Arial"/>
              <a:ea typeface="Arial"/>
              <a:cs typeface="Arial"/>
              <a:sym typeface="Arial"/>
            </a:endParaRPr>
          </a:p>
          <a:p>
            <a:pPr indent="-228600" lvl="0" marL="91440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a:p>
            <a:pPr indent="-342900" lvl="1" marL="18288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Se deben excluir del dominio todos los x : g(x) = 0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Composición:</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28" name="Google Shape;228;p1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29" name="Google Shape;229;p16"/>
          <p:cNvPicPr preferRelativeResize="0"/>
          <p:nvPr/>
        </p:nvPicPr>
        <p:blipFill rotWithShape="1">
          <a:blip r:embed="rId3">
            <a:alphaModFix/>
          </a:blip>
          <a:srcRect b="0" l="0" r="0" t="0"/>
          <a:stretch/>
        </p:blipFill>
        <p:spPr>
          <a:xfrm>
            <a:off x="1828800" y="1477456"/>
            <a:ext cx="3185206" cy="299719"/>
          </a:xfrm>
          <a:prstGeom prst="rect">
            <a:avLst/>
          </a:prstGeom>
          <a:noFill/>
          <a:ln>
            <a:noFill/>
          </a:ln>
        </p:spPr>
      </p:pic>
      <p:pic>
        <p:nvPicPr>
          <p:cNvPr id="230" name="Google Shape;230;p16"/>
          <p:cNvPicPr preferRelativeResize="0"/>
          <p:nvPr/>
        </p:nvPicPr>
        <p:blipFill rotWithShape="1">
          <a:blip r:embed="rId4">
            <a:alphaModFix/>
          </a:blip>
          <a:srcRect b="0" l="0" r="0" t="0"/>
          <a:stretch/>
        </p:blipFill>
        <p:spPr>
          <a:xfrm>
            <a:off x="1828800" y="2034605"/>
            <a:ext cx="3185206" cy="299719"/>
          </a:xfrm>
          <a:prstGeom prst="rect">
            <a:avLst/>
          </a:prstGeom>
          <a:noFill/>
          <a:ln>
            <a:noFill/>
          </a:ln>
        </p:spPr>
      </p:pic>
      <p:pic>
        <p:nvPicPr>
          <p:cNvPr id="231" name="Google Shape;231;p16"/>
          <p:cNvPicPr preferRelativeResize="0"/>
          <p:nvPr/>
        </p:nvPicPr>
        <p:blipFill rotWithShape="1">
          <a:blip r:embed="rId5">
            <a:alphaModFix/>
          </a:blip>
          <a:srcRect b="0" l="0" r="0" t="0"/>
          <a:stretch/>
        </p:blipFill>
        <p:spPr>
          <a:xfrm>
            <a:off x="2606341" y="2542305"/>
            <a:ext cx="3185203" cy="330686"/>
          </a:xfrm>
          <a:prstGeom prst="rect">
            <a:avLst/>
          </a:prstGeom>
          <a:noFill/>
          <a:ln>
            <a:noFill/>
          </a:ln>
        </p:spPr>
      </p:pic>
      <p:pic>
        <p:nvPicPr>
          <p:cNvPr id="232" name="Google Shape;232;p16"/>
          <p:cNvPicPr preferRelativeResize="0"/>
          <p:nvPr/>
        </p:nvPicPr>
        <p:blipFill rotWithShape="1">
          <a:blip r:embed="rId6">
            <a:alphaModFix/>
          </a:blip>
          <a:srcRect b="0" l="0" r="0" t="0"/>
          <a:stretch/>
        </p:blipFill>
        <p:spPr>
          <a:xfrm>
            <a:off x="2042206" y="3080972"/>
            <a:ext cx="3185206" cy="351147"/>
          </a:xfrm>
          <a:prstGeom prst="rect">
            <a:avLst/>
          </a:prstGeom>
          <a:noFill/>
          <a:ln>
            <a:noFill/>
          </a:ln>
        </p:spPr>
      </p:pic>
      <p:pic>
        <p:nvPicPr>
          <p:cNvPr id="233" name="Google Shape;233;p16"/>
          <p:cNvPicPr preferRelativeResize="0"/>
          <p:nvPr/>
        </p:nvPicPr>
        <p:blipFill rotWithShape="1">
          <a:blip r:embed="rId7">
            <a:alphaModFix/>
          </a:blip>
          <a:srcRect b="0" l="0" r="-4622" t="0"/>
          <a:stretch/>
        </p:blipFill>
        <p:spPr>
          <a:xfrm>
            <a:off x="2586700" y="4211875"/>
            <a:ext cx="2734499" cy="320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18288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Composición:</a:t>
            </a:r>
            <a:endParaRPr b="0" i="0" sz="1800" u="none" cap="none" strike="noStrike">
              <a:solidFill>
                <a:schemeClr val="dk1"/>
              </a:solidFill>
              <a:latin typeface="Arial"/>
              <a:ea typeface="Arial"/>
              <a:cs typeface="Arial"/>
              <a:sym typeface="Arial"/>
            </a:endParaRPr>
          </a:p>
          <a:p>
            <a:pPr indent="-228600" lvl="0" marL="914400" marR="0" rtl="0" algn="l">
              <a:lnSpc>
                <a:spcPct val="100000"/>
              </a:lnSpc>
              <a:spcBef>
                <a:spcPts val="0"/>
              </a:spcBef>
              <a:spcAft>
                <a:spcPts val="0"/>
              </a:spcAft>
              <a:buClr>
                <a:srgbClr val="000000"/>
              </a:buClr>
              <a:buSzPts val="1800"/>
              <a:buFont typeface="Helvetica Neue"/>
              <a:buNone/>
            </a:pPr>
            <a:r>
              <a:t/>
            </a:r>
            <a:endParaRPr b="0" i="0" sz="1800" u="none" cap="none" strike="noStrike">
              <a:solidFill>
                <a:schemeClr val="dk1"/>
              </a:solidFill>
              <a:latin typeface="Arial"/>
              <a:ea typeface="Arial"/>
              <a:cs typeface="Arial"/>
              <a:sym typeface="Arial"/>
            </a:endParaRPr>
          </a:p>
          <a:p>
            <a:pPr indent="0" lvl="0" marL="57150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Para que la composición (g ◦ f) = g(f(x)) sea posible, </a:t>
            </a:r>
            <a:endParaRPr b="0" i="0" sz="1400" u="none" cap="none" strike="noStrike">
              <a:solidFill>
                <a:srgbClr val="000000"/>
              </a:solidFill>
              <a:latin typeface="Arial"/>
              <a:ea typeface="Arial"/>
              <a:cs typeface="Arial"/>
              <a:sym typeface="Arial"/>
            </a:endParaRPr>
          </a:p>
          <a:p>
            <a:pPr indent="0" lvl="0" marL="57150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se necesita que Im(f) ⊆ Dom(g). </a:t>
            </a:r>
            <a:endParaRPr b="0" i="0" sz="1400" u="none" cap="none" strike="noStrike">
              <a:solidFill>
                <a:srgbClr val="000000"/>
              </a:solidFill>
              <a:latin typeface="Arial"/>
              <a:ea typeface="Arial"/>
              <a:cs typeface="Arial"/>
              <a:sym typeface="Arial"/>
            </a:endParaRPr>
          </a:p>
          <a:p>
            <a:pPr indent="0" lvl="0" marL="5715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57150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Luego </a:t>
            </a:r>
            <a:r>
              <a:rPr b="0" i="0" lang="en" sz="1800" u="none" cap="none" strike="noStrike">
                <a:solidFill>
                  <a:schemeClr val="dk1"/>
                </a:solidFill>
                <a:latin typeface="Helvetica Neue"/>
                <a:ea typeface="Helvetica Neue"/>
                <a:cs typeface="Helvetica Neue"/>
                <a:sym typeface="Helvetica Neue"/>
              </a:rPr>
              <a:t>g</a:t>
            </a:r>
            <a:r>
              <a:rPr b="0" i="0" lang="en" sz="1800" u="none" cap="none" strike="noStrike">
                <a:solidFill>
                  <a:schemeClr val="dk1"/>
                </a:solidFill>
                <a:latin typeface="Arial"/>
                <a:ea typeface="Arial"/>
                <a:cs typeface="Arial"/>
                <a:sym typeface="Arial"/>
              </a:rPr>
              <a:t>○f : Dom(f) → Codom(g)</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39" name="Google Shape;239;p1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40" name="Google Shape;240;p17"/>
          <p:cNvPicPr preferRelativeResize="0"/>
          <p:nvPr/>
        </p:nvPicPr>
        <p:blipFill rotWithShape="1">
          <a:blip r:embed="rId3">
            <a:alphaModFix/>
          </a:blip>
          <a:srcRect b="0" l="0" r="0" t="0"/>
          <a:stretch/>
        </p:blipFill>
        <p:spPr>
          <a:xfrm>
            <a:off x="2574674" y="1895275"/>
            <a:ext cx="2832125" cy="32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8"/>
          <p:cNvSpPr txBox="1"/>
          <p:nvPr/>
        </p:nvSpPr>
        <p:spPr>
          <a:xfrm>
            <a:off x="-324927"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Suma: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Resta:</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Multiplicación:</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División:</a:t>
            </a:r>
            <a:endParaRPr b="0" i="0" sz="14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Composición:</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46" name="Google Shape;246;p1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pic>
        <p:nvPicPr>
          <p:cNvPr id="247" name="Google Shape;247;p18"/>
          <p:cNvPicPr preferRelativeResize="0"/>
          <p:nvPr/>
        </p:nvPicPr>
        <p:blipFill rotWithShape="1">
          <a:blip r:embed="rId3">
            <a:alphaModFix/>
          </a:blip>
          <a:srcRect b="0" l="0" r="0" t="0"/>
          <a:stretch/>
        </p:blipFill>
        <p:spPr>
          <a:xfrm>
            <a:off x="1503941" y="1743108"/>
            <a:ext cx="3185206" cy="299719"/>
          </a:xfrm>
          <a:prstGeom prst="rect">
            <a:avLst/>
          </a:prstGeom>
          <a:noFill/>
          <a:ln>
            <a:noFill/>
          </a:ln>
        </p:spPr>
      </p:pic>
      <p:pic>
        <p:nvPicPr>
          <p:cNvPr id="248" name="Google Shape;248;p18"/>
          <p:cNvPicPr preferRelativeResize="0"/>
          <p:nvPr/>
        </p:nvPicPr>
        <p:blipFill rotWithShape="1">
          <a:blip r:embed="rId4">
            <a:alphaModFix/>
          </a:blip>
          <a:srcRect b="0" l="0" r="0" t="0"/>
          <a:stretch/>
        </p:blipFill>
        <p:spPr>
          <a:xfrm>
            <a:off x="1503941" y="2298277"/>
            <a:ext cx="3185206" cy="299719"/>
          </a:xfrm>
          <a:prstGeom prst="rect">
            <a:avLst/>
          </a:prstGeom>
          <a:noFill/>
          <a:ln>
            <a:noFill/>
          </a:ln>
        </p:spPr>
      </p:pic>
      <p:pic>
        <p:nvPicPr>
          <p:cNvPr id="249" name="Google Shape;249;p18"/>
          <p:cNvPicPr preferRelativeResize="0"/>
          <p:nvPr/>
        </p:nvPicPr>
        <p:blipFill rotWithShape="1">
          <a:blip r:embed="rId5">
            <a:alphaModFix/>
          </a:blip>
          <a:srcRect b="0" l="0" r="0" t="0"/>
          <a:stretch/>
        </p:blipFill>
        <p:spPr>
          <a:xfrm>
            <a:off x="2306948" y="2809177"/>
            <a:ext cx="3185203" cy="330686"/>
          </a:xfrm>
          <a:prstGeom prst="rect">
            <a:avLst/>
          </a:prstGeom>
          <a:noFill/>
          <a:ln>
            <a:noFill/>
          </a:ln>
        </p:spPr>
      </p:pic>
      <p:pic>
        <p:nvPicPr>
          <p:cNvPr id="250" name="Google Shape;250;p18"/>
          <p:cNvPicPr preferRelativeResize="0"/>
          <p:nvPr/>
        </p:nvPicPr>
        <p:blipFill rotWithShape="1">
          <a:blip r:embed="rId6">
            <a:alphaModFix/>
          </a:blip>
          <a:srcRect b="0" l="0" r="0" t="0"/>
          <a:stretch/>
        </p:blipFill>
        <p:spPr>
          <a:xfrm>
            <a:off x="1702063" y="3359744"/>
            <a:ext cx="3185206" cy="351147"/>
          </a:xfrm>
          <a:prstGeom prst="rect">
            <a:avLst/>
          </a:prstGeom>
          <a:noFill/>
          <a:ln>
            <a:noFill/>
          </a:ln>
        </p:spPr>
      </p:pic>
      <p:pic>
        <p:nvPicPr>
          <p:cNvPr id="251" name="Google Shape;251;p18"/>
          <p:cNvPicPr preferRelativeResize="0"/>
          <p:nvPr/>
        </p:nvPicPr>
        <p:blipFill rotWithShape="1">
          <a:blip r:embed="rId7">
            <a:alphaModFix/>
          </a:blip>
          <a:srcRect b="0" l="0" r="0" t="0"/>
          <a:stretch/>
        </p:blipFill>
        <p:spPr>
          <a:xfrm>
            <a:off x="2273885" y="3942916"/>
            <a:ext cx="2613384" cy="320400"/>
          </a:xfrm>
          <a:prstGeom prst="rect">
            <a:avLst/>
          </a:prstGeom>
          <a:noFill/>
          <a:ln>
            <a:noFill/>
          </a:ln>
        </p:spPr>
      </p:pic>
      <p:grpSp>
        <p:nvGrpSpPr>
          <p:cNvPr id="252" name="Google Shape;252;p18"/>
          <p:cNvGrpSpPr/>
          <p:nvPr/>
        </p:nvGrpSpPr>
        <p:grpSpPr>
          <a:xfrm>
            <a:off x="5864556" y="2809177"/>
            <a:ext cx="3104072" cy="2162539"/>
            <a:chOff x="5915698" y="1192894"/>
            <a:chExt cx="3104072" cy="2162539"/>
          </a:xfrm>
        </p:grpSpPr>
        <p:pic>
          <p:nvPicPr>
            <p:cNvPr id="253" name="Google Shape;253;p18"/>
            <p:cNvPicPr preferRelativeResize="0"/>
            <p:nvPr/>
          </p:nvPicPr>
          <p:blipFill rotWithShape="1">
            <a:blip r:embed="rId8">
              <a:alphaModFix/>
            </a:blip>
            <a:srcRect b="0" l="0" r="0" t="0"/>
            <a:stretch/>
          </p:blipFill>
          <p:spPr>
            <a:xfrm>
              <a:off x="6137137" y="1953927"/>
              <a:ext cx="2661194" cy="1176755"/>
            </a:xfrm>
            <a:prstGeom prst="rect">
              <a:avLst/>
            </a:prstGeom>
            <a:noFill/>
            <a:ln>
              <a:noFill/>
            </a:ln>
          </p:spPr>
        </p:pic>
        <p:sp>
          <p:nvSpPr>
            <p:cNvPr id="254" name="Google Shape;254;p18"/>
            <p:cNvSpPr txBox="1"/>
            <p:nvPr/>
          </p:nvSpPr>
          <p:spPr>
            <a:xfrm>
              <a:off x="6253299" y="1269580"/>
              <a:ext cx="242887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Resolver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cada operación para</a:t>
              </a:r>
              <a:endParaRPr b="0" i="0" sz="1400" u="none" cap="none" strike="noStrike">
                <a:solidFill>
                  <a:srgbClr val="000000"/>
                </a:solidFill>
                <a:latin typeface="Arial"/>
                <a:ea typeface="Arial"/>
                <a:cs typeface="Arial"/>
                <a:sym typeface="Arial"/>
              </a:endParaRPr>
            </a:p>
          </p:txBody>
        </p:sp>
        <p:sp>
          <p:nvSpPr>
            <p:cNvPr id="255" name="Google Shape;255;p18"/>
            <p:cNvSpPr/>
            <p:nvPr/>
          </p:nvSpPr>
          <p:spPr>
            <a:xfrm>
              <a:off x="5915698" y="1192894"/>
              <a:ext cx="3104072" cy="2162539"/>
            </a:xfrm>
            <a:prstGeom prst="rect">
              <a:avLst/>
            </a:prstGeom>
            <a:noFill/>
            <a:ln cap="flat" cmpd="sng" w="5715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9"/>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61" name="Google Shape;261;p1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Operaciones entre funciones</a:t>
            </a:r>
            <a:endParaRPr b="0" i="0" sz="3600" u="none" cap="none" strike="noStrike">
              <a:solidFill>
                <a:srgbClr val="FFFFFF"/>
              </a:solidFill>
              <a:latin typeface="Helvetica Neue"/>
              <a:ea typeface="Helvetica Neue"/>
              <a:cs typeface="Helvetica Neue"/>
              <a:sym typeface="Helvetica Neue"/>
            </a:endParaRPr>
          </a:p>
        </p:txBody>
      </p:sp>
      <p:sp>
        <p:nvSpPr>
          <p:cNvPr id="262" name="Google Shape;262;p19"/>
          <p:cNvSpPr txBox="1"/>
          <p:nvPr/>
        </p:nvSpPr>
        <p:spPr>
          <a:xfrm>
            <a:off x="166550" y="944425"/>
            <a:ext cx="6431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Helvetica Neue"/>
                <a:ea typeface="Helvetica Neue"/>
                <a:cs typeface="Helvetica Neue"/>
                <a:sym typeface="Helvetica Neue"/>
              </a:rPr>
              <a:t>Resolver cada operación para </a:t>
            </a:r>
            <a:r>
              <a:rPr b="1" i="0" lang="en" sz="1800" u="none" cap="none" strike="noStrike">
                <a:solidFill>
                  <a:schemeClr val="dk1"/>
                </a:solidFill>
                <a:latin typeface="Arial"/>
                <a:ea typeface="Arial"/>
                <a:cs typeface="Arial"/>
                <a:sym typeface="Arial"/>
              </a:rPr>
              <a:t>f(x) = x</a:t>
            </a:r>
            <a:r>
              <a:rPr b="1" baseline="30000" i="0" lang="en" sz="1800" u="none" cap="none" strike="noStrike">
                <a:solidFill>
                  <a:schemeClr val="dk1"/>
                </a:solidFill>
                <a:latin typeface="Arial"/>
                <a:ea typeface="Arial"/>
                <a:cs typeface="Arial"/>
                <a:sym typeface="Arial"/>
              </a:rPr>
              <a:t>2</a:t>
            </a:r>
            <a:r>
              <a:rPr b="1" i="0" lang="en" sz="1800" u="none" cap="none" strike="noStrike">
                <a:solidFill>
                  <a:schemeClr val="dk1"/>
                </a:solidFill>
                <a:latin typeface="Arial"/>
                <a:ea typeface="Arial"/>
                <a:cs typeface="Arial"/>
                <a:sym typeface="Arial"/>
              </a:rPr>
              <a:t>+1</a:t>
            </a:r>
            <a:r>
              <a:rPr b="1" i="0" lang="en" sz="1400" u="none" cap="none" strike="noStrike">
                <a:solidFill>
                  <a:schemeClr val="dk1"/>
                </a:solidFill>
                <a:latin typeface="Arial"/>
                <a:ea typeface="Arial"/>
                <a:cs typeface="Arial"/>
                <a:sym typeface="Arial"/>
              </a:rPr>
              <a:t> </a:t>
            </a:r>
            <a:r>
              <a:rPr b="1" i="0" lang="en" sz="1800" u="none" cap="none" strike="noStrike">
                <a:solidFill>
                  <a:schemeClr val="dk1"/>
                </a:solidFill>
                <a:latin typeface="Arial"/>
                <a:ea typeface="Arial"/>
                <a:cs typeface="Arial"/>
                <a:sym typeface="Arial"/>
              </a:rPr>
              <a:t>y</a:t>
            </a:r>
            <a:r>
              <a:rPr b="1" i="0" lang="en" sz="1400" u="none" cap="none" strike="noStrike">
                <a:solidFill>
                  <a:schemeClr val="dk1"/>
                </a:solidFill>
                <a:latin typeface="Arial"/>
                <a:ea typeface="Arial"/>
                <a:cs typeface="Arial"/>
                <a:sym typeface="Arial"/>
              </a:rPr>
              <a:t> </a:t>
            </a:r>
            <a:r>
              <a:rPr b="1" i="0" lang="en" sz="1800" u="none" cap="none" strike="noStrike">
                <a:solidFill>
                  <a:schemeClr val="dk1"/>
                </a:solidFill>
                <a:latin typeface="Arial"/>
                <a:ea typeface="Arial"/>
                <a:cs typeface="Arial"/>
                <a:sym typeface="Arial"/>
              </a:rPr>
              <a:t>g(x) = 1 - x</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inyectiva</a:t>
            </a:r>
            <a:r>
              <a:rPr b="0" i="0" lang="en" sz="1800" u="none" cap="none" strike="noStrike">
                <a:solidFill>
                  <a:schemeClr val="dk1"/>
                </a:solidFill>
                <a:latin typeface="Arial"/>
                <a:ea typeface="Arial"/>
                <a:cs typeface="Arial"/>
                <a:sym typeface="Arial"/>
              </a:rPr>
              <a:t> si y sólo si, se cumple la siguiente condición:</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f(x</a:t>
            </a:r>
            <a:r>
              <a:rPr b="1" baseline="-25000" i="0" lang="en" sz="1800" u="none" cap="none" strike="noStrike">
                <a:solidFill>
                  <a:schemeClr val="dk1"/>
                </a:solidFill>
                <a:latin typeface="Arial"/>
                <a:ea typeface="Arial"/>
                <a:cs typeface="Arial"/>
                <a:sym typeface="Arial"/>
              </a:rPr>
              <a:t>1</a:t>
            </a:r>
            <a:r>
              <a:rPr b="1" i="0" lang="en" sz="1800" u="none" cap="none" strike="noStrike">
                <a:solidFill>
                  <a:schemeClr val="dk1"/>
                </a:solidFill>
                <a:latin typeface="Arial"/>
                <a:ea typeface="Arial"/>
                <a:cs typeface="Arial"/>
                <a:sym typeface="Arial"/>
              </a:rPr>
              <a:t>) = f(x</a:t>
            </a:r>
            <a:r>
              <a:rPr b="1" baseline="-25000" i="0" lang="en" sz="1800" u="none" cap="none" strike="noStrike">
                <a:solidFill>
                  <a:schemeClr val="dk1"/>
                </a:solidFill>
                <a:latin typeface="Arial"/>
                <a:ea typeface="Arial"/>
                <a:cs typeface="Arial"/>
                <a:sym typeface="Arial"/>
              </a:rPr>
              <a:t>2</a:t>
            </a:r>
            <a:r>
              <a:rPr b="1" i="0" lang="en" sz="1800" u="none" cap="none" strike="noStrike">
                <a:solidFill>
                  <a:schemeClr val="dk1"/>
                </a:solidFill>
                <a:latin typeface="Arial"/>
                <a:ea typeface="Arial"/>
                <a:cs typeface="Arial"/>
                <a:sym typeface="Arial"/>
              </a:rPr>
              <a:t>) → x</a:t>
            </a:r>
            <a:r>
              <a:rPr b="1" baseline="-25000" i="0" lang="en" sz="1800" u="none" cap="none" strike="noStrike">
                <a:solidFill>
                  <a:schemeClr val="dk1"/>
                </a:solidFill>
                <a:latin typeface="Arial"/>
                <a:ea typeface="Arial"/>
                <a:cs typeface="Arial"/>
                <a:sym typeface="Arial"/>
              </a:rPr>
              <a:t>1 </a:t>
            </a:r>
            <a:r>
              <a:rPr b="1" i="0" lang="en" sz="1800" u="none" cap="none" strike="noStrike">
                <a:solidFill>
                  <a:schemeClr val="dk1"/>
                </a:solidFill>
                <a:latin typeface="Arial"/>
                <a:ea typeface="Arial"/>
                <a:cs typeface="Arial"/>
                <a:sym typeface="Arial"/>
              </a:rPr>
              <a:t>= x</a:t>
            </a:r>
            <a:r>
              <a:rPr b="1" baseline="-25000" i="0" lang="en" sz="1800" u="none" cap="none" strike="noStrike">
                <a:solidFill>
                  <a:schemeClr val="dk1"/>
                </a:solidFill>
                <a:latin typeface="Arial"/>
                <a:ea typeface="Arial"/>
                <a:cs typeface="Arial"/>
                <a:sym typeface="Arial"/>
              </a:rPr>
              <a:t>2</a:t>
            </a:r>
            <a:endParaRPr b="1" baseline="-2500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t/>
            </a:r>
            <a:endParaRPr b="1" baseline="-25000" i="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68" name="Google Shape;268;p3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Inyectividad</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inyectiva</a:t>
            </a:r>
            <a:r>
              <a:rPr b="0" i="0" lang="en" sz="1800" u="none" cap="none" strike="noStrike">
                <a:solidFill>
                  <a:schemeClr val="dk1"/>
                </a:solidFill>
                <a:latin typeface="Arial"/>
                <a:ea typeface="Arial"/>
                <a:cs typeface="Arial"/>
                <a:sym typeface="Arial"/>
              </a:rPr>
              <a:t> si y sólo si, se cumple la siguiente condición:</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f(x</a:t>
            </a:r>
            <a:r>
              <a:rPr b="1" baseline="-25000" i="0" lang="en" sz="1800" u="none" cap="none" strike="noStrike">
                <a:solidFill>
                  <a:schemeClr val="dk1"/>
                </a:solidFill>
                <a:latin typeface="Arial"/>
                <a:ea typeface="Arial"/>
                <a:cs typeface="Arial"/>
                <a:sym typeface="Arial"/>
              </a:rPr>
              <a:t>1</a:t>
            </a:r>
            <a:r>
              <a:rPr b="1" i="0" lang="en" sz="1800" u="none" cap="none" strike="noStrike">
                <a:solidFill>
                  <a:schemeClr val="dk1"/>
                </a:solidFill>
                <a:latin typeface="Arial"/>
                <a:ea typeface="Arial"/>
                <a:cs typeface="Arial"/>
                <a:sym typeface="Arial"/>
              </a:rPr>
              <a:t>) = f(x</a:t>
            </a:r>
            <a:r>
              <a:rPr b="1" baseline="-25000" i="0" lang="en" sz="1800" u="none" cap="none" strike="noStrike">
                <a:solidFill>
                  <a:schemeClr val="dk1"/>
                </a:solidFill>
                <a:latin typeface="Arial"/>
                <a:ea typeface="Arial"/>
                <a:cs typeface="Arial"/>
                <a:sym typeface="Arial"/>
              </a:rPr>
              <a:t>2</a:t>
            </a:r>
            <a:r>
              <a:rPr b="1" i="0" lang="en" sz="1800" u="none" cap="none" strike="noStrike">
                <a:solidFill>
                  <a:schemeClr val="dk1"/>
                </a:solidFill>
                <a:latin typeface="Arial"/>
                <a:ea typeface="Arial"/>
                <a:cs typeface="Arial"/>
                <a:sym typeface="Arial"/>
              </a:rPr>
              <a:t>) → x</a:t>
            </a:r>
            <a:r>
              <a:rPr b="1" baseline="-25000" i="0" lang="en" sz="1800" u="none" cap="none" strike="noStrike">
                <a:solidFill>
                  <a:schemeClr val="dk1"/>
                </a:solidFill>
                <a:latin typeface="Arial"/>
                <a:ea typeface="Arial"/>
                <a:cs typeface="Arial"/>
                <a:sym typeface="Arial"/>
              </a:rPr>
              <a:t>1 </a:t>
            </a:r>
            <a:r>
              <a:rPr b="1" i="0" lang="en" sz="1800" u="none" cap="none" strike="noStrike">
                <a:solidFill>
                  <a:schemeClr val="dk1"/>
                </a:solidFill>
                <a:latin typeface="Arial"/>
                <a:ea typeface="Arial"/>
                <a:cs typeface="Arial"/>
                <a:sym typeface="Arial"/>
              </a:rPr>
              <a:t>= x</a:t>
            </a:r>
            <a:r>
              <a:rPr b="1" baseline="-25000" i="0" lang="en" sz="1800" u="none" cap="none" strike="noStrike">
                <a:solidFill>
                  <a:schemeClr val="dk1"/>
                </a:solidFill>
                <a:latin typeface="Arial"/>
                <a:ea typeface="Arial"/>
                <a:cs typeface="Arial"/>
                <a:sym typeface="Arial"/>
              </a:rPr>
              <a:t>2</a:t>
            </a:r>
            <a:endParaRPr b="1" baseline="-2500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¿Las siguientes funciones son inyectivas?</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74" name="Google Shape;274;p3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Inyectividad</a:t>
            </a:r>
            <a:endParaRPr b="0" i="0" sz="3600" u="none" cap="none" strike="noStrike">
              <a:solidFill>
                <a:srgbClr val="FFFFFF"/>
              </a:solidFill>
              <a:latin typeface="Helvetica Neue"/>
              <a:ea typeface="Helvetica Neue"/>
              <a:cs typeface="Helvetica Neue"/>
              <a:sym typeface="Helvetica Neue"/>
            </a:endParaRPr>
          </a:p>
        </p:txBody>
      </p:sp>
      <p:pic>
        <p:nvPicPr>
          <p:cNvPr id="275" name="Google Shape;275;p38"/>
          <p:cNvPicPr preferRelativeResize="0"/>
          <p:nvPr/>
        </p:nvPicPr>
        <p:blipFill rotWithShape="1">
          <a:blip r:embed="rId3">
            <a:alphaModFix/>
          </a:blip>
          <a:srcRect b="0" l="0" r="0" t="0"/>
          <a:stretch/>
        </p:blipFill>
        <p:spPr>
          <a:xfrm>
            <a:off x="6198050" y="2340925"/>
            <a:ext cx="2739699" cy="2663426"/>
          </a:xfrm>
          <a:prstGeom prst="rect">
            <a:avLst/>
          </a:prstGeom>
          <a:noFill/>
          <a:ln>
            <a:noFill/>
          </a:ln>
        </p:spPr>
      </p:pic>
      <p:pic>
        <p:nvPicPr>
          <p:cNvPr id="276" name="Google Shape;276;p38"/>
          <p:cNvPicPr preferRelativeResize="0"/>
          <p:nvPr/>
        </p:nvPicPr>
        <p:blipFill rotWithShape="1">
          <a:blip r:embed="rId4">
            <a:alphaModFix/>
          </a:blip>
          <a:srcRect b="0" l="0" r="0" t="0"/>
          <a:stretch/>
        </p:blipFill>
        <p:spPr>
          <a:xfrm>
            <a:off x="234850" y="2340925"/>
            <a:ext cx="2739700" cy="2636101"/>
          </a:xfrm>
          <a:prstGeom prst="rect">
            <a:avLst/>
          </a:prstGeom>
          <a:noFill/>
          <a:ln>
            <a:noFill/>
          </a:ln>
        </p:spPr>
      </p:pic>
      <p:pic>
        <p:nvPicPr>
          <p:cNvPr id="277" name="Google Shape;277;p38"/>
          <p:cNvPicPr preferRelativeResize="0"/>
          <p:nvPr/>
        </p:nvPicPr>
        <p:blipFill rotWithShape="1">
          <a:blip r:embed="rId5">
            <a:alphaModFix/>
          </a:blip>
          <a:srcRect b="0" l="0" r="0" t="0"/>
          <a:stretch/>
        </p:blipFill>
        <p:spPr>
          <a:xfrm>
            <a:off x="3099374" y="2340925"/>
            <a:ext cx="2828926" cy="275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suryectiva</a:t>
            </a:r>
            <a:r>
              <a:rPr b="0" i="0" lang="en" sz="1800" u="none" cap="none" strike="noStrike">
                <a:solidFill>
                  <a:schemeClr val="dk1"/>
                </a:solidFill>
                <a:latin typeface="Arial"/>
                <a:ea typeface="Arial"/>
                <a:cs typeface="Arial"/>
                <a:sym typeface="Arial"/>
              </a:rPr>
              <a:t> si y sólo si, se cumple la siguiente condición:</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Ɐ y ∊ Codominio, ∃x ∊ Dominio tal que y = f(x).</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83" name="Google Shape;283;p3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Suryectividad</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suryectiva</a:t>
            </a:r>
            <a:r>
              <a:rPr b="0" i="0" lang="en" sz="1800" u="none" cap="none" strike="noStrike">
                <a:solidFill>
                  <a:schemeClr val="dk1"/>
                </a:solidFill>
                <a:latin typeface="Arial"/>
                <a:ea typeface="Arial"/>
                <a:cs typeface="Arial"/>
                <a:sym typeface="Arial"/>
              </a:rPr>
              <a:t> si y sólo si, se cumple la siguiente condición:</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Ɐ y ∊ Codominio, ∃x ∊ Dominio tal que y = f(x).</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En otras palabras, </a:t>
            </a:r>
            <a:r>
              <a:rPr b="1" i="0" lang="en" sz="1800" u="sng" cap="none" strike="noStrike">
                <a:solidFill>
                  <a:schemeClr val="dk1"/>
                </a:solidFill>
                <a:latin typeface="Arial"/>
                <a:ea typeface="Arial"/>
                <a:cs typeface="Arial"/>
                <a:sym typeface="Arial"/>
              </a:rPr>
              <a:t>la imagen es igual al Codominio.</a:t>
            </a:r>
            <a:endParaRPr b="1" i="0" sz="1800" u="sng"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89" name="Google Shape;289;p4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Suryectividad</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suryectiva</a:t>
            </a:r>
            <a:r>
              <a:rPr b="0" i="0" lang="en" sz="1800" u="none" cap="none" strike="noStrike">
                <a:solidFill>
                  <a:schemeClr val="dk1"/>
                </a:solidFill>
                <a:latin typeface="Arial"/>
                <a:ea typeface="Arial"/>
                <a:cs typeface="Arial"/>
                <a:sym typeface="Arial"/>
              </a:rPr>
              <a:t> si y sólo si, se cumple la siguiente condición:</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Ɐ y ∊ Codominio, ∃x ∊ Dominio tal que y = f(x).</a:t>
            </a:r>
            <a:br>
              <a:rPr b="1" i="0" lang="en" sz="1800" u="none" cap="none" strike="noStrike">
                <a:solidFill>
                  <a:schemeClr val="dk1"/>
                </a:solidFill>
                <a:latin typeface="Arial"/>
                <a:ea typeface="Arial"/>
                <a:cs typeface="Arial"/>
                <a:sym typeface="Arial"/>
              </a:rPr>
            </a:br>
            <a:r>
              <a:rPr b="0" i="0" lang="en" sz="1800" u="none" cap="none" strike="noStrike">
                <a:solidFill>
                  <a:schemeClr val="dk1"/>
                </a:solidFill>
                <a:latin typeface="Arial"/>
                <a:ea typeface="Arial"/>
                <a:cs typeface="Arial"/>
                <a:sym typeface="Arial"/>
              </a:rPr>
              <a:t>En otras palabras, la imagen es igual al Codominio.</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¿Las siguientes funciones son suryectivas?</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t/>
            </a:r>
            <a:endParaRPr b="1" baseline="-25000" i="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295" name="Google Shape;295;p4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Suryectividad</a:t>
            </a:r>
            <a:endParaRPr b="0" i="0" sz="3600" u="none" cap="none" strike="noStrike">
              <a:solidFill>
                <a:srgbClr val="FFFFFF"/>
              </a:solidFill>
              <a:latin typeface="Helvetica Neue"/>
              <a:ea typeface="Helvetica Neue"/>
              <a:cs typeface="Helvetica Neue"/>
              <a:sym typeface="Helvetica Neue"/>
            </a:endParaRPr>
          </a:p>
        </p:txBody>
      </p:sp>
      <p:pic>
        <p:nvPicPr>
          <p:cNvPr id="296" name="Google Shape;296;p41"/>
          <p:cNvPicPr preferRelativeResize="0"/>
          <p:nvPr/>
        </p:nvPicPr>
        <p:blipFill rotWithShape="1">
          <a:blip r:embed="rId3">
            <a:alphaModFix/>
          </a:blip>
          <a:srcRect b="0" l="0" r="0" t="0"/>
          <a:stretch/>
        </p:blipFill>
        <p:spPr>
          <a:xfrm>
            <a:off x="6198050" y="2599075"/>
            <a:ext cx="2739699" cy="2405276"/>
          </a:xfrm>
          <a:prstGeom prst="rect">
            <a:avLst/>
          </a:prstGeom>
          <a:noFill/>
          <a:ln>
            <a:noFill/>
          </a:ln>
        </p:spPr>
      </p:pic>
      <p:pic>
        <p:nvPicPr>
          <p:cNvPr id="297" name="Google Shape;297;p41"/>
          <p:cNvPicPr preferRelativeResize="0"/>
          <p:nvPr/>
        </p:nvPicPr>
        <p:blipFill rotWithShape="1">
          <a:blip r:embed="rId4">
            <a:alphaModFix/>
          </a:blip>
          <a:srcRect b="0" l="0" r="0" t="0"/>
          <a:stretch/>
        </p:blipFill>
        <p:spPr>
          <a:xfrm>
            <a:off x="234850" y="2571750"/>
            <a:ext cx="2739700" cy="2405276"/>
          </a:xfrm>
          <a:prstGeom prst="rect">
            <a:avLst/>
          </a:prstGeom>
          <a:noFill/>
          <a:ln>
            <a:noFill/>
          </a:ln>
        </p:spPr>
      </p:pic>
      <p:pic>
        <p:nvPicPr>
          <p:cNvPr id="298" name="Google Shape;298;p41"/>
          <p:cNvPicPr preferRelativeResize="0"/>
          <p:nvPr/>
        </p:nvPicPr>
        <p:blipFill rotWithShape="1">
          <a:blip r:embed="rId5">
            <a:alphaModFix/>
          </a:blip>
          <a:srcRect b="0" l="0" r="0" t="0"/>
          <a:stretch/>
        </p:blipFill>
        <p:spPr>
          <a:xfrm>
            <a:off x="3099375" y="2571750"/>
            <a:ext cx="2828926" cy="2519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biyectiva</a:t>
            </a:r>
            <a:r>
              <a:rPr b="0" i="0" lang="en" sz="1800" u="none" cap="none" strike="noStrike">
                <a:solidFill>
                  <a:schemeClr val="dk1"/>
                </a:solidFill>
                <a:latin typeface="Arial"/>
                <a:ea typeface="Arial"/>
                <a:cs typeface="Arial"/>
                <a:sym typeface="Arial"/>
              </a:rPr>
              <a:t> si y sólo si se cumple que</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f es suryectiva ∧ f es inyectiva</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304" name="Google Shape;304;p4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Biyectividad</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 es </a:t>
            </a:r>
            <a:r>
              <a:rPr b="1" i="0" lang="en" sz="1800" u="none" cap="none" strike="noStrike">
                <a:solidFill>
                  <a:schemeClr val="dk1"/>
                </a:solidFill>
                <a:latin typeface="Arial"/>
                <a:ea typeface="Arial"/>
                <a:cs typeface="Arial"/>
                <a:sym typeface="Arial"/>
              </a:rPr>
              <a:t>biyectiva</a:t>
            </a:r>
            <a:r>
              <a:rPr b="0" i="0" lang="en" sz="1800" u="none" cap="none" strike="noStrike">
                <a:solidFill>
                  <a:schemeClr val="dk1"/>
                </a:solidFill>
                <a:latin typeface="Arial"/>
                <a:ea typeface="Arial"/>
                <a:cs typeface="Arial"/>
                <a:sym typeface="Arial"/>
              </a:rPr>
              <a:t> si y sólo si se cumple que</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f es suryectiva ∧ f es inyectiva</a:t>
            </a:r>
            <a:endParaRPr b="1"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¿Las siguientes funciones son biyectivas?</a:t>
            </a:r>
            <a:endParaRPr b="1" baseline="-2500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310" name="Google Shape;310;p4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Biyectividad</a:t>
            </a:r>
            <a:endParaRPr b="0" i="0" sz="3600" u="none" cap="none" strike="noStrike">
              <a:solidFill>
                <a:srgbClr val="FFFFFF"/>
              </a:solidFill>
              <a:latin typeface="Helvetica Neue"/>
              <a:ea typeface="Helvetica Neue"/>
              <a:cs typeface="Helvetica Neue"/>
              <a:sym typeface="Helvetica Neue"/>
            </a:endParaRPr>
          </a:p>
        </p:txBody>
      </p:sp>
      <p:pic>
        <p:nvPicPr>
          <p:cNvPr id="311" name="Google Shape;311;p43"/>
          <p:cNvPicPr preferRelativeResize="0"/>
          <p:nvPr/>
        </p:nvPicPr>
        <p:blipFill rotWithShape="1">
          <a:blip r:embed="rId3">
            <a:alphaModFix/>
          </a:blip>
          <a:srcRect b="0" l="0" r="0" t="0"/>
          <a:stretch/>
        </p:blipFill>
        <p:spPr>
          <a:xfrm>
            <a:off x="6198050" y="2599075"/>
            <a:ext cx="2739699" cy="2405276"/>
          </a:xfrm>
          <a:prstGeom prst="rect">
            <a:avLst/>
          </a:prstGeom>
          <a:noFill/>
          <a:ln>
            <a:noFill/>
          </a:ln>
        </p:spPr>
      </p:pic>
      <p:pic>
        <p:nvPicPr>
          <p:cNvPr id="312" name="Google Shape;312;p43"/>
          <p:cNvPicPr preferRelativeResize="0"/>
          <p:nvPr/>
        </p:nvPicPr>
        <p:blipFill rotWithShape="1">
          <a:blip r:embed="rId4">
            <a:alphaModFix/>
          </a:blip>
          <a:srcRect b="0" l="0" r="0" t="0"/>
          <a:stretch/>
        </p:blipFill>
        <p:spPr>
          <a:xfrm>
            <a:off x="234850" y="2571750"/>
            <a:ext cx="2739700" cy="2405276"/>
          </a:xfrm>
          <a:prstGeom prst="rect">
            <a:avLst/>
          </a:prstGeom>
          <a:noFill/>
          <a:ln>
            <a:noFill/>
          </a:ln>
        </p:spPr>
      </p:pic>
      <p:pic>
        <p:nvPicPr>
          <p:cNvPr id="313" name="Google Shape;313;p43"/>
          <p:cNvPicPr preferRelativeResize="0"/>
          <p:nvPr/>
        </p:nvPicPr>
        <p:blipFill rotWithShape="1">
          <a:blip r:embed="rId5">
            <a:alphaModFix/>
          </a:blip>
          <a:srcRect b="0" l="0" r="0" t="0"/>
          <a:stretch/>
        </p:blipFill>
        <p:spPr>
          <a:xfrm>
            <a:off x="3099375" y="2571750"/>
            <a:ext cx="2828926" cy="2519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Raíces o ceros </a:t>
            </a:r>
            <a:r>
              <a:rPr b="0" i="0" lang="en" sz="1800" u="none" cap="none" strike="noStrike">
                <a:solidFill>
                  <a:srgbClr val="000000"/>
                </a:solidFill>
                <a:latin typeface="Helvetica Neue"/>
                <a:ea typeface="Helvetica Neue"/>
                <a:cs typeface="Helvetica Neue"/>
                <a:sym typeface="Helvetica Neue"/>
              </a:rPr>
              <a:t>→ Analítico</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Ordenada al origen</a:t>
            </a:r>
            <a:r>
              <a:rPr b="0" i="0" lang="en" sz="1800" u="none" cap="none" strike="noStrike">
                <a:solidFill>
                  <a:srgbClr val="000000"/>
                </a:solidFill>
                <a:latin typeface="Helvetica Neue"/>
                <a:ea typeface="Helvetica Neue"/>
                <a:cs typeface="Helvetica Neue"/>
                <a:sym typeface="Helvetica Neue"/>
              </a:rPr>
              <a:t> → Analítico</a:t>
            </a:r>
            <a:endParaRPr b="0" i="0" sz="1800" u="none" cap="none" strike="noStrike">
              <a:solidFill>
                <a:schemeClr val="dk1"/>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chemeClr val="dk1"/>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Intervalos de crecimiento y decrecimiento</a:t>
            </a:r>
            <a:r>
              <a:rPr b="0" i="0" lang="en" sz="1800" u="none" cap="none" strike="noStrike">
                <a:solidFill>
                  <a:srgbClr val="000000"/>
                </a:solidFill>
                <a:latin typeface="Helvetica Neue"/>
                <a:ea typeface="Helvetica Neue"/>
                <a:cs typeface="Helvetica Neue"/>
                <a:sym typeface="Helvetica Neue"/>
              </a:rPr>
              <a:t> → Gráfica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Conjuntos de positividad y negatividad</a:t>
            </a:r>
            <a:r>
              <a:rPr b="0" i="0" lang="en" sz="1800" u="none" cap="none" strike="noStrike">
                <a:solidFill>
                  <a:srgbClr val="000000"/>
                </a:solidFill>
                <a:latin typeface="Helvetica Neue"/>
                <a:ea typeface="Helvetica Neue"/>
                <a:cs typeface="Helvetica Neue"/>
                <a:sym typeface="Helvetica Neue"/>
              </a:rPr>
              <a:t> → Gráfica</a:t>
            </a:r>
            <a:endParaRPr b="0" i="0" sz="1800" u="none" cap="none" strike="noStrike">
              <a:solidFill>
                <a:srgbClr val="000000"/>
              </a:solidFill>
              <a:latin typeface="Helvetica Neue"/>
              <a:ea typeface="Helvetica Neue"/>
              <a:cs typeface="Helvetica Neue"/>
              <a:sym typeface="Helvetica Neue"/>
            </a:endParaRPr>
          </a:p>
          <a:p>
            <a:pPr indent="0" lvl="0" marL="1371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9144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Inyectividad, suryectividad y biyectividad</a:t>
            </a:r>
            <a:r>
              <a:rPr b="0" i="0" lang="en" sz="1800" u="none" cap="none" strike="noStrike">
                <a:solidFill>
                  <a:srgbClr val="000000"/>
                </a:solidFill>
                <a:latin typeface="Helvetica Neue"/>
                <a:ea typeface="Helvetica Neue"/>
                <a:cs typeface="Helvetica Neue"/>
                <a:sym typeface="Helvetica Neue"/>
              </a:rPr>
              <a:t> → “Analítico” o gráfica</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19" name="Google Shape;319;p2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Elementos de análisis de una función</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nvSpPr>
        <p:spPr>
          <a:xfrm>
            <a:off x="-75" y="1893075"/>
            <a:ext cx="9144000" cy="1587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rPr b="0" i="0" lang="en" sz="1800" u="none" cap="none" strike="noStrike">
                <a:solidFill>
                  <a:srgbClr val="000000"/>
                </a:solidFill>
                <a:latin typeface="Arial"/>
                <a:ea typeface="Arial"/>
                <a:cs typeface="Arial"/>
                <a:sym typeface="Arial"/>
              </a:rPr>
              <a:t>Es la intersección entre la curva y el eje de las abscisas (eje x). Son puntos de la forma (x;0). Las hallamos igualando la función a cero. </a:t>
            </a:r>
            <a:r>
              <a:rPr b="1" i="0" lang="en" sz="1800" u="none" cap="none" strike="noStrike">
                <a:solidFill>
                  <a:schemeClr val="dk1"/>
                </a:solidFill>
                <a:latin typeface="Arial"/>
                <a:ea typeface="Arial"/>
                <a:cs typeface="Arial"/>
                <a:sym typeface="Arial"/>
              </a:rPr>
              <a:t> C</a:t>
            </a:r>
            <a:r>
              <a:rPr b="1" baseline="30000" i="0" lang="en" sz="1800" u="none" cap="none" strike="noStrike">
                <a:solidFill>
                  <a:schemeClr val="dk1"/>
                </a:solidFill>
                <a:latin typeface="Arial"/>
                <a:ea typeface="Arial"/>
                <a:cs typeface="Arial"/>
                <a:sym typeface="Arial"/>
              </a:rPr>
              <a:t>0</a:t>
            </a:r>
            <a:r>
              <a:rPr b="1" i="0" lang="en" sz="1800" u="none" cap="none" strike="noStrike">
                <a:solidFill>
                  <a:schemeClr val="dk1"/>
                </a:solidFill>
                <a:latin typeface="Arial"/>
                <a:ea typeface="Arial"/>
                <a:cs typeface="Arial"/>
                <a:sym typeface="Arial"/>
              </a:rPr>
              <a:t>(f)= {x : x ∊ Dom(f), f(x) = 0}</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rPr b="0" i="0" lang="en" sz="1800" u="none" cap="none" strike="noStrike">
                <a:solidFill>
                  <a:schemeClr val="dk1"/>
                </a:solidFill>
                <a:latin typeface="Arial"/>
                <a:ea typeface="Arial"/>
                <a:cs typeface="Arial"/>
                <a:sym typeface="Arial"/>
              </a:rPr>
              <a:t>Cálculo analítico → </a:t>
            </a:r>
            <a:r>
              <a:rPr b="1" i="0" lang="en" sz="1800" u="none" cap="none" strike="noStrike">
                <a:solidFill>
                  <a:schemeClr val="dk1"/>
                </a:solidFill>
                <a:latin typeface="Arial"/>
                <a:ea typeface="Arial"/>
                <a:cs typeface="Arial"/>
                <a:sym typeface="Arial"/>
              </a:rPr>
              <a:t>Igualar la función a 0 y resolver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325" name="Google Shape;325;p2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Raíces o ceros</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7"/>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rPr b="0" i="0" lang="en" sz="1800" u="none" cap="none" strike="noStrike">
                <a:solidFill>
                  <a:srgbClr val="000000"/>
                </a:solidFill>
                <a:latin typeface="Arial"/>
                <a:ea typeface="Arial"/>
                <a:cs typeface="Arial"/>
                <a:sym typeface="Arial"/>
              </a:rPr>
              <a:t>Es la intersección entre la curva y el eje de las abscisas (eje x). Son puntos de la forma (x;0). Las hallamos igualando la función a cero. </a:t>
            </a:r>
            <a:r>
              <a:rPr b="1" i="0" lang="en" sz="1800" u="none" cap="none" strike="noStrike">
                <a:solidFill>
                  <a:schemeClr val="dk1"/>
                </a:solidFill>
                <a:latin typeface="Arial"/>
                <a:ea typeface="Arial"/>
                <a:cs typeface="Arial"/>
                <a:sym typeface="Arial"/>
              </a:rPr>
              <a:t> C</a:t>
            </a:r>
            <a:r>
              <a:rPr b="1" baseline="30000" i="0" lang="en" sz="1800" u="none" cap="none" strike="noStrike">
                <a:solidFill>
                  <a:schemeClr val="dk1"/>
                </a:solidFill>
                <a:latin typeface="Arial"/>
                <a:ea typeface="Arial"/>
                <a:cs typeface="Arial"/>
                <a:sym typeface="Arial"/>
              </a:rPr>
              <a:t>0</a:t>
            </a:r>
            <a:r>
              <a:rPr b="1" i="0" lang="en" sz="1800" u="none" cap="none" strike="noStrike">
                <a:solidFill>
                  <a:schemeClr val="dk1"/>
                </a:solidFill>
                <a:latin typeface="Arial"/>
                <a:ea typeface="Arial"/>
                <a:cs typeface="Arial"/>
                <a:sym typeface="Arial"/>
              </a:rPr>
              <a:t>= {x : x ∊ Dom(f), f(x) = 0}</a:t>
            </a:r>
            <a:endParaRPr b="1"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chemeClr val="dk1"/>
              </a:buClr>
              <a:buSzPts val="1100"/>
              <a:buFont typeface="Arial"/>
              <a:buNone/>
            </a:pPr>
            <a:r>
              <a:rPr b="1" i="0" lang="en" sz="1800" u="none" cap="none" strike="noStrike">
                <a:solidFill>
                  <a:schemeClr val="dk1"/>
                </a:solidFill>
                <a:latin typeface="Arial"/>
                <a:ea typeface="Arial"/>
                <a:cs typeface="Arial"/>
                <a:sym typeface="Arial"/>
              </a:rPr>
              <a:t>¿Cuál o cuáles son las raíces de estas funciones?</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rgbClr val="000000"/>
              </a:solidFill>
              <a:latin typeface="Arial"/>
              <a:ea typeface="Arial"/>
              <a:cs typeface="Arial"/>
              <a:sym typeface="Arial"/>
            </a:endParaRPr>
          </a:p>
          <a:p>
            <a:pPr indent="457200" lvl="0" marL="3657600" marR="0" rtl="0" algn="l">
              <a:lnSpc>
                <a:spcPct val="115000"/>
              </a:lnSpc>
              <a:spcBef>
                <a:spcPts val="1600"/>
              </a:spcBef>
              <a:spcAft>
                <a:spcPts val="0"/>
              </a:spcAft>
              <a:buClr>
                <a:schemeClr val="dk1"/>
              </a:buClr>
              <a:buSzPts val="11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31" name="Google Shape;331;p2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Raíces o ceros</a:t>
            </a:r>
            <a:endParaRPr b="0" i="0" sz="3600" u="none" cap="none" strike="noStrike">
              <a:solidFill>
                <a:srgbClr val="FFFFFF"/>
              </a:solidFill>
              <a:latin typeface="Helvetica Neue"/>
              <a:ea typeface="Helvetica Neue"/>
              <a:cs typeface="Helvetica Neue"/>
              <a:sym typeface="Helvetica Neue"/>
            </a:endParaRPr>
          </a:p>
        </p:txBody>
      </p:sp>
      <p:pic>
        <p:nvPicPr>
          <p:cNvPr id="332" name="Google Shape;332;p27"/>
          <p:cNvPicPr preferRelativeResize="0"/>
          <p:nvPr/>
        </p:nvPicPr>
        <p:blipFill rotWithShape="1">
          <a:blip r:embed="rId3">
            <a:alphaModFix/>
          </a:blip>
          <a:srcRect b="-1830" l="0" r="999" t="0"/>
          <a:stretch/>
        </p:blipFill>
        <p:spPr>
          <a:xfrm>
            <a:off x="331375" y="2308588"/>
            <a:ext cx="2468880" cy="2468880"/>
          </a:xfrm>
          <a:prstGeom prst="rect">
            <a:avLst/>
          </a:prstGeom>
          <a:noFill/>
          <a:ln>
            <a:noFill/>
          </a:ln>
        </p:spPr>
      </p:pic>
      <p:pic>
        <p:nvPicPr>
          <p:cNvPr id="333" name="Google Shape;333;p27"/>
          <p:cNvPicPr preferRelativeResize="0"/>
          <p:nvPr/>
        </p:nvPicPr>
        <p:blipFill rotWithShape="1">
          <a:blip r:embed="rId4">
            <a:alphaModFix/>
          </a:blip>
          <a:srcRect b="0" l="0" r="0" t="0"/>
          <a:stretch/>
        </p:blipFill>
        <p:spPr>
          <a:xfrm>
            <a:off x="3190450" y="2342350"/>
            <a:ext cx="2688551" cy="2613699"/>
          </a:xfrm>
          <a:prstGeom prst="rect">
            <a:avLst/>
          </a:prstGeom>
          <a:noFill/>
          <a:ln>
            <a:noFill/>
          </a:ln>
        </p:spPr>
      </p:pic>
      <p:pic>
        <p:nvPicPr>
          <p:cNvPr id="334" name="Google Shape;334;p27"/>
          <p:cNvPicPr preferRelativeResize="0"/>
          <p:nvPr/>
        </p:nvPicPr>
        <p:blipFill rotWithShape="1">
          <a:blip r:embed="rId5">
            <a:alphaModFix/>
          </a:blip>
          <a:srcRect b="0" l="0" r="0" t="0"/>
          <a:stretch/>
        </p:blipFill>
        <p:spPr>
          <a:xfrm>
            <a:off x="6225450" y="2308600"/>
            <a:ext cx="2688551" cy="26137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chemeClr val="dk1"/>
              </a:buClr>
              <a:buSzPts val="11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rgbClr val="000000"/>
              </a:solidFill>
              <a:latin typeface="Arial"/>
              <a:ea typeface="Arial"/>
              <a:cs typeface="Arial"/>
              <a:sym typeface="Arial"/>
            </a:endParaRPr>
          </a:p>
          <a:p>
            <a:pPr indent="457200" lvl="0" marL="3657600" marR="0" rtl="0" algn="l">
              <a:lnSpc>
                <a:spcPct val="115000"/>
              </a:lnSpc>
              <a:spcBef>
                <a:spcPts val="1600"/>
              </a:spcBef>
              <a:spcAft>
                <a:spcPts val="0"/>
              </a:spcAft>
              <a:buClr>
                <a:schemeClr val="dk1"/>
              </a:buClr>
              <a:buSzPts val="11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40" name="Google Shape;340;p2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Raíces o ceros</a:t>
            </a:r>
            <a:endParaRPr b="0" i="0" sz="3600" u="none" cap="none" strike="noStrike">
              <a:solidFill>
                <a:srgbClr val="FFFFFF"/>
              </a:solidFill>
              <a:latin typeface="Helvetica Neue"/>
              <a:ea typeface="Helvetica Neue"/>
              <a:cs typeface="Helvetica Neue"/>
              <a:sym typeface="Helvetica Neue"/>
            </a:endParaRPr>
          </a:p>
        </p:txBody>
      </p:sp>
      <p:pic>
        <p:nvPicPr>
          <p:cNvPr id="341" name="Google Shape;341;p28"/>
          <p:cNvPicPr preferRelativeResize="0"/>
          <p:nvPr/>
        </p:nvPicPr>
        <p:blipFill rotWithShape="1">
          <a:blip r:embed="rId3">
            <a:alphaModFix/>
          </a:blip>
          <a:srcRect b="0" l="0" r="0" t="0"/>
          <a:stretch/>
        </p:blipFill>
        <p:spPr>
          <a:xfrm>
            <a:off x="150900" y="975100"/>
            <a:ext cx="2866099" cy="2866101"/>
          </a:xfrm>
          <a:prstGeom prst="rect">
            <a:avLst/>
          </a:prstGeom>
          <a:noFill/>
          <a:ln>
            <a:noFill/>
          </a:ln>
        </p:spPr>
      </p:pic>
      <p:pic>
        <p:nvPicPr>
          <p:cNvPr id="342" name="Google Shape;342;p28"/>
          <p:cNvPicPr preferRelativeResize="0"/>
          <p:nvPr/>
        </p:nvPicPr>
        <p:blipFill rotWithShape="1">
          <a:blip r:embed="rId4">
            <a:alphaModFix/>
          </a:blip>
          <a:srcRect b="0" l="0" r="0" t="0"/>
          <a:stretch/>
        </p:blipFill>
        <p:spPr>
          <a:xfrm>
            <a:off x="3017001" y="1429290"/>
            <a:ext cx="2866099" cy="2786310"/>
          </a:xfrm>
          <a:prstGeom prst="rect">
            <a:avLst/>
          </a:prstGeom>
          <a:noFill/>
          <a:ln>
            <a:noFill/>
          </a:ln>
        </p:spPr>
      </p:pic>
      <p:pic>
        <p:nvPicPr>
          <p:cNvPr id="343" name="Google Shape;343;p28"/>
          <p:cNvPicPr preferRelativeResize="0"/>
          <p:nvPr/>
        </p:nvPicPr>
        <p:blipFill rotWithShape="1">
          <a:blip r:embed="rId5">
            <a:alphaModFix/>
          </a:blip>
          <a:srcRect b="0" l="0" r="0" t="0"/>
          <a:stretch/>
        </p:blipFill>
        <p:spPr>
          <a:xfrm>
            <a:off x="6030600" y="2069800"/>
            <a:ext cx="3007324" cy="292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9"/>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Es el punto de intersección entre la función y el eje de las ordenadas (eje y). Es un punto de la forma (0;y). La hallamos evaluando la función en x=0. Es decir:</a:t>
            </a:r>
            <a:br>
              <a:rPr b="1" i="0" lang="en" sz="1800" u="none" cap="none" strike="noStrike">
                <a:solidFill>
                  <a:srgbClr val="000000"/>
                </a:solidFill>
                <a:latin typeface="Arial"/>
                <a:ea typeface="Arial"/>
                <a:cs typeface="Arial"/>
                <a:sym typeface="Arial"/>
              </a:rPr>
            </a:br>
            <a:r>
              <a:rPr b="1" i="0" lang="en" sz="1800" u="none" cap="none" strike="noStrike">
                <a:solidFill>
                  <a:schemeClr val="dk1"/>
                </a:solidFill>
                <a:latin typeface="Arial"/>
                <a:ea typeface="Arial"/>
                <a:cs typeface="Arial"/>
                <a:sym typeface="Arial"/>
              </a:rPr>
              <a:t>Ordenada al origen = {y : y ∊ Im(f), y = f(0)}, Solo existe si 0 ∊ Dom(f),</a:t>
            </a:r>
            <a:r>
              <a:rPr b="1" i="1" lang="en" sz="1800" u="none" cap="none" strike="noStrike">
                <a:solidFill>
                  <a:schemeClr val="dk1"/>
                </a:solidFill>
                <a:latin typeface="Arial"/>
                <a:ea typeface="Arial"/>
                <a:cs typeface="Arial"/>
                <a:sym typeface="Arial"/>
              </a:rPr>
              <a:t> y si existe tiene un solo elemento.</a:t>
            </a:r>
            <a:endParaRPr b="1" i="1"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49" name="Google Shape;349;p2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Ordenada al origen</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Es el punto de intersección entre la función y el eje de las ordenadas (eje y). Es un punto de la forma (0;y). La hallamos evaluando la función en x=0. Es decir:</a:t>
            </a:r>
            <a:br>
              <a:rPr b="1" i="0" lang="en" sz="1800" u="none" cap="none" strike="noStrike">
                <a:solidFill>
                  <a:srgbClr val="000000"/>
                </a:solidFill>
                <a:latin typeface="Arial"/>
                <a:ea typeface="Arial"/>
                <a:cs typeface="Arial"/>
                <a:sym typeface="Arial"/>
              </a:rPr>
            </a:br>
            <a:r>
              <a:rPr b="0" i="0" lang="en" sz="1800" u="none" cap="none" strike="noStrike">
                <a:solidFill>
                  <a:schemeClr val="dk1"/>
                </a:solidFill>
                <a:latin typeface="Arial"/>
                <a:ea typeface="Arial"/>
                <a:cs typeface="Arial"/>
                <a:sym typeface="Arial"/>
              </a:rPr>
              <a:t>Ordenada al origen = {y : y ∊ Im(f), y = f(0)}, Solo existe si 0 ∊ Dom(f)</a:t>
            </a:r>
            <a:endParaRPr b="0" i="0" sz="1800" u="none" cap="none" strike="noStrike">
              <a:solidFill>
                <a:schemeClr val="dk1"/>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¿Cuál es la ordenada al origen de cada función?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55" name="Google Shape;355;p3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Ordenada al origen</a:t>
            </a:r>
            <a:endParaRPr b="0" i="0" sz="3600" u="none" cap="none" strike="noStrike">
              <a:solidFill>
                <a:srgbClr val="FFFFFF"/>
              </a:solidFill>
              <a:latin typeface="Helvetica Neue"/>
              <a:ea typeface="Helvetica Neue"/>
              <a:cs typeface="Helvetica Neue"/>
              <a:sym typeface="Helvetica Neue"/>
            </a:endParaRPr>
          </a:p>
        </p:txBody>
      </p:sp>
      <p:pic>
        <p:nvPicPr>
          <p:cNvPr id="356" name="Google Shape;356;p30"/>
          <p:cNvPicPr preferRelativeResize="0"/>
          <p:nvPr/>
        </p:nvPicPr>
        <p:blipFill rotWithShape="1">
          <a:blip r:embed="rId3">
            <a:alphaModFix/>
          </a:blip>
          <a:srcRect b="-1830" l="0" r="999" t="0"/>
          <a:stretch/>
        </p:blipFill>
        <p:spPr>
          <a:xfrm>
            <a:off x="257000" y="2571738"/>
            <a:ext cx="2468880" cy="2468880"/>
          </a:xfrm>
          <a:prstGeom prst="rect">
            <a:avLst/>
          </a:prstGeom>
          <a:noFill/>
          <a:ln>
            <a:noFill/>
          </a:ln>
        </p:spPr>
      </p:pic>
      <p:pic>
        <p:nvPicPr>
          <p:cNvPr id="357" name="Google Shape;357;p30"/>
          <p:cNvPicPr preferRelativeResize="0"/>
          <p:nvPr/>
        </p:nvPicPr>
        <p:blipFill rotWithShape="1">
          <a:blip r:embed="rId4">
            <a:alphaModFix/>
          </a:blip>
          <a:srcRect b="0" l="0" r="0" t="0"/>
          <a:stretch/>
        </p:blipFill>
        <p:spPr>
          <a:xfrm>
            <a:off x="3131388" y="2499338"/>
            <a:ext cx="2688551" cy="2613699"/>
          </a:xfrm>
          <a:prstGeom prst="rect">
            <a:avLst/>
          </a:prstGeom>
          <a:noFill/>
          <a:ln>
            <a:noFill/>
          </a:ln>
        </p:spPr>
      </p:pic>
      <p:pic>
        <p:nvPicPr>
          <p:cNvPr id="358" name="Google Shape;358;p30"/>
          <p:cNvPicPr preferRelativeResize="0"/>
          <p:nvPr/>
        </p:nvPicPr>
        <p:blipFill rotWithShape="1">
          <a:blip r:embed="rId5">
            <a:alphaModFix/>
          </a:blip>
          <a:srcRect b="0" l="0" r="0" t="0"/>
          <a:stretch/>
        </p:blipFill>
        <p:spPr>
          <a:xfrm>
            <a:off x="6113900" y="2499338"/>
            <a:ext cx="2688551" cy="26137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Ordenada al origen</a:t>
            </a:r>
            <a:endParaRPr b="0" i="0" sz="3600" u="none" cap="none" strike="noStrike">
              <a:solidFill>
                <a:srgbClr val="FFFFFF"/>
              </a:solidFill>
              <a:latin typeface="Helvetica Neue"/>
              <a:ea typeface="Helvetica Neue"/>
              <a:cs typeface="Helvetica Neue"/>
              <a:sym typeface="Helvetica Neue"/>
            </a:endParaRPr>
          </a:p>
        </p:txBody>
      </p:sp>
      <p:pic>
        <p:nvPicPr>
          <p:cNvPr id="364" name="Google Shape;364;p31"/>
          <p:cNvPicPr preferRelativeResize="0"/>
          <p:nvPr/>
        </p:nvPicPr>
        <p:blipFill rotWithShape="1">
          <a:blip r:embed="rId3">
            <a:alphaModFix/>
          </a:blip>
          <a:srcRect b="0" l="0" r="0" t="0"/>
          <a:stretch/>
        </p:blipFill>
        <p:spPr>
          <a:xfrm>
            <a:off x="6122627" y="2112575"/>
            <a:ext cx="2769726" cy="2692626"/>
          </a:xfrm>
          <a:prstGeom prst="rect">
            <a:avLst/>
          </a:prstGeom>
          <a:noFill/>
          <a:ln>
            <a:noFill/>
          </a:ln>
        </p:spPr>
      </p:pic>
      <p:pic>
        <p:nvPicPr>
          <p:cNvPr id="365" name="Google Shape;365;p31"/>
          <p:cNvPicPr preferRelativeResize="0"/>
          <p:nvPr/>
        </p:nvPicPr>
        <p:blipFill rotWithShape="1">
          <a:blip r:embed="rId4">
            <a:alphaModFix/>
          </a:blip>
          <a:srcRect b="0" l="0" r="0" t="0"/>
          <a:stretch/>
        </p:blipFill>
        <p:spPr>
          <a:xfrm>
            <a:off x="3138039" y="1519750"/>
            <a:ext cx="2844076" cy="2764900"/>
          </a:xfrm>
          <a:prstGeom prst="rect">
            <a:avLst/>
          </a:prstGeom>
          <a:noFill/>
          <a:ln>
            <a:noFill/>
          </a:ln>
        </p:spPr>
      </p:pic>
      <p:pic>
        <p:nvPicPr>
          <p:cNvPr id="366" name="Google Shape;366;p31"/>
          <p:cNvPicPr preferRelativeResize="0"/>
          <p:nvPr/>
        </p:nvPicPr>
        <p:blipFill rotWithShape="1">
          <a:blip r:embed="rId5">
            <a:alphaModFix/>
          </a:blip>
          <a:srcRect b="0" l="0" r="0" t="0"/>
          <a:stretch/>
        </p:blipFill>
        <p:spPr>
          <a:xfrm>
            <a:off x="152400" y="1000775"/>
            <a:ext cx="2845162" cy="27659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2"/>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Si para cualquier par de puntos se verifica que x</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&lt; x</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&lt; f(x</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a:t>
            </a:r>
            <a:endParaRPr b="0" i="0" sz="1800" u="none" cap="none" strike="noStrike">
              <a:solidFill>
                <a:schemeClr val="dk2"/>
              </a:solidFill>
              <a:latin typeface="Arial"/>
              <a:ea typeface="Arial"/>
              <a:cs typeface="Arial"/>
              <a:sym typeface="Arial"/>
            </a:endParaRPr>
          </a:p>
          <a:p>
            <a:pPr indent="0" lvl="0" marL="3200400" marR="0" rtl="0" algn="l">
              <a:lnSpc>
                <a:spcPct val="115000"/>
              </a:lnSpc>
              <a:spcBef>
                <a:spcPts val="160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La función es </a:t>
            </a:r>
            <a:r>
              <a:rPr b="1" i="0" lang="en" sz="1800" u="none" cap="none" strike="noStrike">
                <a:solidFill>
                  <a:srgbClr val="000000"/>
                </a:solidFill>
                <a:latin typeface="Arial"/>
                <a:ea typeface="Arial"/>
                <a:cs typeface="Arial"/>
                <a:sym typeface="Arial"/>
              </a:rPr>
              <a:t>creciente</a:t>
            </a:r>
            <a:endParaRPr b="1" i="0" sz="1800" u="none" cap="none" strike="noStrike">
              <a:solidFill>
                <a:srgbClr val="000000"/>
              </a:solidFill>
              <a:latin typeface="Arial"/>
              <a:ea typeface="Arial"/>
              <a:cs typeface="Arial"/>
              <a:sym typeface="Arial"/>
            </a:endParaRPr>
          </a:p>
          <a:p>
            <a:pPr indent="0" lvl="0" marL="3200400" marR="0" rtl="0" algn="l">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3200400" marR="0" rtl="0" algn="l">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72" name="Google Shape;372;p3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Intervalo de crecimiento</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3"/>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Si para cualquier par de puntos se verifica que x</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&lt; x</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&lt; f(x</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a:t>
            </a:r>
            <a:endParaRPr b="0" i="0" sz="1800" u="none" cap="none" strike="noStrike">
              <a:solidFill>
                <a:schemeClr val="dk2"/>
              </a:solidFill>
              <a:latin typeface="Arial"/>
              <a:ea typeface="Arial"/>
              <a:cs typeface="Arial"/>
              <a:sym typeface="Arial"/>
            </a:endParaRPr>
          </a:p>
          <a:p>
            <a:pPr indent="0" lvl="0" marL="3200400" marR="0" rtl="0" algn="l">
              <a:lnSpc>
                <a:spcPct val="115000"/>
              </a:lnSpc>
              <a:spcBef>
                <a:spcPts val="160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La función es </a:t>
            </a:r>
            <a:r>
              <a:rPr b="1" i="0" lang="en" sz="1800" u="none" cap="none" strike="noStrike">
                <a:solidFill>
                  <a:srgbClr val="000000"/>
                </a:solidFill>
                <a:latin typeface="Arial"/>
                <a:ea typeface="Arial"/>
                <a:cs typeface="Arial"/>
                <a:sym typeface="Arial"/>
              </a:rPr>
              <a:t>creciente</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¿Las siguientes funciones son crecientes?</a:t>
            </a:r>
            <a:endParaRPr b="1" i="0" sz="1800" u="none" cap="none" strike="noStrike">
              <a:solidFill>
                <a:srgbClr val="000000"/>
              </a:solidFill>
              <a:latin typeface="Arial"/>
              <a:ea typeface="Arial"/>
              <a:cs typeface="Arial"/>
              <a:sym typeface="Arial"/>
            </a:endParaRPr>
          </a:p>
          <a:p>
            <a:pPr indent="0" lvl="0" marL="3200400" marR="0" rtl="0" algn="l">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78" name="Google Shape;378;p3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Intervalo de crecimiento</a:t>
            </a:r>
            <a:endParaRPr b="0" i="0" sz="3600" u="none" cap="none" strike="noStrike">
              <a:solidFill>
                <a:srgbClr val="FFFFFF"/>
              </a:solidFill>
              <a:latin typeface="Helvetica Neue"/>
              <a:ea typeface="Helvetica Neue"/>
              <a:cs typeface="Helvetica Neue"/>
              <a:sym typeface="Helvetica Neue"/>
            </a:endParaRPr>
          </a:p>
        </p:txBody>
      </p:sp>
      <p:pic>
        <p:nvPicPr>
          <p:cNvPr id="379" name="Google Shape;379;p33"/>
          <p:cNvPicPr preferRelativeResize="0"/>
          <p:nvPr/>
        </p:nvPicPr>
        <p:blipFill rotWithShape="1">
          <a:blip r:embed="rId3">
            <a:alphaModFix/>
          </a:blip>
          <a:srcRect b="0" l="0" r="0" t="0"/>
          <a:stretch/>
        </p:blipFill>
        <p:spPr>
          <a:xfrm>
            <a:off x="293976" y="2439775"/>
            <a:ext cx="2593851" cy="2495751"/>
          </a:xfrm>
          <a:prstGeom prst="rect">
            <a:avLst/>
          </a:prstGeom>
          <a:noFill/>
          <a:ln>
            <a:noFill/>
          </a:ln>
        </p:spPr>
      </p:pic>
      <p:pic>
        <p:nvPicPr>
          <p:cNvPr id="380" name="Google Shape;380;p33"/>
          <p:cNvPicPr preferRelativeResize="0"/>
          <p:nvPr/>
        </p:nvPicPr>
        <p:blipFill rotWithShape="1">
          <a:blip r:embed="rId4">
            <a:alphaModFix/>
          </a:blip>
          <a:srcRect b="0" l="0" r="0" t="0"/>
          <a:stretch/>
        </p:blipFill>
        <p:spPr>
          <a:xfrm>
            <a:off x="3202400" y="2439763"/>
            <a:ext cx="2593851" cy="2495768"/>
          </a:xfrm>
          <a:prstGeom prst="rect">
            <a:avLst/>
          </a:prstGeom>
          <a:noFill/>
          <a:ln>
            <a:noFill/>
          </a:ln>
        </p:spPr>
      </p:pic>
      <p:pic>
        <p:nvPicPr>
          <p:cNvPr id="381" name="Google Shape;381;p33"/>
          <p:cNvPicPr preferRelativeResize="0"/>
          <p:nvPr/>
        </p:nvPicPr>
        <p:blipFill rotWithShape="1">
          <a:blip r:embed="rId5">
            <a:alphaModFix/>
          </a:blip>
          <a:srcRect b="0" l="0" r="0" t="0"/>
          <a:stretch/>
        </p:blipFill>
        <p:spPr>
          <a:xfrm>
            <a:off x="6110825" y="2349157"/>
            <a:ext cx="2593849" cy="25216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4"/>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Si para cualquier par de puntos se verifica que </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&lt;</a:t>
            </a:r>
            <a:r>
              <a:rPr b="0" i="0" lang="en" sz="1800" u="none" cap="none" strike="noStrike">
                <a:solidFill>
                  <a:srgbClr val="00000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&gt;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La función es </a:t>
            </a:r>
            <a:r>
              <a:rPr b="1" i="0" lang="en" sz="1800" u="none" cap="none" strike="noStrike">
                <a:solidFill>
                  <a:srgbClr val="000000"/>
                </a:solidFill>
                <a:latin typeface="Arial"/>
                <a:ea typeface="Arial"/>
                <a:cs typeface="Arial"/>
                <a:sym typeface="Arial"/>
              </a:rPr>
              <a:t>decreciente</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chemeClr val="dk1"/>
              </a:buClr>
              <a:buSzPts val="1100"/>
              <a:buFont typeface="Arial"/>
              <a:buNone/>
            </a:pPr>
            <a:r>
              <a:rPr b="1" i="0" lang="en" sz="1800" u="none" cap="none" strike="noStrike">
                <a:solidFill>
                  <a:schemeClr val="dk1"/>
                </a:solidFill>
                <a:latin typeface="Arial"/>
                <a:ea typeface="Arial"/>
                <a:cs typeface="Arial"/>
                <a:sym typeface="Arial"/>
              </a:rPr>
              <a:t>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87" name="Google Shape;387;p3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Intervalo de decrecimiento</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Si para cualquier par de puntos se verifica que </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&lt;</a:t>
            </a:r>
            <a:r>
              <a:rPr b="0" i="0" lang="en" sz="1800" u="none" cap="none" strike="noStrike">
                <a:solidFill>
                  <a:srgbClr val="00000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&gt; f(</a:t>
            </a:r>
            <a:r>
              <a:rPr b="0" i="0" lang="en" sz="1800" u="none" cap="none" strike="noStrike">
                <a:solidFill>
                  <a:schemeClr val="dk1"/>
                </a:solidFill>
                <a:latin typeface="Arial"/>
                <a:ea typeface="Arial"/>
                <a:cs typeface="Arial"/>
                <a:sym typeface="Arial"/>
              </a:rPr>
              <a:t>x</a:t>
            </a:r>
            <a:r>
              <a:rPr b="0" baseline="-25000" i="0" lang="en" sz="1800" u="none" cap="none" strike="noStrike">
                <a:solidFill>
                  <a:schemeClr val="dk1"/>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La función es </a:t>
            </a:r>
            <a:r>
              <a:rPr b="1" i="0" lang="en" sz="1800" u="none" cap="none" strike="noStrike">
                <a:solidFill>
                  <a:srgbClr val="000000"/>
                </a:solidFill>
                <a:latin typeface="Arial"/>
                <a:ea typeface="Arial"/>
                <a:cs typeface="Arial"/>
                <a:sym typeface="Arial"/>
              </a:rPr>
              <a:t>decreciente</a:t>
            </a:r>
            <a:endParaRPr b="1" i="0" sz="1800" u="none" cap="none" strike="noStrike">
              <a:solidFill>
                <a:srgbClr val="000000"/>
              </a:solidFill>
              <a:latin typeface="Arial"/>
              <a:ea typeface="Arial"/>
              <a:cs typeface="Arial"/>
              <a:sym typeface="Arial"/>
            </a:endParaRPr>
          </a:p>
          <a:p>
            <a:pPr indent="0" lvl="0" marL="0" marR="0" rtl="0" algn="ctr">
              <a:lnSpc>
                <a:spcPct val="115000"/>
              </a:lnSpc>
              <a:spcBef>
                <a:spcPts val="1600"/>
              </a:spcBef>
              <a:spcAft>
                <a:spcPts val="0"/>
              </a:spcAft>
              <a:buClr>
                <a:schemeClr val="dk1"/>
              </a:buClr>
              <a:buSzPts val="1100"/>
              <a:buFont typeface="Arial"/>
              <a:buNone/>
            </a:pPr>
            <a:r>
              <a:rPr b="1" i="0" lang="en" sz="1800" u="none" cap="none" strike="noStrike">
                <a:solidFill>
                  <a:schemeClr val="dk1"/>
                </a:solidFill>
                <a:latin typeface="Arial"/>
                <a:ea typeface="Arial"/>
                <a:cs typeface="Arial"/>
                <a:sym typeface="Arial"/>
              </a:rPr>
              <a:t>¿Las siguientes funciones son decrecientes?</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393" name="Google Shape;393;p3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Intervalo de decrecimiento</a:t>
            </a:r>
            <a:endParaRPr b="0" i="0" sz="3600" u="none" cap="none" strike="noStrike">
              <a:solidFill>
                <a:srgbClr val="FFFFFF"/>
              </a:solidFill>
              <a:latin typeface="Helvetica Neue"/>
              <a:ea typeface="Helvetica Neue"/>
              <a:cs typeface="Helvetica Neue"/>
              <a:sym typeface="Helvetica Neue"/>
            </a:endParaRPr>
          </a:p>
        </p:txBody>
      </p:sp>
      <p:pic>
        <p:nvPicPr>
          <p:cNvPr id="394" name="Google Shape;394;p35"/>
          <p:cNvPicPr preferRelativeResize="0"/>
          <p:nvPr/>
        </p:nvPicPr>
        <p:blipFill rotWithShape="1">
          <a:blip r:embed="rId3">
            <a:alphaModFix/>
          </a:blip>
          <a:srcRect b="0" l="0" r="0" t="0"/>
          <a:stretch/>
        </p:blipFill>
        <p:spPr>
          <a:xfrm>
            <a:off x="251950" y="2260400"/>
            <a:ext cx="2828925" cy="2721939"/>
          </a:xfrm>
          <a:prstGeom prst="rect">
            <a:avLst/>
          </a:prstGeom>
          <a:noFill/>
          <a:ln>
            <a:noFill/>
          </a:ln>
        </p:spPr>
      </p:pic>
      <p:pic>
        <p:nvPicPr>
          <p:cNvPr id="395" name="Google Shape;395;p35"/>
          <p:cNvPicPr preferRelativeResize="0"/>
          <p:nvPr/>
        </p:nvPicPr>
        <p:blipFill rotWithShape="1">
          <a:blip r:embed="rId4">
            <a:alphaModFix/>
          </a:blip>
          <a:srcRect b="0" l="0" r="0" t="0"/>
          <a:stretch/>
        </p:blipFill>
        <p:spPr>
          <a:xfrm>
            <a:off x="6126725" y="2260400"/>
            <a:ext cx="2828925" cy="2721949"/>
          </a:xfrm>
          <a:prstGeom prst="rect">
            <a:avLst/>
          </a:prstGeom>
          <a:noFill/>
          <a:ln>
            <a:noFill/>
          </a:ln>
        </p:spPr>
      </p:pic>
      <p:pic>
        <p:nvPicPr>
          <p:cNvPr id="396" name="Google Shape;396;p35"/>
          <p:cNvPicPr preferRelativeResize="0"/>
          <p:nvPr/>
        </p:nvPicPr>
        <p:blipFill rotWithShape="1">
          <a:blip r:embed="rId5">
            <a:alphaModFix/>
          </a:blip>
          <a:srcRect b="0" l="0" r="0" t="0"/>
          <a:stretch/>
        </p:blipFill>
        <p:spPr>
          <a:xfrm>
            <a:off x="3297800" y="2246289"/>
            <a:ext cx="2828926" cy="275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6"/>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60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02" name="Google Shape;402;p3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Conjuntos de positividad y negatividad</a:t>
            </a:r>
            <a:endParaRPr b="0" i="0" sz="3600" u="none" cap="none" strike="noStrike">
              <a:solidFill>
                <a:srgbClr val="FFFFFF"/>
              </a:solidFill>
              <a:latin typeface="Helvetica Neue"/>
              <a:ea typeface="Helvetica Neue"/>
              <a:cs typeface="Helvetica Neue"/>
              <a:sym typeface="Helvetica Neue"/>
            </a:endParaRPr>
          </a:p>
        </p:txBody>
      </p:sp>
      <p:sp>
        <p:nvSpPr>
          <p:cNvPr id="403" name="Google Shape;403;p36"/>
          <p:cNvSpPr txBox="1"/>
          <p:nvPr/>
        </p:nvSpPr>
        <p:spPr>
          <a:xfrm>
            <a:off x="184800" y="958350"/>
            <a:ext cx="4291500" cy="109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just">
              <a:lnSpc>
                <a:spcPct val="115000"/>
              </a:lnSpc>
              <a:spcBef>
                <a:spcPts val="0"/>
              </a:spcBef>
              <a:spcAft>
                <a:spcPts val="1600"/>
              </a:spcAft>
              <a:buClr>
                <a:srgbClr val="000000"/>
              </a:buClr>
              <a:buSzPts val="1800"/>
              <a:buFont typeface="Arial"/>
              <a:buNone/>
            </a:pPr>
            <a:r>
              <a:rPr b="1" i="0" lang="en" sz="1800" u="none" cap="none" strike="noStrike">
                <a:solidFill>
                  <a:schemeClr val="dk1"/>
                </a:solidFill>
                <a:latin typeface="Arial"/>
                <a:ea typeface="Arial"/>
                <a:cs typeface="Arial"/>
                <a:sym typeface="Arial"/>
              </a:rPr>
              <a:t>Positividad</a:t>
            </a:r>
            <a:r>
              <a:rPr b="0" i="0" lang="en" sz="1800" u="none" cap="none" strike="noStrike">
                <a:solidFill>
                  <a:schemeClr val="dk1"/>
                </a:solidFill>
                <a:latin typeface="Arial"/>
                <a:ea typeface="Arial"/>
                <a:cs typeface="Arial"/>
                <a:sym typeface="Arial"/>
              </a:rPr>
              <a:t>: Es el conjunto de valores del dominio cuyas </a:t>
            </a:r>
            <a:r>
              <a:rPr b="1" i="0" lang="en" sz="1800" u="none" cap="none" strike="noStrike">
                <a:solidFill>
                  <a:schemeClr val="dk1"/>
                </a:solidFill>
                <a:latin typeface="Arial"/>
                <a:ea typeface="Arial"/>
                <a:cs typeface="Arial"/>
                <a:sym typeface="Arial"/>
              </a:rPr>
              <a:t>imágenes son positivas</a:t>
            </a:r>
            <a:r>
              <a:rPr b="0" i="0" lang="en" sz="1800" u="none" cap="none" strike="noStrike">
                <a:solidFill>
                  <a:schemeClr val="dk1"/>
                </a:solidFill>
                <a:latin typeface="Arial"/>
                <a:ea typeface="Arial"/>
                <a:cs typeface="Arial"/>
                <a:sym typeface="Arial"/>
              </a:rPr>
              <a:t>. </a:t>
            </a:r>
            <a:r>
              <a:rPr b="1" i="0" lang="en" sz="1800" u="none" cap="none" strike="noStrike">
                <a:solidFill>
                  <a:schemeClr val="dk1"/>
                </a:solidFill>
                <a:latin typeface="Arial"/>
                <a:ea typeface="Arial"/>
                <a:cs typeface="Arial"/>
                <a:sym typeface="Arial"/>
              </a:rPr>
              <a:t>C</a:t>
            </a:r>
            <a:r>
              <a:rPr b="1" baseline="30000" i="0" lang="en" sz="1800" u="none" cap="none" strike="noStrike">
                <a:solidFill>
                  <a:schemeClr val="dk1"/>
                </a:solidFill>
                <a:latin typeface="Arial"/>
                <a:ea typeface="Arial"/>
                <a:cs typeface="Arial"/>
                <a:sym typeface="Arial"/>
              </a:rPr>
              <a:t>+</a:t>
            </a:r>
            <a:r>
              <a:rPr b="1" i="0" lang="en" sz="1800" u="none" cap="none" strike="noStrike">
                <a:solidFill>
                  <a:schemeClr val="dk1"/>
                </a:solidFill>
                <a:latin typeface="Arial"/>
                <a:ea typeface="Arial"/>
                <a:cs typeface="Arial"/>
                <a:sym typeface="Arial"/>
              </a:rPr>
              <a:t>(f)={x:x∊ Dom(f), f(x) &gt; 0}</a:t>
            </a:r>
            <a:endParaRPr b="0" i="0" sz="1400" u="none" cap="none" strike="noStrike">
              <a:solidFill>
                <a:srgbClr val="000000"/>
              </a:solidFill>
              <a:latin typeface="Arial"/>
              <a:ea typeface="Arial"/>
              <a:cs typeface="Arial"/>
              <a:sym typeface="Arial"/>
            </a:endParaRPr>
          </a:p>
        </p:txBody>
      </p:sp>
      <p:sp>
        <p:nvSpPr>
          <p:cNvPr id="404" name="Google Shape;404;p36"/>
          <p:cNvSpPr txBox="1"/>
          <p:nvPr/>
        </p:nvSpPr>
        <p:spPr>
          <a:xfrm>
            <a:off x="4656900" y="958350"/>
            <a:ext cx="4352100" cy="109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just">
              <a:lnSpc>
                <a:spcPct val="115000"/>
              </a:lnSpc>
              <a:spcBef>
                <a:spcPts val="0"/>
              </a:spcBef>
              <a:spcAft>
                <a:spcPts val="1600"/>
              </a:spcAft>
              <a:buClr>
                <a:srgbClr val="000000"/>
              </a:buClr>
              <a:buSzPts val="1800"/>
              <a:buFont typeface="Arial"/>
              <a:buNone/>
            </a:pPr>
            <a:r>
              <a:rPr b="1" i="0" lang="en" sz="1800" u="none" cap="none" strike="noStrike">
                <a:solidFill>
                  <a:schemeClr val="dk1"/>
                </a:solidFill>
                <a:latin typeface="Arial"/>
                <a:ea typeface="Arial"/>
                <a:cs typeface="Arial"/>
                <a:sym typeface="Arial"/>
              </a:rPr>
              <a:t>Negatividad</a:t>
            </a:r>
            <a:r>
              <a:rPr b="0" i="0" lang="en" sz="1800" u="none" cap="none" strike="noStrike">
                <a:solidFill>
                  <a:schemeClr val="dk1"/>
                </a:solidFill>
                <a:latin typeface="Arial"/>
                <a:ea typeface="Arial"/>
                <a:cs typeface="Arial"/>
                <a:sym typeface="Arial"/>
              </a:rPr>
              <a:t>: Es el conjunto de valores del dominio cuyas </a:t>
            </a:r>
            <a:r>
              <a:rPr b="1" i="0" lang="en" sz="1800" u="none" cap="none" strike="noStrike">
                <a:solidFill>
                  <a:schemeClr val="dk1"/>
                </a:solidFill>
                <a:latin typeface="Arial"/>
                <a:ea typeface="Arial"/>
                <a:cs typeface="Arial"/>
                <a:sym typeface="Arial"/>
              </a:rPr>
              <a:t>imágenes son negativas. C</a:t>
            </a:r>
            <a:r>
              <a:rPr b="1" baseline="30000" i="0" lang="en" sz="1800" u="none" cap="none" strike="noStrike">
                <a:solidFill>
                  <a:schemeClr val="dk1"/>
                </a:solidFill>
                <a:latin typeface="Arial"/>
                <a:ea typeface="Arial"/>
                <a:cs typeface="Arial"/>
                <a:sym typeface="Arial"/>
              </a:rPr>
              <a:t>-</a:t>
            </a:r>
            <a:r>
              <a:rPr b="1" i="0" lang="en" sz="1800" u="none" cap="none" strike="noStrike">
                <a:solidFill>
                  <a:schemeClr val="dk1"/>
                </a:solidFill>
                <a:latin typeface="Arial"/>
                <a:ea typeface="Arial"/>
                <a:cs typeface="Arial"/>
                <a:sym typeface="Arial"/>
              </a:rPr>
              <a:t>(f)={x:x∊ Dom(f), f(x) &lt; 0}</a:t>
            </a:r>
            <a:endParaRPr b="0" i="0" sz="1400" u="none" cap="none" strike="noStrike">
              <a:solidFill>
                <a:srgbClr val="000000"/>
              </a:solidFill>
              <a:latin typeface="Arial"/>
              <a:ea typeface="Arial"/>
              <a:cs typeface="Arial"/>
              <a:sym typeface="Arial"/>
            </a:endParaRPr>
          </a:p>
        </p:txBody>
      </p:sp>
      <p:pic>
        <p:nvPicPr>
          <p:cNvPr id="405" name="Google Shape;405;p36"/>
          <p:cNvPicPr preferRelativeResize="0"/>
          <p:nvPr/>
        </p:nvPicPr>
        <p:blipFill rotWithShape="1">
          <a:blip r:embed="rId3">
            <a:alphaModFix/>
          </a:blip>
          <a:srcRect b="0" l="0" r="0" t="0"/>
          <a:stretch/>
        </p:blipFill>
        <p:spPr>
          <a:xfrm>
            <a:off x="184800" y="2167225"/>
            <a:ext cx="2828925" cy="2721939"/>
          </a:xfrm>
          <a:prstGeom prst="rect">
            <a:avLst/>
          </a:prstGeom>
          <a:noFill/>
          <a:ln>
            <a:noFill/>
          </a:ln>
        </p:spPr>
      </p:pic>
      <p:pic>
        <p:nvPicPr>
          <p:cNvPr id="406" name="Google Shape;406;p36"/>
          <p:cNvPicPr preferRelativeResize="0"/>
          <p:nvPr/>
        </p:nvPicPr>
        <p:blipFill rotWithShape="1">
          <a:blip r:embed="rId4">
            <a:alphaModFix/>
          </a:blip>
          <a:srcRect b="0" l="0" r="0" t="0"/>
          <a:stretch/>
        </p:blipFill>
        <p:spPr>
          <a:xfrm>
            <a:off x="6180075" y="2167214"/>
            <a:ext cx="2828926" cy="2750175"/>
          </a:xfrm>
          <a:prstGeom prst="rect">
            <a:avLst/>
          </a:prstGeom>
          <a:noFill/>
          <a:ln>
            <a:noFill/>
          </a:ln>
        </p:spPr>
      </p:pic>
      <p:pic>
        <p:nvPicPr>
          <p:cNvPr id="407" name="Google Shape;407;p36"/>
          <p:cNvPicPr preferRelativeResize="0"/>
          <p:nvPr/>
        </p:nvPicPr>
        <p:blipFill rotWithShape="1">
          <a:blip r:embed="rId5">
            <a:alphaModFix/>
          </a:blip>
          <a:srcRect b="0" l="0" r="0" t="0"/>
          <a:stretch/>
        </p:blipFill>
        <p:spPr>
          <a:xfrm>
            <a:off x="3024999" y="2250975"/>
            <a:ext cx="2828926" cy="275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4"/>
          <p:cNvSpPr txBox="1"/>
          <p:nvPr/>
        </p:nvSpPr>
        <p:spPr>
          <a:xfrm>
            <a:off x="-75" y="848375"/>
            <a:ext cx="9144000" cy="247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Helvetica Neue"/>
                <a:ea typeface="Helvetica Neue"/>
                <a:cs typeface="Helvetica Neue"/>
                <a:sym typeface="Helvetica Neue"/>
              </a:rPr>
              <a:t>Dadas las siguiente función, analizar: dominio, imagen, raíces, ordenada al origen, conjuntos de positividad y negatividad, intervalos de crecimiento y de decrecimiento. Realizar la representación gráfica.</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413" name="Google Shape;413;p4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Ejemplo: análisis funcional</a:t>
            </a:r>
            <a:endParaRPr b="0" i="0" sz="3600" u="none" cap="none" strike="noStrike">
              <a:solidFill>
                <a:srgbClr val="FFFFFF"/>
              </a:solidFill>
              <a:latin typeface="Helvetica Neue"/>
              <a:ea typeface="Helvetica Neue"/>
              <a:cs typeface="Helvetica Neue"/>
              <a:sym typeface="Helvetica Neue"/>
            </a:endParaRPr>
          </a:p>
        </p:txBody>
      </p:sp>
      <p:pic>
        <p:nvPicPr>
          <p:cNvPr id="414" name="Google Shape;414;p44"/>
          <p:cNvPicPr preferRelativeResize="0"/>
          <p:nvPr/>
        </p:nvPicPr>
        <p:blipFill rotWithShape="1">
          <a:blip r:embed="rId3">
            <a:alphaModFix/>
          </a:blip>
          <a:srcRect b="0" l="36636" r="0" t="0"/>
          <a:stretch/>
        </p:blipFill>
        <p:spPr>
          <a:xfrm>
            <a:off x="3408950" y="2614600"/>
            <a:ext cx="663875" cy="342900"/>
          </a:xfrm>
          <a:prstGeom prst="rect">
            <a:avLst/>
          </a:prstGeom>
          <a:noFill/>
          <a:ln>
            <a:noFill/>
          </a:ln>
        </p:spPr>
      </p:pic>
      <p:pic>
        <p:nvPicPr>
          <p:cNvPr id="415" name="Google Shape;415;p44"/>
          <p:cNvPicPr preferRelativeResize="0"/>
          <p:nvPr/>
        </p:nvPicPr>
        <p:blipFill rotWithShape="1">
          <a:blip r:embed="rId4">
            <a:alphaModFix/>
          </a:blip>
          <a:srcRect b="0" l="0" r="0" t="0"/>
          <a:stretch/>
        </p:blipFill>
        <p:spPr>
          <a:xfrm>
            <a:off x="4309225" y="2576500"/>
            <a:ext cx="2352675" cy="419100"/>
          </a:xfrm>
          <a:prstGeom prst="rect">
            <a:avLst/>
          </a:prstGeom>
          <a:noFill/>
          <a:ln>
            <a:noFill/>
          </a:ln>
        </p:spPr>
      </p:pic>
      <p:pic>
        <p:nvPicPr>
          <p:cNvPr id="416" name="Google Shape;416;p44"/>
          <p:cNvPicPr preferRelativeResize="0"/>
          <p:nvPr/>
        </p:nvPicPr>
        <p:blipFill rotWithShape="1">
          <a:blip r:embed="rId5">
            <a:alphaModFix/>
          </a:blip>
          <a:srcRect b="0" l="0" r="0" t="0"/>
          <a:stretch/>
        </p:blipFill>
        <p:spPr>
          <a:xfrm>
            <a:off x="2481950" y="2571738"/>
            <a:ext cx="542925" cy="428625"/>
          </a:xfrm>
          <a:prstGeom prst="rect">
            <a:avLst/>
          </a:prstGeom>
          <a:noFill/>
          <a:ln>
            <a:noFill/>
          </a:ln>
        </p:spPr>
      </p:pic>
      <p:sp>
        <p:nvSpPr>
          <p:cNvPr id="417" name="Google Shape;417;p44"/>
          <p:cNvSpPr txBox="1"/>
          <p:nvPr/>
        </p:nvSpPr>
        <p:spPr>
          <a:xfrm>
            <a:off x="3129375" y="2583400"/>
            <a:ext cx="25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Ejemplo: análisis funcional</a:t>
            </a:r>
            <a:endParaRPr b="0" i="0" sz="3600" u="none" cap="none" strike="noStrike">
              <a:solidFill>
                <a:srgbClr val="FFFFFF"/>
              </a:solidFill>
              <a:latin typeface="Helvetica Neue"/>
              <a:ea typeface="Helvetica Neue"/>
              <a:cs typeface="Helvetica Neue"/>
              <a:sym typeface="Helvetica Neue"/>
            </a:endParaRPr>
          </a:p>
        </p:txBody>
      </p:sp>
      <p:pic>
        <p:nvPicPr>
          <p:cNvPr id="423" name="Google Shape;423;p45"/>
          <p:cNvPicPr preferRelativeResize="0"/>
          <p:nvPr/>
        </p:nvPicPr>
        <p:blipFill rotWithShape="1">
          <a:blip r:embed="rId3">
            <a:alphaModFix/>
          </a:blip>
          <a:srcRect b="0" l="0" r="0" t="0"/>
          <a:stretch/>
        </p:blipFill>
        <p:spPr>
          <a:xfrm>
            <a:off x="4309300" y="1056775"/>
            <a:ext cx="2352675" cy="419100"/>
          </a:xfrm>
          <a:prstGeom prst="rect">
            <a:avLst/>
          </a:prstGeom>
          <a:noFill/>
          <a:ln>
            <a:noFill/>
          </a:ln>
        </p:spPr>
      </p:pic>
      <p:pic>
        <p:nvPicPr>
          <p:cNvPr id="424" name="Google Shape;424;p45"/>
          <p:cNvPicPr preferRelativeResize="0"/>
          <p:nvPr/>
        </p:nvPicPr>
        <p:blipFill rotWithShape="1">
          <a:blip r:embed="rId4">
            <a:alphaModFix/>
          </a:blip>
          <a:srcRect b="0" l="0" r="0" t="0"/>
          <a:stretch/>
        </p:blipFill>
        <p:spPr>
          <a:xfrm>
            <a:off x="2482025" y="1052013"/>
            <a:ext cx="542925" cy="428625"/>
          </a:xfrm>
          <a:prstGeom prst="rect">
            <a:avLst/>
          </a:prstGeom>
          <a:noFill/>
          <a:ln>
            <a:noFill/>
          </a:ln>
        </p:spPr>
      </p:pic>
      <p:sp>
        <p:nvSpPr>
          <p:cNvPr id="425" name="Google Shape;425;p45"/>
          <p:cNvSpPr txBox="1"/>
          <p:nvPr/>
        </p:nvSpPr>
        <p:spPr>
          <a:xfrm>
            <a:off x="0" y="1561550"/>
            <a:ext cx="9144000" cy="384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Dominio: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Imagen: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Raíces: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Ordenada al origen: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Intervalo de crecimiento: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Intervalo de decrecimiento:</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426" name="Google Shape;426;p45"/>
          <p:cNvPicPr preferRelativeResize="0"/>
          <p:nvPr/>
        </p:nvPicPr>
        <p:blipFill rotWithShape="1">
          <a:blip r:embed="rId5">
            <a:alphaModFix/>
          </a:blip>
          <a:srcRect b="0" l="36636" r="0" t="0"/>
          <a:stretch/>
        </p:blipFill>
        <p:spPr>
          <a:xfrm>
            <a:off x="3408950" y="1097438"/>
            <a:ext cx="663875" cy="342900"/>
          </a:xfrm>
          <a:prstGeom prst="rect">
            <a:avLst/>
          </a:prstGeom>
          <a:noFill/>
          <a:ln>
            <a:noFill/>
          </a:ln>
        </p:spPr>
      </p:pic>
      <p:sp>
        <p:nvSpPr>
          <p:cNvPr id="427" name="Google Shape;427;p45"/>
          <p:cNvSpPr txBox="1"/>
          <p:nvPr/>
        </p:nvSpPr>
        <p:spPr>
          <a:xfrm>
            <a:off x="3129375" y="1066238"/>
            <a:ext cx="25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Ejemplo: análisis funcional</a:t>
            </a:r>
            <a:endParaRPr b="0" i="0" sz="3600" u="none" cap="none" strike="noStrike">
              <a:solidFill>
                <a:srgbClr val="FFFFFF"/>
              </a:solidFill>
              <a:latin typeface="Helvetica Neue"/>
              <a:ea typeface="Helvetica Neue"/>
              <a:cs typeface="Helvetica Neue"/>
              <a:sym typeface="Helvetica Neue"/>
            </a:endParaRPr>
          </a:p>
        </p:txBody>
      </p:sp>
      <p:pic>
        <p:nvPicPr>
          <p:cNvPr id="433" name="Google Shape;433;p46"/>
          <p:cNvPicPr preferRelativeResize="0"/>
          <p:nvPr/>
        </p:nvPicPr>
        <p:blipFill rotWithShape="1">
          <a:blip r:embed="rId3">
            <a:alphaModFix/>
          </a:blip>
          <a:srcRect b="0" l="0" r="0" t="0"/>
          <a:stretch/>
        </p:blipFill>
        <p:spPr>
          <a:xfrm>
            <a:off x="4309300" y="1056775"/>
            <a:ext cx="2352675" cy="419100"/>
          </a:xfrm>
          <a:prstGeom prst="rect">
            <a:avLst/>
          </a:prstGeom>
          <a:noFill/>
          <a:ln>
            <a:noFill/>
          </a:ln>
        </p:spPr>
      </p:pic>
      <p:pic>
        <p:nvPicPr>
          <p:cNvPr id="434" name="Google Shape;434;p46"/>
          <p:cNvPicPr preferRelativeResize="0"/>
          <p:nvPr/>
        </p:nvPicPr>
        <p:blipFill rotWithShape="1">
          <a:blip r:embed="rId4">
            <a:alphaModFix/>
          </a:blip>
          <a:srcRect b="0" l="0" r="0" t="0"/>
          <a:stretch/>
        </p:blipFill>
        <p:spPr>
          <a:xfrm>
            <a:off x="2482025" y="1052013"/>
            <a:ext cx="542925" cy="428625"/>
          </a:xfrm>
          <a:prstGeom prst="rect">
            <a:avLst/>
          </a:prstGeom>
          <a:noFill/>
          <a:ln>
            <a:noFill/>
          </a:ln>
        </p:spPr>
      </p:pic>
      <p:sp>
        <p:nvSpPr>
          <p:cNvPr id="435" name="Google Shape;435;p46"/>
          <p:cNvSpPr txBox="1"/>
          <p:nvPr/>
        </p:nvSpPr>
        <p:spPr>
          <a:xfrm>
            <a:off x="0" y="1561550"/>
            <a:ext cx="9144000" cy="384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Dominio: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Imagen: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Raíces: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Ordenada al origen: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Intervalo de crecimiento: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Intervalo de decrecimiento:</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436" name="Google Shape;436;p46"/>
          <p:cNvPicPr preferRelativeResize="0"/>
          <p:nvPr/>
        </p:nvPicPr>
        <p:blipFill rotWithShape="1">
          <a:blip r:embed="rId5">
            <a:alphaModFix/>
          </a:blip>
          <a:srcRect b="0" l="36636" r="0" t="0"/>
          <a:stretch/>
        </p:blipFill>
        <p:spPr>
          <a:xfrm>
            <a:off x="3388975" y="1097425"/>
            <a:ext cx="663875" cy="342900"/>
          </a:xfrm>
          <a:prstGeom prst="rect">
            <a:avLst/>
          </a:prstGeom>
          <a:noFill/>
          <a:ln>
            <a:noFill/>
          </a:ln>
        </p:spPr>
      </p:pic>
      <p:sp>
        <p:nvSpPr>
          <p:cNvPr id="437" name="Google Shape;437;p46"/>
          <p:cNvSpPr txBox="1"/>
          <p:nvPr/>
        </p:nvSpPr>
        <p:spPr>
          <a:xfrm>
            <a:off x="3109400" y="1066225"/>
            <a:ext cx="25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43" name="Google Shape;443;p2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lineales</a:t>
            </a:r>
            <a:endParaRPr b="0" i="0" sz="3600" u="none" cap="none" strike="noStrike">
              <a:solidFill>
                <a:srgbClr val="FFFFFF"/>
              </a:solidFill>
              <a:latin typeface="Helvetica Neue"/>
              <a:ea typeface="Helvetica Neue"/>
              <a:cs typeface="Helvetica Neue"/>
              <a:sym typeface="Helvetica Neue"/>
            </a:endParaRPr>
          </a:p>
        </p:txBody>
      </p:sp>
      <p:pic>
        <p:nvPicPr>
          <p:cNvPr id="444" name="Google Shape;444;p20"/>
          <p:cNvPicPr preferRelativeResize="0"/>
          <p:nvPr/>
        </p:nvPicPr>
        <p:blipFill rotWithShape="1">
          <a:blip r:embed="rId3">
            <a:alphaModFix/>
          </a:blip>
          <a:srcRect b="0" l="0" r="0" t="0"/>
          <a:stretch/>
        </p:blipFill>
        <p:spPr>
          <a:xfrm>
            <a:off x="625225" y="1136525"/>
            <a:ext cx="3864950" cy="3718789"/>
          </a:xfrm>
          <a:prstGeom prst="rect">
            <a:avLst/>
          </a:prstGeom>
          <a:noFill/>
          <a:ln>
            <a:noFill/>
          </a:ln>
        </p:spPr>
      </p:pic>
      <p:pic>
        <p:nvPicPr>
          <p:cNvPr id="445" name="Google Shape;445;p20"/>
          <p:cNvPicPr preferRelativeResize="0"/>
          <p:nvPr/>
        </p:nvPicPr>
        <p:blipFill rotWithShape="1">
          <a:blip r:embed="rId4">
            <a:alphaModFix/>
          </a:blip>
          <a:srcRect b="0" l="0" r="0" t="0"/>
          <a:stretch/>
        </p:blipFill>
        <p:spPr>
          <a:xfrm>
            <a:off x="4647750" y="1136525"/>
            <a:ext cx="3864950" cy="371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1"/>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51" name="Google Shape;451;p2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cuadráticas</a:t>
            </a:r>
            <a:endParaRPr b="0" i="0" sz="3600" u="none" cap="none" strike="noStrike">
              <a:solidFill>
                <a:srgbClr val="FFFFFF"/>
              </a:solidFill>
              <a:latin typeface="Helvetica Neue"/>
              <a:ea typeface="Helvetica Neue"/>
              <a:cs typeface="Helvetica Neue"/>
              <a:sym typeface="Helvetica Neue"/>
            </a:endParaRPr>
          </a:p>
        </p:txBody>
      </p:sp>
      <p:pic>
        <p:nvPicPr>
          <p:cNvPr id="452" name="Google Shape;452;p21"/>
          <p:cNvPicPr preferRelativeResize="0"/>
          <p:nvPr/>
        </p:nvPicPr>
        <p:blipFill rotWithShape="1">
          <a:blip r:embed="rId3">
            <a:alphaModFix/>
          </a:blip>
          <a:srcRect b="0" l="0" r="0" t="0"/>
          <a:stretch/>
        </p:blipFill>
        <p:spPr>
          <a:xfrm>
            <a:off x="309825" y="977625"/>
            <a:ext cx="4071974" cy="3917999"/>
          </a:xfrm>
          <a:prstGeom prst="rect">
            <a:avLst/>
          </a:prstGeom>
          <a:noFill/>
          <a:ln>
            <a:noFill/>
          </a:ln>
        </p:spPr>
      </p:pic>
      <p:pic>
        <p:nvPicPr>
          <p:cNvPr id="453" name="Google Shape;453;p21"/>
          <p:cNvPicPr preferRelativeResize="0"/>
          <p:nvPr/>
        </p:nvPicPr>
        <p:blipFill rotWithShape="1">
          <a:blip r:embed="rId4">
            <a:alphaModFix/>
          </a:blip>
          <a:srcRect b="0" l="0" r="0" t="0"/>
          <a:stretch/>
        </p:blipFill>
        <p:spPr>
          <a:xfrm>
            <a:off x="4688575" y="977635"/>
            <a:ext cx="4071974" cy="39179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2"/>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59" name="Google Shape;459;p2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polinómicas de mayor orden</a:t>
            </a:r>
            <a:endParaRPr b="0" i="0" sz="3600" u="none" cap="none" strike="noStrike">
              <a:solidFill>
                <a:srgbClr val="FFFFFF"/>
              </a:solidFill>
              <a:latin typeface="Helvetica Neue"/>
              <a:ea typeface="Helvetica Neue"/>
              <a:cs typeface="Helvetica Neue"/>
              <a:sym typeface="Helvetica Neue"/>
            </a:endParaRPr>
          </a:p>
        </p:txBody>
      </p:sp>
      <p:pic>
        <p:nvPicPr>
          <p:cNvPr id="460" name="Google Shape;460;p22"/>
          <p:cNvPicPr preferRelativeResize="0"/>
          <p:nvPr/>
        </p:nvPicPr>
        <p:blipFill rotWithShape="1">
          <a:blip r:embed="rId3">
            <a:alphaModFix/>
          </a:blip>
          <a:srcRect b="0" l="0" r="0" t="0"/>
          <a:stretch/>
        </p:blipFill>
        <p:spPr>
          <a:xfrm>
            <a:off x="470950" y="1054812"/>
            <a:ext cx="4034800" cy="3882227"/>
          </a:xfrm>
          <a:prstGeom prst="rect">
            <a:avLst/>
          </a:prstGeom>
          <a:noFill/>
          <a:ln>
            <a:noFill/>
          </a:ln>
        </p:spPr>
      </p:pic>
      <p:pic>
        <p:nvPicPr>
          <p:cNvPr id="461" name="Google Shape;461;p22"/>
          <p:cNvPicPr preferRelativeResize="0"/>
          <p:nvPr/>
        </p:nvPicPr>
        <p:blipFill rotWithShape="1">
          <a:blip r:embed="rId4">
            <a:alphaModFix/>
          </a:blip>
          <a:srcRect b="0" l="0" r="0" t="0"/>
          <a:stretch/>
        </p:blipFill>
        <p:spPr>
          <a:xfrm>
            <a:off x="4713350" y="1054800"/>
            <a:ext cx="4034800" cy="38822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3"/>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67" name="Google Shape;467;p2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logarítmicas</a:t>
            </a:r>
            <a:endParaRPr b="0" i="0" sz="3600" u="none" cap="none" strike="noStrike">
              <a:solidFill>
                <a:srgbClr val="FFFFFF"/>
              </a:solidFill>
              <a:latin typeface="Helvetica Neue"/>
              <a:ea typeface="Helvetica Neue"/>
              <a:cs typeface="Helvetica Neue"/>
              <a:sym typeface="Helvetica Neue"/>
            </a:endParaRPr>
          </a:p>
        </p:txBody>
      </p:sp>
      <p:pic>
        <p:nvPicPr>
          <p:cNvPr id="468" name="Google Shape;468;p23"/>
          <p:cNvPicPr preferRelativeResize="0"/>
          <p:nvPr/>
        </p:nvPicPr>
        <p:blipFill rotWithShape="1">
          <a:blip r:embed="rId3">
            <a:alphaModFix/>
          </a:blip>
          <a:srcRect b="0" l="0" r="0" t="0"/>
          <a:stretch/>
        </p:blipFill>
        <p:spPr>
          <a:xfrm>
            <a:off x="467900" y="1021475"/>
            <a:ext cx="4104101" cy="3948900"/>
          </a:xfrm>
          <a:prstGeom prst="rect">
            <a:avLst/>
          </a:prstGeom>
          <a:noFill/>
          <a:ln>
            <a:noFill/>
          </a:ln>
        </p:spPr>
      </p:pic>
      <p:pic>
        <p:nvPicPr>
          <p:cNvPr id="469" name="Google Shape;469;p23"/>
          <p:cNvPicPr preferRelativeResize="0"/>
          <p:nvPr/>
        </p:nvPicPr>
        <p:blipFill rotWithShape="1">
          <a:blip r:embed="rId4">
            <a:alphaModFix/>
          </a:blip>
          <a:srcRect b="0" l="0" r="0" t="0"/>
          <a:stretch/>
        </p:blipFill>
        <p:spPr>
          <a:xfrm>
            <a:off x="4697300" y="995863"/>
            <a:ext cx="4157351" cy="40001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4"/>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75" name="Google Shape;475;p2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exponenciales</a:t>
            </a:r>
            <a:endParaRPr b="0" i="0" sz="3600" u="none" cap="none" strike="noStrike">
              <a:solidFill>
                <a:srgbClr val="FFFFFF"/>
              </a:solidFill>
              <a:latin typeface="Helvetica Neue"/>
              <a:ea typeface="Helvetica Neue"/>
              <a:cs typeface="Helvetica Neue"/>
              <a:sym typeface="Helvetica Neue"/>
            </a:endParaRPr>
          </a:p>
        </p:txBody>
      </p:sp>
      <p:pic>
        <p:nvPicPr>
          <p:cNvPr id="476" name="Google Shape;476;p24"/>
          <p:cNvPicPr preferRelativeResize="0"/>
          <p:nvPr/>
        </p:nvPicPr>
        <p:blipFill rotWithShape="1">
          <a:blip r:embed="rId3">
            <a:alphaModFix/>
          </a:blip>
          <a:srcRect b="0" l="0" r="0" t="0"/>
          <a:stretch/>
        </p:blipFill>
        <p:spPr>
          <a:xfrm>
            <a:off x="532950" y="1044975"/>
            <a:ext cx="3886049" cy="3739101"/>
          </a:xfrm>
          <a:prstGeom prst="rect">
            <a:avLst/>
          </a:prstGeom>
          <a:noFill/>
          <a:ln>
            <a:noFill/>
          </a:ln>
        </p:spPr>
      </p:pic>
      <p:pic>
        <p:nvPicPr>
          <p:cNvPr id="477" name="Google Shape;477;p24"/>
          <p:cNvPicPr preferRelativeResize="0"/>
          <p:nvPr/>
        </p:nvPicPr>
        <p:blipFill rotWithShape="1">
          <a:blip r:embed="rId4">
            <a:alphaModFix/>
          </a:blip>
          <a:srcRect b="0" l="0" r="0" t="0"/>
          <a:stretch/>
        </p:blipFill>
        <p:spPr>
          <a:xfrm>
            <a:off x="4864100" y="1044975"/>
            <a:ext cx="3886049" cy="37391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125e8ac6d6f_2_76"/>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483" name="Google Shape;483;g125e8ac6d6f_2_7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trigonométricas</a:t>
            </a:r>
            <a:endParaRPr b="0" i="0" sz="3600" u="none" cap="none" strike="noStrike">
              <a:solidFill>
                <a:srgbClr val="FFFFFF"/>
              </a:solidFill>
              <a:latin typeface="Helvetica Neue"/>
              <a:ea typeface="Helvetica Neue"/>
              <a:cs typeface="Helvetica Neue"/>
              <a:sym typeface="Helvetica Neue"/>
            </a:endParaRPr>
          </a:p>
        </p:txBody>
      </p:sp>
      <p:pic>
        <p:nvPicPr>
          <p:cNvPr id="484" name="Google Shape;484;g125e8ac6d6f_2_76"/>
          <p:cNvPicPr preferRelativeResize="0"/>
          <p:nvPr/>
        </p:nvPicPr>
        <p:blipFill rotWithShape="1">
          <a:blip r:embed="rId3">
            <a:alphaModFix/>
          </a:blip>
          <a:srcRect b="0" l="0" r="0" t="0"/>
          <a:stretch/>
        </p:blipFill>
        <p:spPr>
          <a:xfrm>
            <a:off x="238950" y="1307625"/>
            <a:ext cx="2857500" cy="2857500"/>
          </a:xfrm>
          <a:prstGeom prst="rect">
            <a:avLst/>
          </a:prstGeom>
          <a:noFill/>
          <a:ln>
            <a:noFill/>
          </a:ln>
        </p:spPr>
      </p:pic>
      <p:pic>
        <p:nvPicPr>
          <p:cNvPr id="485" name="Google Shape;485;g125e8ac6d6f_2_76"/>
          <p:cNvPicPr preferRelativeResize="0"/>
          <p:nvPr/>
        </p:nvPicPr>
        <p:blipFill rotWithShape="1">
          <a:blip r:embed="rId4">
            <a:alphaModFix/>
          </a:blip>
          <a:srcRect b="0" l="0" r="0" t="0"/>
          <a:stretch/>
        </p:blipFill>
        <p:spPr>
          <a:xfrm>
            <a:off x="3197675" y="1307625"/>
            <a:ext cx="2857500" cy="2857500"/>
          </a:xfrm>
          <a:prstGeom prst="rect">
            <a:avLst/>
          </a:prstGeom>
          <a:noFill/>
          <a:ln>
            <a:noFill/>
          </a:ln>
        </p:spPr>
      </p:pic>
      <p:pic>
        <p:nvPicPr>
          <p:cNvPr id="486" name="Google Shape;486;g125e8ac6d6f_2_76"/>
          <p:cNvPicPr preferRelativeResize="0"/>
          <p:nvPr/>
        </p:nvPicPr>
        <p:blipFill rotWithShape="1">
          <a:blip r:embed="rId5">
            <a:alphaModFix/>
          </a:blip>
          <a:srcRect b="0" l="0" r="0" t="0"/>
          <a:stretch/>
        </p:blipFill>
        <p:spPr>
          <a:xfrm>
            <a:off x="6114050" y="1307625"/>
            <a:ext cx="2857500" cy="2857500"/>
          </a:xfrm>
          <a:prstGeom prst="rect">
            <a:avLst/>
          </a:prstGeom>
          <a:noFill/>
          <a:ln>
            <a:noFill/>
          </a:ln>
        </p:spPr>
      </p:pic>
      <p:sp>
        <p:nvSpPr>
          <p:cNvPr id="487" name="Google Shape;487;g125e8ac6d6f_2_76"/>
          <p:cNvSpPr txBox="1"/>
          <p:nvPr/>
        </p:nvSpPr>
        <p:spPr>
          <a:xfrm>
            <a:off x="407550" y="4244725"/>
            <a:ext cx="2520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Función seno: y = sen(x)</a:t>
            </a:r>
            <a:endParaRPr b="0" i="0" sz="1400" u="none" cap="none" strike="noStrike">
              <a:solidFill>
                <a:srgbClr val="000000"/>
              </a:solidFill>
              <a:latin typeface="Arial"/>
              <a:ea typeface="Arial"/>
              <a:cs typeface="Arial"/>
              <a:sym typeface="Arial"/>
            </a:endParaRPr>
          </a:p>
        </p:txBody>
      </p:sp>
      <p:sp>
        <p:nvSpPr>
          <p:cNvPr id="488" name="Google Shape;488;g125e8ac6d6f_2_76"/>
          <p:cNvSpPr txBox="1"/>
          <p:nvPr/>
        </p:nvSpPr>
        <p:spPr>
          <a:xfrm>
            <a:off x="3366275" y="4244725"/>
            <a:ext cx="2520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Función coseno: y = cos(x)</a:t>
            </a:r>
            <a:endParaRPr b="0" i="0" sz="1400" u="none" cap="none" strike="noStrike">
              <a:solidFill>
                <a:srgbClr val="000000"/>
              </a:solidFill>
              <a:latin typeface="Arial"/>
              <a:ea typeface="Arial"/>
              <a:cs typeface="Arial"/>
              <a:sym typeface="Arial"/>
            </a:endParaRPr>
          </a:p>
        </p:txBody>
      </p:sp>
      <p:sp>
        <p:nvSpPr>
          <p:cNvPr id="489" name="Google Shape;489;g125e8ac6d6f_2_76"/>
          <p:cNvSpPr txBox="1"/>
          <p:nvPr/>
        </p:nvSpPr>
        <p:spPr>
          <a:xfrm>
            <a:off x="6451250" y="4244725"/>
            <a:ext cx="25203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Función tangente: y = tan(x)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 = sen(x)/cos(x))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125e8ac6d6f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Amplitud: Es una medida de la variación máxima. La distancia entre el punto más alejado de la onda y el punto medio.</a:t>
            </a:r>
            <a:endParaRPr/>
          </a:p>
          <a:p>
            <a:pPr indent="0" lvl="0" marL="0" rtl="0" algn="l">
              <a:lnSpc>
                <a:spcPct val="115000"/>
              </a:lnSpc>
              <a:spcBef>
                <a:spcPts val="0"/>
              </a:spcBef>
              <a:spcAft>
                <a:spcPts val="0"/>
              </a:spcAft>
              <a:buSzPts val="1800"/>
              <a:buNone/>
            </a:pPr>
            <a:r>
              <a:t/>
            </a:r>
            <a:endParaRPr/>
          </a:p>
        </p:txBody>
      </p:sp>
      <p:sp>
        <p:nvSpPr>
          <p:cNvPr id="495" name="Google Shape;495;g125e8ac6d6f_2_0"/>
          <p:cNvSpPr/>
          <p:nvPr/>
        </p:nvSpPr>
        <p:spPr>
          <a:xfrm>
            <a:off x="2895600" y="2476250"/>
            <a:ext cx="3352800" cy="1676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g125e8ac6d6f_2_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trigonométricas</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125e8ac6d6f_2_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Frecuencia: Es una magnitud que mide el número de repeticiones de cualquier suceso o evento periódico.</a:t>
            </a:r>
            <a:endParaRPr/>
          </a:p>
          <a:p>
            <a:pPr indent="0" lvl="0" marL="0" rtl="0" algn="l">
              <a:lnSpc>
                <a:spcPct val="115000"/>
              </a:lnSpc>
              <a:spcBef>
                <a:spcPts val="0"/>
              </a:spcBef>
              <a:spcAft>
                <a:spcPts val="0"/>
              </a:spcAft>
              <a:buClr>
                <a:schemeClr val="dk1"/>
              </a:buClr>
              <a:buSzPts val="1100"/>
              <a:buFont typeface="Arial"/>
              <a:buNone/>
            </a:pPr>
            <a:r>
              <a:rPr lang="en"/>
              <a:t>Período: Mide cuánto dura un suceso o evento. Es la inversa de la frecuencia.</a:t>
            </a:r>
            <a:endParaRPr/>
          </a:p>
        </p:txBody>
      </p:sp>
      <p:sp>
        <p:nvSpPr>
          <p:cNvPr id="502" name="Google Shape;502;g125e8ac6d6f_2_6"/>
          <p:cNvSpPr/>
          <p:nvPr/>
        </p:nvSpPr>
        <p:spPr>
          <a:xfrm>
            <a:off x="2786100" y="2329225"/>
            <a:ext cx="3571800" cy="2352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g125e8ac6d6f_2_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trigonométricas</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125e8ac6d6f_2_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Fase: Determina el desplazamiento horizontal de una función.</a:t>
            </a:r>
            <a:endParaRPr/>
          </a:p>
        </p:txBody>
      </p:sp>
      <p:sp>
        <p:nvSpPr>
          <p:cNvPr id="509" name="Google Shape;509;g125e8ac6d6f_2_12"/>
          <p:cNvSpPr/>
          <p:nvPr/>
        </p:nvSpPr>
        <p:spPr>
          <a:xfrm>
            <a:off x="3243300" y="2115012"/>
            <a:ext cx="2657400" cy="19701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g125e8ac6d6f_2_1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trigonométricas</a:t>
            </a:r>
            <a:endParaRPr b="0" i="0" sz="3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125e8ac6d6f_2_18"/>
          <p:cNvSpPr txBox="1"/>
          <p:nvPr>
            <p:ph idx="1" type="body"/>
          </p:nvPr>
        </p:nvSpPr>
        <p:spPr>
          <a:xfrm>
            <a:off x="311700" y="1152475"/>
            <a:ext cx="8520600" cy="237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f(x) =   A sin(𝜔 x + ⍺) + c   =    A sin(2𝜋𝑘 x + ⍺) + c    =    A sin(2𝜋/𝑻 x + ⍺) + c</a:t>
            </a:r>
            <a:endParaRPr/>
          </a:p>
          <a:p>
            <a:pPr indent="0" lvl="0" marL="0" rtl="0" algn="l">
              <a:lnSpc>
                <a:spcPct val="115000"/>
              </a:lnSpc>
              <a:spcBef>
                <a:spcPts val="0"/>
              </a:spcBef>
              <a:spcAft>
                <a:spcPts val="0"/>
              </a:spcAft>
              <a:buSzPts val="1800"/>
              <a:buNone/>
            </a:pPr>
            <a:r>
              <a:t/>
            </a:r>
            <a:endParaRPr b="1"/>
          </a:p>
          <a:p>
            <a:pPr indent="0" lvl="0" marL="0" rtl="0" algn="l">
              <a:lnSpc>
                <a:spcPct val="115000"/>
              </a:lnSpc>
              <a:spcBef>
                <a:spcPts val="0"/>
              </a:spcBef>
              <a:spcAft>
                <a:spcPts val="0"/>
              </a:spcAft>
              <a:buSzPts val="1800"/>
              <a:buNone/>
            </a:pPr>
            <a:r>
              <a:rPr b="1" lang="en"/>
              <a:t>Amplitud</a:t>
            </a:r>
            <a:r>
              <a:rPr lang="en"/>
              <a:t>, es el valor absoluto del parámetro A ∈ ℝ.</a:t>
            </a:r>
            <a:endParaRPr/>
          </a:p>
          <a:p>
            <a:pPr indent="0" lvl="0" marL="0" rtl="0" algn="l">
              <a:lnSpc>
                <a:spcPct val="115000"/>
              </a:lnSpc>
              <a:spcBef>
                <a:spcPts val="0"/>
              </a:spcBef>
              <a:spcAft>
                <a:spcPts val="0"/>
              </a:spcAft>
              <a:buClr>
                <a:schemeClr val="dk1"/>
              </a:buClr>
              <a:buSzPts val="1100"/>
              <a:buFont typeface="Arial"/>
              <a:buNone/>
            </a:pPr>
            <a:r>
              <a:rPr b="1" lang="en"/>
              <a:t>Velocidad de oscilación</a:t>
            </a:r>
            <a:r>
              <a:rPr lang="en"/>
              <a:t>, es el valor absoluto del parámetro 𝜔 ∈ ℝ.</a:t>
            </a:r>
            <a:endParaRPr/>
          </a:p>
          <a:p>
            <a:pPr indent="0" lvl="0" marL="0" rtl="0" algn="l">
              <a:lnSpc>
                <a:spcPct val="115000"/>
              </a:lnSpc>
              <a:spcBef>
                <a:spcPts val="0"/>
              </a:spcBef>
              <a:spcAft>
                <a:spcPts val="0"/>
              </a:spcAft>
              <a:buSzPts val="1800"/>
              <a:buNone/>
            </a:pPr>
            <a:r>
              <a:rPr b="1" lang="en"/>
              <a:t>Frecuencia</a:t>
            </a:r>
            <a:r>
              <a:rPr lang="en"/>
              <a:t>, es el valor absoluto del parámetro 𝑘=𝜔/(2𝜋) ∈ ℝ.</a:t>
            </a:r>
            <a:endParaRPr/>
          </a:p>
          <a:p>
            <a:pPr indent="0" lvl="0" marL="0" rtl="0" algn="l">
              <a:lnSpc>
                <a:spcPct val="115000"/>
              </a:lnSpc>
              <a:spcBef>
                <a:spcPts val="0"/>
              </a:spcBef>
              <a:spcAft>
                <a:spcPts val="0"/>
              </a:spcAft>
              <a:buSzPts val="1800"/>
              <a:buNone/>
            </a:pPr>
            <a:r>
              <a:rPr b="1" lang="en"/>
              <a:t>Período</a:t>
            </a:r>
            <a:r>
              <a:rPr lang="en"/>
              <a:t>, es el valor absoluto del parámetro 𝑻= 1/𝑘 ∈ ℝ</a:t>
            </a:r>
            <a:endParaRPr/>
          </a:p>
          <a:p>
            <a:pPr indent="0" lvl="0" marL="0" rtl="0" algn="l">
              <a:lnSpc>
                <a:spcPct val="115000"/>
              </a:lnSpc>
              <a:spcBef>
                <a:spcPts val="0"/>
              </a:spcBef>
              <a:spcAft>
                <a:spcPts val="0"/>
              </a:spcAft>
              <a:buSzPts val="1800"/>
              <a:buNone/>
            </a:pPr>
            <a:r>
              <a:rPr b="1" lang="en"/>
              <a:t>Ángulo de Fase</a:t>
            </a:r>
            <a:r>
              <a:rPr lang="en"/>
              <a:t>, es el valor del parámetro </a:t>
            </a:r>
            <a:r>
              <a:rPr lang="en">
                <a:extLst>
                  <a:ext uri="http://customooxmlschemas.google.com/">
                    <go:slidesCustomData xmlns:go="http://customooxmlschemas.google.com/" textRoundtripDataId="0"/>
                  </a:ext>
                </a:extLst>
              </a:rPr>
              <a:t>⍺</a:t>
            </a:r>
            <a:r>
              <a:rPr lang="en"/>
              <a:t> ∈ ℝ.</a:t>
            </a:r>
            <a:endParaRPr/>
          </a:p>
          <a:p>
            <a:pPr indent="0" lvl="0" marL="0" rtl="0" algn="l">
              <a:lnSpc>
                <a:spcPct val="115000"/>
              </a:lnSpc>
              <a:spcBef>
                <a:spcPts val="0"/>
              </a:spcBef>
              <a:spcAft>
                <a:spcPts val="0"/>
              </a:spcAft>
              <a:buSzPts val="1800"/>
              <a:buNone/>
            </a:pPr>
            <a:r>
              <a:rPr b="1" lang="en"/>
              <a:t>Constante de desplazamiento vertical</a:t>
            </a:r>
            <a:r>
              <a:rPr lang="en"/>
              <a:t>, es el valor del parámetro c ∈ ℝ.</a:t>
            </a:r>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516" name="Google Shape;516;g125e8ac6d6f_2_1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Helvetica Neue"/>
                <a:ea typeface="Helvetica Neue"/>
                <a:cs typeface="Helvetica Neue"/>
                <a:sym typeface="Helvetica Neue"/>
              </a:rPr>
              <a:t>Funciones trigonométricas</a:t>
            </a:r>
            <a:endParaRPr b="0" i="0" sz="3600" u="none" cap="none" strike="noStrike">
              <a:solidFill>
                <a:srgbClr val="FFFFFF"/>
              </a:solidFill>
              <a:latin typeface="Helvetica Neue"/>
              <a:ea typeface="Helvetica Neue"/>
              <a:cs typeface="Helvetica Neue"/>
              <a:sym typeface="Helvetica Neue"/>
            </a:endParaRPr>
          </a:p>
        </p:txBody>
      </p:sp>
      <p:sp>
        <p:nvSpPr>
          <p:cNvPr id="517" name="Google Shape;517;g125e8ac6d6f_2_18"/>
          <p:cNvSpPr txBox="1"/>
          <p:nvPr/>
        </p:nvSpPr>
        <p:spPr>
          <a:xfrm>
            <a:off x="415450" y="4076200"/>
            <a:ext cx="559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Si quieren jugar con estos parámetros, pueden usar esto!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800" u="none" cap="none" strike="noStrike">
                <a:solidFill>
                  <a:srgbClr val="000000"/>
                </a:solidFill>
                <a:latin typeface="Arial"/>
                <a:ea typeface="Arial"/>
                <a:cs typeface="Arial"/>
                <a:sym typeface="Arial"/>
              </a:rPr>
              <a:t>Gracias Debo Pérez, donde quiera que estés!!</a:t>
            </a:r>
            <a:endParaRPr b="0" i="0" sz="800" u="none" cap="none" strike="noStrike">
              <a:solidFill>
                <a:srgbClr val="000000"/>
              </a:solidFill>
              <a:latin typeface="Arial"/>
              <a:ea typeface="Arial"/>
              <a:cs typeface="Arial"/>
              <a:sym typeface="Arial"/>
            </a:endParaRPr>
          </a:p>
        </p:txBody>
      </p:sp>
      <p:sp>
        <p:nvSpPr>
          <p:cNvPr id="518" name="Google Shape;518;g125e8ac6d6f_2_18"/>
          <p:cNvSpPr txBox="1"/>
          <p:nvPr/>
        </p:nvSpPr>
        <p:spPr>
          <a:xfrm>
            <a:off x="5561650" y="4076200"/>
            <a:ext cx="3323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3"/>
              </a:rPr>
              <a:t>https://www.geogebra.org/m/mjpn9tb4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