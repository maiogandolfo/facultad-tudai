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embeddedFontLst>
    <p:embeddedFont>
      <p:font typeface="Helvetica Neue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46" roundtripDataSignature="AMtx7mggblRhlaZNmlwPRFbL/2L1P8Fl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HelveticaNeue-regular.fntdata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HelveticaNeue-italic.fntdata"/><Relationship Id="rId21" Type="http://schemas.openxmlformats.org/officeDocument/2006/relationships/slide" Target="slides/slide16.xml"/><Relationship Id="rId43" Type="http://schemas.openxmlformats.org/officeDocument/2006/relationships/font" Target="fonts/HelveticaNeue-bold.fntdata"/><Relationship Id="rId24" Type="http://schemas.openxmlformats.org/officeDocument/2006/relationships/slide" Target="slides/slide19.xml"/><Relationship Id="rId46" Type="http://customschemas.google.com/relationships/presentationmetadata" Target="metadata"/><Relationship Id="rId23" Type="http://schemas.openxmlformats.org/officeDocument/2006/relationships/slide" Target="slides/slide18.xml"/><Relationship Id="rId45" Type="http://schemas.openxmlformats.org/officeDocument/2006/relationships/font" Target="fonts/HelveticaNeue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2cd63283aa_28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22cd63283aa_28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2cd63283aa_2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22cd63283aa_2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3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3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4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4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4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4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0" y="4654500"/>
            <a:ext cx="9144000" cy="489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TUDAI / TUARI - Fac.Cs.Exactas - UNICEN</a:t>
            </a:r>
            <a:endParaRPr b="0" i="0" sz="1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5" name="Google Shape;55;p1"/>
          <p:cNvPicPr preferRelativeResize="0"/>
          <p:nvPr/>
        </p:nvPicPr>
        <p:blipFill rotWithShape="1">
          <a:blip r:embed="rId3">
            <a:alphaModFix/>
          </a:blip>
          <a:srcRect b="13187" l="2625" r="65390" t="15642"/>
          <a:stretch/>
        </p:blipFill>
        <p:spPr>
          <a:xfrm>
            <a:off x="4084563" y="3759650"/>
            <a:ext cx="974875" cy="8948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 txBox="1"/>
          <p:nvPr/>
        </p:nvSpPr>
        <p:spPr>
          <a:xfrm>
            <a:off x="0" y="622200"/>
            <a:ext cx="91440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TALLER DE MATEMÁTICA COMPUTACIONAL</a:t>
            </a:r>
            <a:endParaRPr b="0" i="0" sz="3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0" y="2374800"/>
            <a:ext cx="9144000" cy="7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Unidad #2 - Conjuntos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Poder definir conjuntos por comprensión y extensión.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Poder leer notación de conjuntos con facilidad.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Comprender cómo operar con conjuntos utilizando los operadores básicos.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Representar gráficamente conjuntos y el resultado de operaciones entre conjuntos.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Objetivos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2cd63283aa_28_50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Herramienta fundamental para hacer algunas cosas con </a:t>
            </a:r>
            <a:r>
              <a:rPr b="1" lang="en" sz="1800">
                <a:latin typeface="Helvetica Neue"/>
                <a:ea typeface="Helvetica Neue"/>
                <a:cs typeface="Helvetica Neue"/>
                <a:sym typeface="Helvetica Neue"/>
              </a:rPr>
              <a:t>bases de datos</a:t>
            </a: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b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→ Encontrar todos los valores únicos (ej. las claves)</a:t>
            </a:r>
            <a:b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→ Acercarnos al álgebra de bolsas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Una </a:t>
            </a:r>
            <a:r>
              <a:rPr b="1" lang="en" sz="1800">
                <a:latin typeface="Helvetica Neue"/>
                <a:ea typeface="Helvetica Neue"/>
                <a:cs typeface="Helvetica Neue"/>
                <a:sym typeface="Helvetica Neue"/>
              </a:rPr>
              <a:t>estructura de datos</a:t>
            </a: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 adicional → el tipo de dato </a:t>
            </a:r>
            <a:r>
              <a:rPr i="1" lang="en" sz="1800">
                <a:latin typeface="Helvetica Neue"/>
                <a:ea typeface="Helvetica Neue"/>
                <a:cs typeface="Helvetica Neue"/>
                <a:sym typeface="Helvetica Neue"/>
              </a:rPr>
              <a:t>Set</a:t>
            </a: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Relaciona con el </a:t>
            </a:r>
            <a:r>
              <a:rPr b="1" lang="en" sz="1800">
                <a:latin typeface="Helvetica Neue"/>
                <a:ea typeface="Helvetica Neue"/>
                <a:cs typeface="Helvetica Neue"/>
                <a:sym typeface="Helvetica Neue"/>
              </a:rPr>
              <a:t>conjunto de valores posibles para un tipo de dato determinado</a:t>
            </a:r>
            <a:endParaRPr b="1"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" name="Google Shape;69;g22cd63283aa_28_50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qué conjuntos en TUDAI?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2cd63283aa_28_0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b="1" lang="en" sz="1800">
                <a:latin typeface="Helvetica Neue"/>
                <a:ea typeface="Helvetica Neue"/>
                <a:cs typeface="Helvetica Neue"/>
                <a:sym typeface="Helvetica Neue"/>
              </a:rPr>
              <a:t>Mejorar nuestro pensamiento lógico y nuestra capacidad de abstracción</a:t>
            </a: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: vamos a poder entender mejor colecciones abstractas de elementos, sus relaciones y las operaciones básicas que podemos hacer con ellas.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b="1" lang="en" sz="1800">
                <a:latin typeface="Helvetica Neue"/>
                <a:ea typeface="Helvetica Neue"/>
                <a:cs typeface="Helvetica Neue"/>
                <a:sym typeface="Helvetica Neue"/>
              </a:rPr>
              <a:t>Acercarnos mejor a otros conceptos matemáticos importantes, como las funciones</a:t>
            </a:r>
            <a:endParaRPr b="1"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b="1" lang="en" sz="1800">
                <a:latin typeface="Helvetica Neue"/>
                <a:ea typeface="Helvetica Neue"/>
                <a:cs typeface="Helvetica Neue"/>
                <a:sym typeface="Helvetica Neue"/>
              </a:rPr>
              <a:t>Mejorar nuestra capacidad de comunicarnos formalmente:</a:t>
            </a: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 utilizando definiciones precisas y notación universalmente adoptada.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" name="Google Shape;75;g22cd63283aa_28_0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Qué nos va a permitir saber conjuntos?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Char char="●"/>
            </a:pPr>
            <a:r>
              <a:rPr b="0" i="0" lang="en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 conjunto es una </a:t>
            </a:r>
            <a:r>
              <a:rPr b="1" i="0" lang="en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colección bien definida de objetos</a:t>
            </a:r>
            <a:r>
              <a:rPr b="0" i="0" lang="en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Char char="●"/>
            </a:pPr>
            <a:r>
              <a:rPr b="0" i="0" lang="en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 lo representa con una letra mayúscula (ej. A), a sus elementos con letras minúsculas (ej. a, b, c), y se reconocen por el uso de llaves ({})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Ej. A = {perro, gato, ave}, a = perro.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 </a:t>
            </a:r>
            <a:r>
              <a:rPr b="1" i="0" lang="en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elementos</a:t>
            </a:r>
            <a:r>
              <a:rPr b="0" i="0" lang="en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dentro de un conjunto:</a:t>
            </a:r>
            <a:endParaRPr b="0" i="0" sz="15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○"/>
            </a:pPr>
            <a:r>
              <a:rPr b="1" i="0" lang="en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tienen orden</a:t>
            </a:r>
            <a:endParaRPr b="1" i="0" sz="15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○"/>
            </a:pPr>
            <a:r>
              <a:rPr b="1" i="0" lang="en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se repiten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Char char="●"/>
            </a:pPr>
            <a:r>
              <a:rPr b="0" i="0" lang="en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Algunos conjuntos especiales: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Char char="○"/>
            </a:pPr>
            <a:r>
              <a:rPr b="1" i="0" lang="en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Conjunto vacío:</a:t>
            </a:r>
            <a:r>
              <a:rPr b="0" i="0" lang="en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Ø o {}, no tiene ningún elemento.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Char char="○"/>
            </a:pPr>
            <a:r>
              <a:rPr b="1" i="0" lang="en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Conjunto universal:</a:t>
            </a:r>
            <a:r>
              <a:rPr b="0" i="0" lang="en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U, contiene todos los elementos posibles dentro de un cierto contexto.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Char char="●"/>
            </a:pPr>
            <a:r>
              <a:rPr b="1" i="0" lang="en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Cardinalidad de un conjunto:</a:t>
            </a:r>
            <a:r>
              <a:rPr b="0" i="0" lang="en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cantidad de elementos del conjunto.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1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" name="Google Shape;81;p3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Qué es un </a:t>
            </a: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conjunto</a:t>
            </a: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</a:t>
            </a:r>
            <a:endParaRPr b="0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extensión: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Tengo que listar todos los elementos del conjunto.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Ejemplo: A = { perro, gato, avión }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Útil cuando la cantidad de elementos es conocida y no es demasiado grande.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comprensión: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Defino una propiedad que debe cumplir un elemento para formar parte del conjunto.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Ejemplo: A = { x : x ∈ R y x &gt; 0 }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Útil cuando la cantidad de elementos es infinita o demasiado grande para definirla por </a:t>
            </a: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extensión</a:t>
            </a:r>
            <a:r>
              <a:rPr b="0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Cómo definir un conjunto?</a:t>
            </a:r>
            <a:endParaRPr b="0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¿Qué ejemplos de conjuntos se les ocurren?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Definamos cada uno por comprensión o extensión, según corresponda.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5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Ejercicio sugerido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Ejercicio sugerido</a:t>
            </a:r>
            <a:endParaRPr b="0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p6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Definir por extensión o comprensión los siguientes conjuntos, y dar ejemplos de elementos que pertenezcan o no a cada uno: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Todos los números reales positivos.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Todos los números reales cuya raíz cuadrada es un número real.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Todos los números naturales entre 1 y 10.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Todos los números reales entre 1 y 10.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Todos los números naturales negativos.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Pertenencia ∈: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 usa para indicar si un elemento forma parte (∈) o no (∉) de un conjunto.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Definida entre un elemento y un conjunto.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Inclusión e igualdad ⊆: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 usa para indicar si un conjunto está contenido o es igual a otro (⊆) o no (⊈).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Definida entre dos conjuntos.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⊆ B si todos los elementos de A están incluidos en B.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" name="Google Shape;105;p7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Qué es un </a:t>
            </a: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conjunto</a:t>
            </a: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 Relaciones básicas</a:t>
            </a:r>
            <a:endParaRPr b="0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/>
          <p:nvPr/>
        </p:nvSpPr>
        <p:spPr>
          <a:xfrm>
            <a:off x="-75" y="848375"/>
            <a:ext cx="50289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Son </a:t>
            </a:r>
            <a:r>
              <a:rPr b="1" i="0" lang="en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esquemas gráficos</a:t>
            </a:r>
            <a:r>
              <a:rPr b="0" i="0" lang="en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utilizados en teoría de conjuntos para </a:t>
            </a:r>
            <a:r>
              <a:rPr b="1" i="0" lang="en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representar el contenido de diferentes conjuntos en simultáneo</a:t>
            </a:r>
            <a:r>
              <a:rPr b="0" i="0" lang="en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Cada conjunto se representa con un círculo, dentro del cual se listan sus elementos.</a:t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Char char="●"/>
            </a:pPr>
            <a:r>
              <a:rPr b="0" i="0" lang="en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Tener en cuenta si un elemento pertenece a más de un conjunto a la vez.</a:t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Char char="●"/>
            </a:pPr>
            <a:r>
              <a:rPr b="0" i="0" lang="en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Representamos U con un rectángulo y colocamos dentro a los conjuntos.</a:t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" name="Google Shape;111;p8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Diagramas de Venn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2" name="Google Shape;11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9100" y="2516250"/>
            <a:ext cx="3830350" cy="1755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" name="Google Shape;118;p9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Operaciones entre conjuntos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" name="Google Shape;119;p9"/>
          <p:cNvSpPr txBox="1"/>
          <p:nvPr/>
        </p:nvSpPr>
        <p:spPr>
          <a:xfrm>
            <a:off x="285050" y="1165025"/>
            <a:ext cx="8626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Unión (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U B = conjunto que contiene a t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odos los elementos de A y todos los elementos de B.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U B = { x : x ∈ A    v    x ∈ B }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300" y="2774675"/>
            <a:ext cx="2014634" cy="147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9"/>
          <p:cNvSpPr txBox="1"/>
          <p:nvPr/>
        </p:nvSpPr>
        <p:spPr>
          <a:xfrm>
            <a:off x="500475" y="2795825"/>
            <a:ext cx="28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9"/>
          <p:cNvSpPr txBox="1"/>
          <p:nvPr/>
        </p:nvSpPr>
        <p:spPr>
          <a:xfrm>
            <a:off x="1979450" y="2845725"/>
            <a:ext cx="28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9"/>
          <p:cNvSpPr txBox="1"/>
          <p:nvPr/>
        </p:nvSpPr>
        <p:spPr>
          <a:xfrm>
            <a:off x="2966725" y="2713450"/>
            <a:ext cx="3473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 para: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= { 0, 1, 2, 3, 4, 5, 6, 7, 8, 9}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= { 2, 4, 6, 8}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= { 10, 20, 30, 40}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9"/>
          <p:cNvSpPr txBox="1"/>
          <p:nvPr/>
        </p:nvSpPr>
        <p:spPr>
          <a:xfrm>
            <a:off x="2974925" y="3760150"/>
            <a:ext cx="3473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U B =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U C =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U C =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" name="Google Shape;130;p10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Operaciones entre conjuntos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" name="Google Shape;131;p10"/>
          <p:cNvSpPr txBox="1"/>
          <p:nvPr/>
        </p:nvSpPr>
        <p:spPr>
          <a:xfrm>
            <a:off x="285050" y="1165025"/>
            <a:ext cx="8626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Unión (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U B = conjunto que contiene a t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odos los elementos de A y todos los elementos de B.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U B = { x : x ∈ A    v    x ∈ B }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300" y="2774675"/>
            <a:ext cx="2014634" cy="147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0"/>
          <p:cNvSpPr txBox="1"/>
          <p:nvPr/>
        </p:nvSpPr>
        <p:spPr>
          <a:xfrm>
            <a:off x="500475" y="2795825"/>
            <a:ext cx="28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0"/>
          <p:cNvSpPr txBox="1"/>
          <p:nvPr/>
        </p:nvSpPr>
        <p:spPr>
          <a:xfrm>
            <a:off x="1979450" y="2845725"/>
            <a:ext cx="28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0"/>
          <p:cNvSpPr txBox="1"/>
          <p:nvPr/>
        </p:nvSpPr>
        <p:spPr>
          <a:xfrm>
            <a:off x="2966725" y="2713450"/>
            <a:ext cx="3473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 para: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= { 0, 1, 2, 3, 4, 5, 6, 7, 8, 9}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= { 2, 4, 6, 8}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= { 10, 20, 30, 40}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0"/>
          <p:cNvSpPr txBox="1"/>
          <p:nvPr/>
        </p:nvSpPr>
        <p:spPr>
          <a:xfrm>
            <a:off x="2974925" y="3760150"/>
            <a:ext cx="5834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U B = { 0, 1, 2, 3, 4, 5, 6, 7, 8, 9 }   </a:t>
            </a:r>
            <a:r>
              <a:rPr b="1" i="0" lang="en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← No poner repetidos!</a:t>
            </a:r>
            <a:endParaRPr b="1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U C =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U C =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" name="Google Shape;142;p11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Operaciones entre conjuntos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3" name="Google Shape;143;p11"/>
          <p:cNvSpPr txBox="1"/>
          <p:nvPr/>
        </p:nvSpPr>
        <p:spPr>
          <a:xfrm>
            <a:off x="285050" y="1165025"/>
            <a:ext cx="8626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Unión (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U B = conjunto que contiene a t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odos los elementos de A y todos los elementos de B.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U B = { x : x ∈ A    v    x ∈ B }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300" y="2774675"/>
            <a:ext cx="2014634" cy="147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1"/>
          <p:cNvSpPr txBox="1"/>
          <p:nvPr/>
        </p:nvSpPr>
        <p:spPr>
          <a:xfrm>
            <a:off x="500475" y="2795825"/>
            <a:ext cx="28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1"/>
          <p:cNvSpPr txBox="1"/>
          <p:nvPr/>
        </p:nvSpPr>
        <p:spPr>
          <a:xfrm>
            <a:off x="1979450" y="2845725"/>
            <a:ext cx="28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1"/>
          <p:cNvSpPr txBox="1"/>
          <p:nvPr/>
        </p:nvSpPr>
        <p:spPr>
          <a:xfrm>
            <a:off x="2966725" y="2713450"/>
            <a:ext cx="3473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 para: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= { 0, 1, 2, 3, 4, 5, 6, 7, 8, 9}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= { 2, 4, 6, 8}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= { 10, 20, 30, 40}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1"/>
          <p:cNvSpPr txBox="1"/>
          <p:nvPr/>
        </p:nvSpPr>
        <p:spPr>
          <a:xfrm>
            <a:off x="2974925" y="3760150"/>
            <a:ext cx="5834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U B = { 0, 1, 2, 3, 4, 5, 6, 7, 8, 9 }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U C = { 0, 1, 2, 3, 4, 5, 6, 7, 8, 9, 10, 20, 30, 40 }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U C =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" name="Google Shape;154;p12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Operaciones entre conjuntos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5" name="Google Shape;155;p12"/>
          <p:cNvSpPr txBox="1"/>
          <p:nvPr/>
        </p:nvSpPr>
        <p:spPr>
          <a:xfrm>
            <a:off x="285050" y="1165025"/>
            <a:ext cx="8626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Unión (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U B = conjunto que contiene a t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odos los elementos de A y todos los elementos de B.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U B = { x : x ∈ A    v    x ∈ B }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300" y="2774675"/>
            <a:ext cx="2014634" cy="147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2"/>
          <p:cNvSpPr txBox="1"/>
          <p:nvPr/>
        </p:nvSpPr>
        <p:spPr>
          <a:xfrm>
            <a:off x="500475" y="2795825"/>
            <a:ext cx="28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2"/>
          <p:cNvSpPr txBox="1"/>
          <p:nvPr/>
        </p:nvSpPr>
        <p:spPr>
          <a:xfrm>
            <a:off x="1979450" y="2845725"/>
            <a:ext cx="28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2"/>
          <p:cNvSpPr txBox="1"/>
          <p:nvPr/>
        </p:nvSpPr>
        <p:spPr>
          <a:xfrm>
            <a:off x="2966725" y="2713450"/>
            <a:ext cx="3473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 para: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= { 0, 1, 2, 3, 4, 5, 6, 7, 8, 9}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= { 2, 4, 6, 8}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= { 10, 20, 30, 40}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2"/>
          <p:cNvSpPr txBox="1"/>
          <p:nvPr/>
        </p:nvSpPr>
        <p:spPr>
          <a:xfrm>
            <a:off x="2974925" y="3760150"/>
            <a:ext cx="5834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U B = { 0, 1, 2, 3, 4, 5, 6, 7, 8, 9 }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U C = { 0, 1, 2, 3, 4, 5, 6, 7, 8, 9, 10, 20, 30, 40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U C = { 2, 4, 6, 8, 10, 20, 30, 40 }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6" name="Google Shape;166;p13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Operaciones entre conjuntos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7" name="Google Shape;167;p13"/>
          <p:cNvSpPr txBox="1"/>
          <p:nvPr/>
        </p:nvSpPr>
        <p:spPr>
          <a:xfrm>
            <a:off x="285050" y="1165025"/>
            <a:ext cx="8626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Intersección (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∩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∩ B = conjunto que contiene a los elementos que están en 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y B a la vez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∩ B = { x : x ∈ A    ∧    x ∈ B }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025" y="2434074"/>
            <a:ext cx="2097300" cy="153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3"/>
          <p:cNvSpPr txBox="1"/>
          <p:nvPr/>
        </p:nvSpPr>
        <p:spPr>
          <a:xfrm>
            <a:off x="500475" y="2414825"/>
            <a:ext cx="28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3"/>
          <p:cNvSpPr txBox="1"/>
          <p:nvPr/>
        </p:nvSpPr>
        <p:spPr>
          <a:xfrm>
            <a:off x="1979450" y="2464725"/>
            <a:ext cx="28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3"/>
          <p:cNvSpPr txBox="1"/>
          <p:nvPr/>
        </p:nvSpPr>
        <p:spPr>
          <a:xfrm>
            <a:off x="2966725" y="2256250"/>
            <a:ext cx="3473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 para: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= { 0, 1, 2, 3, 4, 5, 6, 7, 8, 9}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= { 2, 4, 6, 8}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= { 10, 20, 30, 40}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3"/>
          <p:cNvSpPr txBox="1"/>
          <p:nvPr/>
        </p:nvSpPr>
        <p:spPr>
          <a:xfrm>
            <a:off x="2974925" y="3302950"/>
            <a:ext cx="3473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∩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 =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∩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 =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∩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 =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8" name="Google Shape;178;p14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Operaciones entre conjuntos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9" name="Google Shape;179;p14"/>
          <p:cNvSpPr txBox="1"/>
          <p:nvPr/>
        </p:nvSpPr>
        <p:spPr>
          <a:xfrm>
            <a:off x="285050" y="1165025"/>
            <a:ext cx="8626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Intersección (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∩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∩ B = conjunto que contiene a los elementos que están en 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y B a la vez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∩ B = { x : x ∈ A    ∧    x ∈ B }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025" y="2434074"/>
            <a:ext cx="2097300" cy="153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4"/>
          <p:cNvSpPr txBox="1"/>
          <p:nvPr/>
        </p:nvSpPr>
        <p:spPr>
          <a:xfrm>
            <a:off x="500475" y="2414825"/>
            <a:ext cx="28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4"/>
          <p:cNvSpPr txBox="1"/>
          <p:nvPr/>
        </p:nvSpPr>
        <p:spPr>
          <a:xfrm>
            <a:off x="1979450" y="2464725"/>
            <a:ext cx="28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4"/>
          <p:cNvSpPr txBox="1"/>
          <p:nvPr/>
        </p:nvSpPr>
        <p:spPr>
          <a:xfrm>
            <a:off x="2966725" y="2256250"/>
            <a:ext cx="3473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 para: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= { 0, 1, 2, 3, 4, 5, 6, 7, 8, 9}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= { 2, 4, 6, 8}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= { 10, 20, 30, 40}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4"/>
          <p:cNvSpPr txBox="1"/>
          <p:nvPr/>
        </p:nvSpPr>
        <p:spPr>
          <a:xfrm>
            <a:off x="2974925" y="3302950"/>
            <a:ext cx="3473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∩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 = { 2, 4, 6, 8 }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∩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 =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∩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 =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Operaciones entre conjuntos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285050" y="1165025"/>
            <a:ext cx="8626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Intersección (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∩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∩ B = conjunto que contiene a los elementos que están en 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y B a la vez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∩ B = { x : x ∈ A    ∧    x ∈ B }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025" y="2434074"/>
            <a:ext cx="2097300" cy="153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5"/>
          <p:cNvSpPr txBox="1"/>
          <p:nvPr/>
        </p:nvSpPr>
        <p:spPr>
          <a:xfrm>
            <a:off x="500475" y="2414825"/>
            <a:ext cx="28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5"/>
          <p:cNvSpPr txBox="1"/>
          <p:nvPr/>
        </p:nvSpPr>
        <p:spPr>
          <a:xfrm>
            <a:off x="1979450" y="2464725"/>
            <a:ext cx="28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5"/>
          <p:cNvSpPr txBox="1"/>
          <p:nvPr/>
        </p:nvSpPr>
        <p:spPr>
          <a:xfrm>
            <a:off x="2966725" y="2256250"/>
            <a:ext cx="3473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 para: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= { 0, 1, 2, 3, 4, 5, 6, 7, 8, 9}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= { 2, 4, 6, 8}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= { 10, 20, 30, 40}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5"/>
          <p:cNvSpPr txBox="1"/>
          <p:nvPr/>
        </p:nvSpPr>
        <p:spPr>
          <a:xfrm>
            <a:off x="2974925" y="3302950"/>
            <a:ext cx="3473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∩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 = { 2, 4, 6, 8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∩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 = ∅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∩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 =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2" name="Google Shape;202;p16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Operaciones entre conjuntos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3" name="Google Shape;203;p16"/>
          <p:cNvSpPr txBox="1"/>
          <p:nvPr/>
        </p:nvSpPr>
        <p:spPr>
          <a:xfrm>
            <a:off x="285050" y="1165025"/>
            <a:ext cx="8626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Intersección (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∩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∩ B = conjunto que contiene a los elementos que están en 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y B a la vez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∩ B = { x : x ∈ A    ∧    x ∈ B }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025" y="2434074"/>
            <a:ext cx="2097300" cy="153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6"/>
          <p:cNvSpPr txBox="1"/>
          <p:nvPr/>
        </p:nvSpPr>
        <p:spPr>
          <a:xfrm>
            <a:off x="500475" y="2414825"/>
            <a:ext cx="28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6"/>
          <p:cNvSpPr txBox="1"/>
          <p:nvPr/>
        </p:nvSpPr>
        <p:spPr>
          <a:xfrm>
            <a:off x="1979450" y="2464725"/>
            <a:ext cx="28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6"/>
          <p:cNvSpPr txBox="1"/>
          <p:nvPr/>
        </p:nvSpPr>
        <p:spPr>
          <a:xfrm>
            <a:off x="2966725" y="2256250"/>
            <a:ext cx="3473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 para: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= { 0, 1, 2, 3, 4, 5, 6, 7, 8, 9}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= { 2, 4, 6, 8}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= { 10, 20, 30, 40}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6"/>
          <p:cNvSpPr txBox="1"/>
          <p:nvPr/>
        </p:nvSpPr>
        <p:spPr>
          <a:xfrm>
            <a:off x="2974925" y="3302950"/>
            <a:ext cx="3473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∩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 = { 2, 4, 6, 8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∩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 = 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∩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 =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∅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387025" y="2815075"/>
            <a:ext cx="2095959" cy="153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7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5" name="Google Shape;215;p17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Operaciones entre conjuntos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6" name="Google Shape;216;p17"/>
          <p:cNvSpPr txBox="1"/>
          <p:nvPr/>
        </p:nvSpPr>
        <p:spPr>
          <a:xfrm>
            <a:off x="285050" y="1165025"/>
            <a:ext cx="8626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Diferencia (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- B = conjunto que contiene los 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elementos que están en A, excepto los que están en B.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- B = { x : x ∈ A    ∧    x 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∉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 }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7"/>
          <p:cNvSpPr txBox="1"/>
          <p:nvPr/>
        </p:nvSpPr>
        <p:spPr>
          <a:xfrm>
            <a:off x="560775" y="2864925"/>
            <a:ext cx="28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7"/>
          <p:cNvSpPr txBox="1"/>
          <p:nvPr/>
        </p:nvSpPr>
        <p:spPr>
          <a:xfrm>
            <a:off x="2112125" y="2960500"/>
            <a:ext cx="28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7"/>
          <p:cNvSpPr txBox="1"/>
          <p:nvPr/>
        </p:nvSpPr>
        <p:spPr>
          <a:xfrm>
            <a:off x="2966725" y="2637250"/>
            <a:ext cx="3473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 para: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= { 0, 1, 2, 3, 4, 5, 6, 7, 8, 9}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= { 2, 4, 6, 8}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= { 10, 20, 30, 40}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7"/>
          <p:cNvSpPr txBox="1"/>
          <p:nvPr/>
        </p:nvSpPr>
        <p:spPr>
          <a:xfrm>
            <a:off x="2974925" y="3683950"/>
            <a:ext cx="3473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 =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 =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 =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387025" y="2815075"/>
            <a:ext cx="2095959" cy="153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8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7" name="Google Shape;227;p18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Operaciones entre conjuntos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8" name="Google Shape;228;p18"/>
          <p:cNvSpPr txBox="1"/>
          <p:nvPr/>
        </p:nvSpPr>
        <p:spPr>
          <a:xfrm>
            <a:off x="285050" y="1165025"/>
            <a:ext cx="8626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Diferencia (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- B = conjunto que contiene los 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elementos que están en A, excepto los que están en B.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- B = { x : x ∈ A    ∧    x 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∉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 }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8"/>
          <p:cNvSpPr txBox="1"/>
          <p:nvPr/>
        </p:nvSpPr>
        <p:spPr>
          <a:xfrm>
            <a:off x="560775" y="2864925"/>
            <a:ext cx="28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8"/>
          <p:cNvSpPr txBox="1"/>
          <p:nvPr/>
        </p:nvSpPr>
        <p:spPr>
          <a:xfrm>
            <a:off x="2112125" y="2960500"/>
            <a:ext cx="28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8"/>
          <p:cNvSpPr txBox="1"/>
          <p:nvPr/>
        </p:nvSpPr>
        <p:spPr>
          <a:xfrm>
            <a:off x="2966725" y="2637250"/>
            <a:ext cx="3473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 para: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= { 0, 1, 2, 3, 4, 5, 6, 7, 8, 9}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= { 2, 4, 6, 8}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= { 10, 20, 30, 40}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8"/>
          <p:cNvSpPr txBox="1"/>
          <p:nvPr/>
        </p:nvSpPr>
        <p:spPr>
          <a:xfrm>
            <a:off x="2974925" y="3683950"/>
            <a:ext cx="3473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 = { 0, 1, 3, 5, 7, 9 }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 =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 =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387025" y="2815075"/>
            <a:ext cx="2095959" cy="153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9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9" name="Google Shape;239;p19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Operaciones entre conjuntos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0" name="Google Shape;240;p19"/>
          <p:cNvSpPr txBox="1"/>
          <p:nvPr/>
        </p:nvSpPr>
        <p:spPr>
          <a:xfrm>
            <a:off x="285050" y="1165025"/>
            <a:ext cx="8626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Diferencia (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- B = conjunto que contiene los 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elementos que están en A, excepto los que están en B.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- B = { x : x ∈ A    ∧    x 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∉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 }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9"/>
          <p:cNvSpPr txBox="1"/>
          <p:nvPr/>
        </p:nvSpPr>
        <p:spPr>
          <a:xfrm>
            <a:off x="560775" y="2864925"/>
            <a:ext cx="28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9"/>
          <p:cNvSpPr txBox="1"/>
          <p:nvPr/>
        </p:nvSpPr>
        <p:spPr>
          <a:xfrm>
            <a:off x="2112125" y="2960500"/>
            <a:ext cx="28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2966725" y="2637250"/>
            <a:ext cx="3473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 para: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= { 0, 1, 2, 3, 4, 5, 6, 7, 8, 9}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= { 2, 4, 6, 8}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= { 10, 20, 30, 40}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9"/>
          <p:cNvSpPr txBox="1"/>
          <p:nvPr/>
        </p:nvSpPr>
        <p:spPr>
          <a:xfrm>
            <a:off x="2974925" y="3683950"/>
            <a:ext cx="3473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 = { 0, 1, 3, 5, 7, 9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 = { 0, 1, 2, 3, 4, 5, 6, 7, 8, 9 }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 =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387025" y="2815075"/>
            <a:ext cx="2095959" cy="153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0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Operaciones entre conjuntos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285050" y="1165025"/>
            <a:ext cx="8626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Diferencia (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- B = conjunto que contiene los 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elementos que están en A, excepto los que están en B.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- B = { x : x ∈ A    ∧    x 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∉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 }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560775" y="2864925"/>
            <a:ext cx="28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2112125" y="2960500"/>
            <a:ext cx="28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2966725" y="2637250"/>
            <a:ext cx="3473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 para: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= { 0, 1, 2, 3, 4, 5, 6, 7, 8, 9}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= { 2, 4, 6, 8}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= { 10, 20, 30, 40}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2974925" y="3683950"/>
            <a:ext cx="3473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 = { 0, 1, 3, 5, 7, 9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 = { 0, 1, 2, 3, 4, 5, 6, 7, 8, 9 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 =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 2, 4, 6, 8 }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025" y="2433575"/>
            <a:ext cx="1531050" cy="153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1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Operaciones entre conjuntos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285050" y="1165025"/>
            <a:ext cx="8626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Complemento (</a:t>
            </a:r>
            <a:r>
              <a:rPr b="0" baseline="3000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3000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conjunto de todos los elementos de U que no estén en A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3000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{ x : x ∈ U    ∧    x ∉ A }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524600" y="2497475"/>
            <a:ext cx="28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2448150" y="2334650"/>
            <a:ext cx="3473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 para: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= { x : x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∈ R  ∧  x + 2 = 14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= { x : x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∈ R  ∧  x</a:t>
            </a:r>
            <a:r>
              <a:rPr b="0" baseline="3000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+ 2 = 66 }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=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 = 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2448150" y="3596750"/>
            <a:ext cx="3473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3000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3000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baseline="3000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3000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¿?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025" y="2433575"/>
            <a:ext cx="1531050" cy="153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2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4" name="Google Shape;274;p22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Operaciones entre conjuntos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5" name="Google Shape;275;p22"/>
          <p:cNvSpPr txBox="1"/>
          <p:nvPr/>
        </p:nvSpPr>
        <p:spPr>
          <a:xfrm>
            <a:off x="285050" y="1165025"/>
            <a:ext cx="8626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Complemento (</a:t>
            </a:r>
            <a:r>
              <a:rPr b="0" baseline="3000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3000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conjunto de todos los elementos de U que no estén en A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3000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{ x : x ∈ U    ∧    x ∉ A }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2"/>
          <p:cNvSpPr txBox="1"/>
          <p:nvPr/>
        </p:nvSpPr>
        <p:spPr>
          <a:xfrm>
            <a:off x="524600" y="2497475"/>
            <a:ext cx="28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2"/>
          <p:cNvSpPr txBox="1"/>
          <p:nvPr/>
        </p:nvSpPr>
        <p:spPr>
          <a:xfrm>
            <a:off x="2448150" y="2334650"/>
            <a:ext cx="3473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 para: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= { x : x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∈ R  ∧  x + 2 = 14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= { x : x ∈ R  ∧  x</a:t>
            </a:r>
            <a:r>
              <a:rPr b="0" baseline="3000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+ 2 ≥ 66 }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=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 = 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2"/>
          <p:cNvSpPr txBox="1"/>
          <p:nvPr/>
        </p:nvSpPr>
        <p:spPr>
          <a:xfrm>
            <a:off x="2448150" y="3596750"/>
            <a:ext cx="3473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baseline="3000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{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: x ∈ R  ∧  x + 2 </a:t>
            </a:r>
            <a:r>
              <a:rPr b="1" i="0" lang="en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≠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14 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3000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baseline="3000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3000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¿?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025" y="2433575"/>
            <a:ext cx="1531050" cy="153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3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5" name="Google Shape;285;p23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Operaciones entre conjuntos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6" name="Google Shape;286;p23"/>
          <p:cNvSpPr txBox="1"/>
          <p:nvPr/>
        </p:nvSpPr>
        <p:spPr>
          <a:xfrm>
            <a:off x="285050" y="1165025"/>
            <a:ext cx="8626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Complemento (</a:t>
            </a:r>
            <a:r>
              <a:rPr b="0" baseline="3000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3000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conjunto de todos los elementos de U que no estén en A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3000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{ x : x ∈ U    ∧    x ∉ A }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3"/>
          <p:cNvSpPr txBox="1"/>
          <p:nvPr/>
        </p:nvSpPr>
        <p:spPr>
          <a:xfrm>
            <a:off x="524600" y="2497475"/>
            <a:ext cx="28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3"/>
          <p:cNvSpPr txBox="1"/>
          <p:nvPr/>
        </p:nvSpPr>
        <p:spPr>
          <a:xfrm>
            <a:off x="2448150" y="2334650"/>
            <a:ext cx="3473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 para: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= { x : x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∈ R  ∧  x + 2 = 14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= { x : x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∈ R  ∧  x</a:t>
            </a:r>
            <a:r>
              <a:rPr b="0" baseline="3000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+ 2 ≥ 66 }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=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 = 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3"/>
          <p:cNvSpPr txBox="1"/>
          <p:nvPr/>
        </p:nvSpPr>
        <p:spPr>
          <a:xfrm>
            <a:off x="2448150" y="3596750"/>
            <a:ext cx="3473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3000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{ x : x ∈ R  ∧  x + 2 ≠ 14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1" baseline="3000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{ x : x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∈ R  ∧  x</a:t>
            </a:r>
            <a:r>
              <a:rPr b="1" baseline="3000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+ 2 </a:t>
            </a:r>
            <a:r>
              <a:rPr b="1" i="0" lang="en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66 }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baseline="3000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3000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¿?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025" y="2433575"/>
            <a:ext cx="1531050" cy="153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4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6" name="Google Shape;296;p24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Operaciones entre conjuntos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7" name="Google Shape;297;p24"/>
          <p:cNvSpPr txBox="1"/>
          <p:nvPr/>
        </p:nvSpPr>
        <p:spPr>
          <a:xfrm>
            <a:off x="285050" y="1165025"/>
            <a:ext cx="8626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Complemento (</a:t>
            </a:r>
            <a:r>
              <a:rPr b="0" baseline="3000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3000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conjunto de todos los elementos de U que no estén en A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3000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{ x : x ∈ U    ∧    x ∉ A }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4"/>
          <p:cNvSpPr txBox="1"/>
          <p:nvPr/>
        </p:nvSpPr>
        <p:spPr>
          <a:xfrm>
            <a:off x="524600" y="2497475"/>
            <a:ext cx="28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4"/>
          <p:cNvSpPr txBox="1"/>
          <p:nvPr/>
        </p:nvSpPr>
        <p:spPr>
          <a:xfrm>
            <a:off x="2448150" y="2334650"/>
            <a:ext cx="3473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 para: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= { x : x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∈ R  ∧  x + 2 = 14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= { x : x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∈ R  ∧  x</a:t>
            </a:r>
            <a:r>
              <a:rPr b="0" baseline="3000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+ 2 ≥ 66 }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=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 = 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4"/>
          <p:cNvSpPr txBox="1"/>
          <p:nvPr/>
        </p:nvSpPr>
        <p:spPr>
          <a:xfrm>
            <a:off x="2448150" y="3596750"/>
            <a:ext cx="3473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3000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{ x : x ∈ R  ∧  x + 2 ≠ 14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3000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{ x : x ∈ R  ∧  x</a:t>
            </a:r>
            <a:r>
              <a:rPr b="0" baseline="3000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+ 2 ≤ 66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baseline="3000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3000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¿?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025" y="2433575"/>
            <a:ext cx="1531050" cy="15310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5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7" name="Google Shape;307;p25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Operaciones entre conjuntos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8" name="Google Shape;308;p25"/>
          <p:cNvSpPr txBox="1"/>
          <p:nvPr/>
        </p:nvSpPr>
        <p:spPr>
          <a:xfrm>
            <a:off x="285050" y="1165025"/>
            <a:ext cx="8626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Complemento (</a:t>
            </a:r>
            <a:r>
              <a:rPr b="0" baseline="3000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3000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conjunto de todos los elementos de U que no estén en A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3000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{ x : x ∈ U    ∧    x ∉ A }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5"/>
          <p:cNvSpPr txBox="1"/>
          <p:nvPr/>
        </p:nvSpPr>
        <p:spPr>
          <a:xfrm>
            <a:off x="524600" y="2497475"/>
            <a:ext cx="28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5"/>
          <p:cNvSpPr txBox="1"/>
          <p:nvPr/>
        </p:nvSpPr>
        <p:spPr>
          <a:xfrm>
            <a:off x="2448150" y="2334650"/>
            <a:ext cx="3473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 para: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= { x : x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∈ R  ∧  x + 2 = 14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= { x : x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∈ R  ∧  x</a:t>
            </a:r>
            <a:r>
              <a:rPr b="0" baseline="3000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+ 2 ≥ 66 }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=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 = 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5"/>
          <p:cNvSpPr txBox="1"/>
          <p:nvPr/>
        </p:nvSpPr>
        <p:spPr>
          <a:xfrm>
            <a:off x="2448150" y="3596750"/>
            <a:ext cx="3473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3000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{ x : x ∈ R  ∧  x + 2 ≠ 14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3000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{ x : x ∈ R  ∧  x</a:t>
            </a:r>
            <a:r>
              <a:rPr b="0" baseline="3000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+ 2 ≤ 66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baseline="3000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1" baseline="3000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∅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6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Operaciones entre conjuntos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7" name="Google Shape;317;p26"/>
          <p:cNvSpPr txBox="1"/>
          <p:nvPr/>
        </p:nvSpPr>
        <p:spPr>
          <a:xfrm>
            <a:off x="285050" y="1165025"/>
            <a:ext cx="8626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Cardinalidad (| · |)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|A| = cantidad de elementos de A.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6"/>
          <p:cNvSpPr txBox="1"/>
          <p:nvPr/>
        </p:nvSpPr>
        <p:spPr>
          <a:xfrm>
            <a:off x="391975" y="2135675"/>
            <a:ext cx="3473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 para: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= { x : x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∈ R  ∧  x + 2 = 14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= { 1, 2, 3, 4, 5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=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 = 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6"/>
          <p:cNvSpPr txBox="1"/>
          <p:nvPr/>
        </p:nvSpPr>
        <p:spPr>
          <a:xfrm>
            <a:off x="391975" y="3397775"/>
            <a:ext cx="3473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|A|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|B|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|C|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|D| = ¿?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7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Operaciones entre conjuntos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5" name="Google Shape;325;p27"/>
          <p:cNvSpPr txBox="1"/>
          <p:nvPr/>
        </p:nvSpPr>
        <p:spPr>
          <a:xfrm>
            <a:off x="285050" y="1165025"/>
            <a:ext cx="8626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Cardinalidad (| · |)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|A| = cantidad de elementos de A.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7"/>
          <p:cNvSpPr txBox="1"/>
          <p:nvPr/>
        </p:nvSpPr>
        <p:spPr>
          <a:xfrm>
            <a:off x="391975" y="2135675"/>
            <a:ext cx="3473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 para: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= { x : x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∈ R  ∧  x + 2 = 14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} </a:t>
            </a:r>
            <a:r>
              <a:rPr b="0" i="0" lang="en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= { 12 }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= { 1, 2, 3, 4, 5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=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 = 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7"/>
          <p:cNvSpPr txBox="1"/>
          <p:nvPr/>
        </p:nvSpPr>
        <p:spPr>
          <a:xfrm>
            <a:off x="391975" y="3397775"/>
            <a:ext cx="3473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|A|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1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|B|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|C|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|D| = ¿?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8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Operaciones entre conjuntos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3" name="Google Shape;333;p28"/>
          <p:cNvSpPr txBox="1"/>
          <p:nvPr/>
        </p:nvSpPr>
        <p:spPr>
          <a:xfrm>
            <a:off x="285050" y="1165025"/>
            <a:ext cx="8626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Cardinalidad (| · |)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|A| = cantidad de elementos de A.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8"/>
          <p:cNvSpPr txBox="1"/>
          <p:nvPr/>
        </p:nvSpPr>
        <p:spPr>
          <a:xfrm>
            <a:off x="391975" y="2135675"/>
            <a:ext cx="3473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 para: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= { x : x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∈ R  ∧  x + 2 = 14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} </a:t>
            </a:r>
            <a:r>
              <a:rPr b="0" i="0" lang="en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= { 12 }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= { 1, 2, 3, 4, 5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=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 = 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8"/>
          <p:cNvSpPr txBox="1"/>
          <p:nvPr/>
        </p:nvSpPr>
        <p:spPr>
          <a:xfrm>
            <a:off x="391975" y="3397775"/>
            <a:ext cx="3473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|A|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|B|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5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|C|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|D| = ¿?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Operaciones entre conjuntos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1" name="Google Shape;341;p29"/>
          <p:cNvSpPr txBox="1"/>
          <p:nvPr/>
        </p:nvSpPr>
        <p:spPr>
          <a:xfrm>
            <a:off x="285050" y="1165025"/>
            <a:ext cx="8626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Cardinalidad (| · |)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|A| = cantidad de elementos de A.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9"/>
          <p:cNvSpPr txBox="1"/>
          <p:nvPr/>
        </p:nvSpPr>
        <p:spPr>
          <a:xfrm>
            <a:off x="391975" y="2135675"/>
            <a:ext cx="3473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 para: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= { x : x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∈ R  ∧  x + 2 = 14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} </a:t>
            </a:r>
            <a:r>
              <a:rPr b="0" i="0" lang="en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= { 12 }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= { 1, 2, 3, 4, 5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=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 = 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9"/>
          <p:cNvSpPr txBox="1"/>
          <p:nvPr/>
        </p:nvSpPr>
        <p:spPr>
          <a:xfrm>
            <a:off x="391975" y="3397775"/>
            <a:ext cx="6880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|A|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|B|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|C|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 </a:t>
            </a:r>
            <a:r>
              <a:rPr b="1" i="0" lang="en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← El conjunto vacío no tiene elementos</a:t>
            </a:r>
            <a:endParaRPr b="1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|D| = ¿?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0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Operaciones entre conjuntos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9" name="Google Shape;349;p30"/>
          <p:cNvSpPr txBox="1"/>
          <p:nvPr/>
        </p:nvSpPr>
        <p:spPr>
          <a:xfrm>
            <a:off x="285050" y="1165025"/>
            <a:ext cx="8626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Cardinalidad (| · |)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|A| = cantidad de elementos de A.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0"/>
          <p:cNvSpPr txBox="1"/>
          <p:nvPr/>
        </p:nvSpPr>
        <p:spPr>
          <a:xfrm>
            <a:off x="391975" y="2135675"/>
            <a:ext cx="3473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 para: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= { x : x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∈ R  ∧  x + 2 = 14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} </a:t>
            </a:r>
            <a:r>
              <a:rPr b="0" i="0" lang="en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= { 12 }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= { 1, 2, 3, 4, 5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=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 = 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0"/>
          <p:cNvSpPr txBox="1"/>
          <p:nvPr/>
        </p:nvSpPr>
        <p:spPr>
          <a:xfrm>
            <a:off x="391975" y="3397775"/>
            <a:ext cx="8055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|A|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|B|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|C|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|D| = depende del universo que definamos!! (puede ser un número finito o infinito)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1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Ejercicio Sugerido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Dados 3 conjuntos X, Y, Z no vacíos, construir diagramas de Venn que cumplan con las siguientes condiciones: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Z - Y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(X U Y) </a:t>
            </a:r>
            <a:r>
              <a:rPr b="1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⊆ Z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 </a:t>
            </a:r>
            <a:r>
              <a:rPr b="1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⊆ (Y </a:t>
            </a: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∩ </a:t>
            </a:r>
            <a:r>
              <a:rPr b="1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Z)</a:t>
            </a:r>
            <a:endParaRPr b="1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AutoNum type="alphaLcParenR"/>
            </a:pPr>
            <a:r>
              <a:rPr b="1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 ⊆ (Y </a:t>
            </a: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1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Z)</a:t>
            </a:r>
            <a:endParaRPr b="1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AutoNum type="alphaLcParenR"/>
            </a:pPr>
            <a:r>
              <a:rPr b="1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 ⊆ (Y </a:t>
            </a: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</a:t>
            </a:r>
            <a:r>
              <a:rPr b="1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Z)</a:t>
            </a:r>
            <a:r>
              <a:rPr b="1" baseline="30000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 b="1" baseline="3000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2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Ejercicio Sugerido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3" name="Google Shape;363;p32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 una fábrica de computadoras se detectaron, en el stock de equipos disponible para venta directa, que algunas computadoras tenían fallas: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28 tenían fallas en las memorias RAM.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19 tenían fallas en el procesador.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15 tenían fallas de disco.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 tenían fallas de las memorias RAM y de procesador.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 tenían fallas en el procesador y el disco.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tenían fallas en las memorias RAM y de disco.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tenían fallas en las memorias RAM, el procesador y el disco.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¿Cuántos equipos había para venta directa con fallos?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¿Cuántos tienen únicamente fallas en el disco?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¿Cuántos tienen fallas en el disco y el procesador pero no en la memoria RAM?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3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Ejercicio Sugerido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9" name="Google Shape;369;p33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 una fábrica de computadoras se detectaron, en el </a:t>
            </a:r>
            <a:r>
              <a:rPr b="1" i="1" lang="en" sz="1800" u="none" cap="none" strike="noStrike">
                <a:solidFill>
                  <a:schemeClr val="accent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stock de equipos disponible para venta directa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que algunas computadoras tenían fallas: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28 tenían fallas en las </a:t>
            </a:r>
            <a:r>
              <a:rPr b="1" i="1" lang="en" sz="1800" u="none" cap="none" strike="noStrik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memorias RAM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19 tenían fallas en el </a:t>
            </a:r>
            <a:r>
              <a:rPr b="1" i="1" lang="en" sz="1800" u="none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procesador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15 tenían fallas de </a:t>
            </a:r>
            <a:r>
              <a:rPr b="1" i="1" lang="en" sz="1800" u="none" cap="none" strike="noStrike">
                <a:solidFill>
                  <a:srgbClr val="6AA8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disco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 tenían fallas de las </a:t>
            </a:r>
            <a:r>
              <a:rPr b="1" i="1" lang="en" sz="1800" u="none" cap="none" strike="noStrik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memorias RAM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1" lang="en" sz="1800" u="sng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1" lang="en" sz="1800" u="none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 procesador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 tenían fallas en el </a:t>
            </a:r>
            <a:r>
              <a:rPr b="1" i="1" lang="en" sz="1800" u="none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procesador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1" lang="en" sz="1800" u="sng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1" lang="en" sz="1800" u="none" cap="none" strike="noStrike">
                <a:solidFill>
                  <a:srgbClr val="6AA8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disco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tenían fallas en las </a:t>
            </a:r>
            <a:r>
              <a:rPr b="1" i="1" lang="en" sz="1800" u="none" cap="none" strike="noStrik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memorias RAM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1" lang="en" sz="1800" u="sng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1" lang="en" sz="1800" u="none" cap="none" strike="noStrike">
                <a:solidFill>
                  <a:srgbClr val="6AA8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 disco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tenían fallas en las </a:t>
            </a:r>
            <a:r>
              <a:rPr b="1" i="1" lang="en" sz="1800" u="none" cap="none" strike="noStrik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memorias RAM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1" i="1" lang="en" sz="1800" u="none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procesador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 </a:t>
            </a:r>
            <a:r>
              <a:rPr b="1" i="1" lang="en" sz="1800" u="none" cap="none" strike="noStrike">
                <a:solidFill>
                  <a:srgbClr val="6AA8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disco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¿Cuántos equipos había para venta directa con fallos?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¿Cuántos tienen </a:t>
            </a:r>
            <a:r>
              <a:rPr b="1" i="1" lang="en" sz="1800" u="sng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únicamente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fallas en el </a:t>
            </a:r>
            <a:r>
              <a:rPr b="1" i="1" lang="en" sz="1800" u="none" cap="none" strike="noStrike">
                <a:solidFill>
                  <a:srgbClr val="6AA8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disco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¿Cuántos tienen fallas en el </a:t>
            </a:r>
            <a:r>
              <a:rPr b="1" i="1" lang="en" sz="1800" u="none" cap="none" strike="noStrike">
                <a:solidFill>
                  <a:srgbClr val="6AA8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disco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 el </a:t>
            </a:r>
            <a:r>
              <a:rPr b="1" i="1" lang="en" sz="1800" u="none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procesador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pero no en la </a:t>
            </a:r>
            <a:r>
              <a:rPr b="1" i="1" lang="en" sz="1800" u="none" cap="none" strike="noStrik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memoria RAM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4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Ejercicio Sugerido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5" name="Google Shape;375;p34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" sz="1800" u="none" cap="none" strike="noStrike">
                <a:solidFill>
                  <a:schemeClr val="accent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Stock de equipos disponible para venta directa = U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28 </a:t>
            </a:r>
            <a:r>
              <a:rPr b="1" i="1" lang="en" sz="1800" u="none" cap="none" strike="noStrik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memorias RAM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19 </a:t>
            </a:r>
            <a:r>
              <a:rPr b="1" i="1" lang="en" sz="1800" u="none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procesador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15 </a:t>
            </a:r>
            <a:r>
              <a:rPr b="1" i="1" lang="en" sz="1800" u="none" cap="none" strike="noStrike">
                <a:solidFill>
                  <a:srgbClr val="6AA8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disco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 </a:t>
            </a:r>
            <a:r>
              <a:rPr b="1" i="1" lang="en" sz="1800" u="none" cap="none" strike="noStrik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memorias RAM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1" lang="en" sz="1800" u="sng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1" lang="en" sz="1800" u="none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 procesador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 </a:t>
            </a:r>
            <a:r>
              <a:rPr b="1" i="1" lang="en" sz="1800" u="none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procesador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1" lang="en" sz="1800" u="sng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1" lang="en" sz="1800" u="none" cap="none" strike="noStrike">
                <a:solidFill>
                  <a:srgbClr val="6AA8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disco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</a:t>
            </a:r>
            <a:r>
              <a:rPr b="1" i="1" lang="en" sz="1800" u="none" cap="none" strike="noStrik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memorias RAM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1" lang="en" sz="1800" u="sng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1" lang="en" sz="1800" u="none" cap="none" strike="noStrike">
                <a:solidFill>
                  <a:srgbClr val="6AA8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 disco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</a:t>
            </a:r>
            <a:r>
              <a:rPr b="1" i="1" lang="en" sz="1800" u="none" cap="none" strike="noStrik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memorias RAM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1" i="1" lang="en" sz="1800" u="none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procesador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 </a:t>
            </a:r>
            <a:r>
              <a:rPr b="1" i="1" lang="en" sz="1800" u="none" cap="none" strike="noStrike">
                <a:solidFill>
                  <a:srgbClr val="6AA8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disco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¿Cuántos equipos había para venta directa con fallos?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¿Cuántos tienen </a:t>
            </a:r>
            <a:r>
              <a:rPr b="1" i="1" lang="en" sz="1800" u="sng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únicamente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fallas en el </a:t>
            </a:r>
            <a:r>
              <a:rPr b="1" i="1" lang="en" sz="1800" u="none" cap="none" strike="noStrike">
                <a:solidFill>
                  <a:srgbClr val="6AA8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disco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¿Cuántos tienen fallas en el </a:t>
            </a:r>
            <a:r>
              <a:rPr b="1" i="1" lang="en" sz="1800" u="none" cap="none" strike="noStrike">
                <a:solidFill>
                  <a:srgbClr val="6AA8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disco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 el </a:t>
            </a:r>
            <a:r>
              <a:rPr b="1" i="1" lang="en" sz="1800" u="none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procesador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pero no en la </a:t>
            </a:r>
            <a:r>
              <a:rPr b="1" i="1" lang="en" sz="1800" u="none" cap="none" strike="noStrik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memoria RAM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