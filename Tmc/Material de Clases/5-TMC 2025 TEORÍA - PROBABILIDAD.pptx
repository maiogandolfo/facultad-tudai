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Proxima Nova"/>
      <p:regular r:id="rId28"/>
      <p:bold r:id="rId29"/>
      <p:italic r:id="rId30"/>
      <p:boldItalic r:id="rId31"/>
    </p:embeddedFont>
    <p:embeddedFont>
      <p:font typeface="Helvetica Neue"/>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6" roundtripDataSignature="AMtx7mi46/gzcj7xm0/SYz7zNeGnvaPc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roximaNova-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roximaNova-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boldItalic.fntdata"/><Relationship Id="rId30" Type="http://schemas.openxmlformats.org/officeDocument/2006/relationships/font" Target="fonts/ProximaNova-italic.fntdata"/><Relationship Id="rId11" Type="http://schemas.openxmlformats.org/officeDocument/2006/relationships/slide" Target="slides/slide6.xml"/><Relationship Id="rId33" Type="http://schemas.openxmlformats.org/officeDocument/2006/relationships/font" Target="fonts/HelveticaNeue-bold.fntdata"/><Relationship Id="rId10" Type="http://schemas.openxmlformats.org/officeDocument/2006/relationships/slide" Target="slides/slide5.xml"/><Relationship Id="rId32" Type="http://schemas.openxmlformats.org/officeDocument/2006/relationships/font" Target="fonts/HelveticaNeue-regular.fntdata"/><Relationship Id="rId13" Type="http://schemas.openxmlformats.org/officeDocument/2006/relationships/slide" Target="slides/slide8.xml"/><Relationship Id="rId35" Type="http://schemas.openxmlformats.org/officeDocument/2006/relationships/font" Target="fonts/HelveticaNeue-boldItalic.fntdata"/><Relationship Id="rId12" Type="http://schemas.openxmlformats.org/officeDocument/2006/relationships/slide" Target="slides/slide7.xml"/><Relationship Id="rId34" Type="http://schemas.openxmlformats.org/officeDocument/2006/relationships/font" Target="fonts/HelveticaNeue-italic.fntdata"/><Relationship Id="rId15" Type="http://schemas.openxmlformats.org/officeDocument/2006/relationships/slide" Target="slides/slide10.xml"/><Relationship Id="rId14" Type="http://schemas.openxmlformats.org/officeDocument/2006/relationships/slide" Target="slides/slide9.xml"/><Relationship Id="rId36"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831cadf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4831cadf2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4831cadf2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4831cadf2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d3f41edba9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gd3f41edba9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d3f41edba9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d3f41edba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4831cadf28_0_3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24831cadf28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4831cadf28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24831cadf28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4831cadf28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4831cadf28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4831cadf28_0_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g24831cadf28_0_1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4831cadf28_0_2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4831cadf28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4831cadf28_0_2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4831cadf28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4831cadf28_0_2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4831cadf28_0_2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4831cadf28_0_3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24831cadf28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4831cadf28_0_3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4831cadf28_0_3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4831cadf28_0_3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g24831cadf28_0_3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4831cadf28_0_2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g24831cadf28_0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2" name="Google Shape;3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0" y="4654500"/>
            <a:ext cx="9144000" cy="4890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Helvetica Neue"/>
                <a:ea typeface="Helvetica Neue"/>
                <a:cs typeface="Helvetica Neue"/>
                <a:sym typeface="Helvetica Neue"/>
              </a:rPr>
              <a:t>TUDAI - Fac.Cs.Exactas - UNICEN</a:t>
            </a:r>
            <a:endParaRPr b="0" i="0" sz="1400" u="none" cap="none" strike="noStrike">
              <a:solidFill>
                <a:srgbClr val="FFFFFF"/>
              </a:solidFill>
              <a:latin typeface="Helvetica Neue"/>
              <a:ea typeface="Helvetica Neue"/>
              <a:cs typeface="Helvetica Neue"/>
              <a:sym typeface="Helvetica Neue"/>
            </a:endParaRPr>
          </a:p>
        </p:txBody>
      </p:sp>
      <p:pic>
        <p:nvPicPr>
          <p:cNvPr id="55" name="Google Shape;55;p1"/>
          <p:cNvPicPr preferRelativeResize="0"/>
          <p:nvPr/>
        </p:nvPicPr>
        <p:blipFill rotWithShape="1">
          <a:blip r:embed="rId3">
            <a:alphaModFix/>
          </a:blip>
          <a:srcRect b="13187" l="2625" r="65390" t="15642"/>
          <a:stretch/>
        </p:blipFill>
        <p:spPr>
          <a:xfrm>
            <a:off x="4084563" y="3759650"/>
            <a:ext cx="974875" cy="894850"/>
          </a:xfrm>
          <a:prstGeom prst="rect">
            <a:avLst/>
          </a:prstGeom>
          <a:noFill/>
          <a:ln>
            <a:noFill/>
          </a:ln>
        </p:spPr>
      </p:pic>
      <p:sp>
        <p:nvSpPr>
          <p:cNvPr id="56" name="Google Shape;56;p1"/>
          <p:cNvSpPr txBox="1"/>
          <p:nvPr/>
        </p:nvSpPr>
        <p:spPr>
          <a:xfrm>
            <a:off x="0" y="622200"/>
            <a:ext cx="9144000" cy="141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Helvetica Neue"/>
                <a:ea typeface="Helvetica Neue"/>
                <a:cs typeface="Helvetica Neue"/>
                <a:sym typeface="Helvetica Neue"/>
              </a:rPr>
              <a:t>TALLER DE MATEMÁTICA COMPUTACIONAL</a:t>
            </a:r>
            <a:endParaRPr b="0" i="0" sz="3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Helvetica Neue"/>
              <a:ea typeface="Helvetica Neue"/>
              <a:cs typeface="Helvetica Neue"/>
              <a:sym typeface="Helvetica Neue"/>
            </a:endParaRPr>
          </a:p>
        </p:txBody>
      </p:sp>
      <p:sp>
        <p:nvSpPr>
          <p:cNvPr id="57" name="Google Shape;57;p1"/>
          <p:cNvSpPr txBox="1"/>
          <p:nvPr/>
        </p:nvSpPr>
        <p:spPr>
          <a:xfrm>
            <a:off x="0" y="2374800"/>
            <a:ext cx="9144000" cy="73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Helvetica Neue"/>
                <a:ea typeface="Helvetica Neue"/>
                <a:cs typeface="Helvetica Neue"/>
                <a:sym typeface="Helvetica Neue"/>
              </a:rPr>
              <a:t>Unidad #5 - Probabilidades</a:t>
            </a:r>
            <a:endParaRPr b="0" i="0" sz="18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chemeClr val="dk1"/>
              </a:buClr>
              <a:buSzPts val="1100"/>
              <a:buFont typeface="Arial"/>
              <a:buNone/>
            </a:pPr>
            <a:r>
              <a:t/>
            </a:r>
            <a:endParaRPr b="0" i="0" sz="24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24831cadf28_0_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Vamos camino a una adopción más generalizada de la inteligencia artificial y el aprendizaje automático (machine learning), que se sustenta muchísimo en conceptos de probabilidades y estadística!</a:t>
            </a:r>
            <a:br>
              <a:rPr b="0" i="0" lang="en" sz="1800" u="none" cap="none" strike="noStrike">
                <a:solidFill>
                  <a:srgbClr val="000000"/>
                </a:solidFill>
                <a:latin typeface="Helvetica Neue"/>
                <a:ea typeface="Helvetica Neue"/>
                <a:cs typeface="Helvetica Neue"/>
                <a:sym typeface="Helvetica Neue"/>
              </a:rPr>
            </a:b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Las probabilidades son la base para avanzar hacia la estadística, y luego poder hacer análisis sistemático a partir de datos (muy útil para confeccionar dashboards y asistentes para toma de decisiones).</a:t>
            </a:r>
            <a:br>
              <a:rPr b="0" i="0" lang="en" sz="1800" u="none" cap="none" strike="noStrike">
                <a:solidFill>
                  <a:srgbClr val="000000"/>
                </a:solidFill>
                <a:latin typeface="Helvetica Neue"/>
                <a:ea typeface="Helvetica Neue"/>
                <a:cs typeface="Helvetica Neue"/>
                <a:sym typeface="Helvetica Neue"/>
              </a:rPr>
            </a:b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Se usan mucho para poder simular escenarios aleatorios (útiles por ejemplo para casos de test, o en la industria de videojuegos!)</a:t>
            </a:r>
            <a:endParaRPr b="0" i="0" sz="1800" u="none" cap="none" strike="noStrike">
              <a:solidFill>
                <a:srgbClr val="000000"/>
              </a:solidFill>
              <a:latin typeface="Helvetica Neue"/>
              <a:ea typeface="Helvetica Neue"/>
              <a:cs typeface="Helvetica Neue"/>
              <a:sym typeface="Helvetica Neue"/>
            </a:endParaRPr>
          </a:p>
        </p:txBody>
      </p:sp>
      <p:sp>
        <p:nvSpPr>
          <p:cNvPr id="63" name="Google Shape;63;g24831cadf28_0_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¿Por qué probabilidades en TUDAI?</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animEffect filter="fade" transition="in">
                                      <p:cBhvr>
                                        <p:cTn dur="500"/>
                                        <p:tgtEl>
                                          <p:spTgt spid="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animEffect filter="fade" transition="in">
                                      <p:cBhvr>
                                        <p:cTn dur="500"/>
                                        <p:tgtEl>
                                          <p:spTgt spid="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animEffect filter="fade" transition="in">
                                      <p:cBhvr>
                                        <p:cTn dur="500"/>
                                        <p:tgtEl>
                                          <p:spTgt spid="6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24831cadf28_0_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1" i="0" lang="en" sz="1800" u="none" cap="none" strike="noStrike">
                <a:solidFill>
                  <a:srgbClr val="000000"/>
                </a:solidFill>
                <a:latin typeface="Helvetica Neue"/>
                <a:ea typeface="Helvetica Neue"/>
                <a:cs typeface="Helvetica Neue"/>
                <a:sym typeface="Helvetica Neue"/>
              </a:rPr>
              <a:t>Comprender y analizar experimentos aleatorios y eventos aleatorios. </a:t>
            </a:r>
            <a:r>
              <a:rPr b="0" i="0" lang="en" sz="1800" u="none" cap="none" strike="noStrike">
                <a:solidFill>
                  <a:srgbClr val="000000"/>
                </a:solidFill>
                <a:latin typeface="Helvetica Neue"/>
                <a:ea typeface="Helvetica Neue"/>
                <a:cs typeface="Helvetica Neue"/>
                <a:sym typeface="Helvetica Neue"/>
              </a:rPr>
              <a:t>Esto te va a permitir modelar y razonar sobre situaciones inciertas comunes en tareas de programación.</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Arial"/>
              <a:buChar char="●"/>
            </a:pPr>
            <a:r>
              <a:rPr b="1" i="0" lang="en" sz="1800" u="none" cap="none" strike="noStrike">
                <a:solidFill>
                  <a:srgbClr val="000000"/>
                </a:solidFill>
                <a:latin typeface="Helvetica Neue"/>
                <a:ea typeface="Helvetica Neue"/>
                <a:cs typeface="Helvetica Neue"/>
                <a:sym typeface="Helvetica Neue"/>
              </a:rPr>
              <a:t>Calcular probabilidades utilizando la regla de Laplace. </a:t>
            </a:r>
            <a:r>
              <a:rPr b="0" i="0" lang="en" sz="1800" u="none" cap="none" strike="noStrike">
                <a:solidFill>
                  <a:srgbClr val="000000"/>
                </a:solidFill>
                <a:latin typeface="Helvetica Neue"/>
                <a:ea typeface="Helvetica Neue"/>
                <a:cs typeface="Helvetica Neue"/>
                <a:sym typeface="Helvetica Neue"/>
              </a:rPr>
              <a:t>Con esto podrás cuantificar la probabilidad de diferentes resultados y tomar decisiones informadas basadas en probabilidades.</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Arial"/>
              <a:buChar char="●"/>
            </a:pPr>
            <a:r>
              <a:rPr b="1" i="0" lang="en" sz="1800" u="none" cap="none" strike="noStrike">
                <a:solidFill>
                  <a:srgbClr val="000000"/>
                </a:solidFill>
                <a:latin typeface="Helvetica Neue"/>
                <a:ea typeface="Helvetica Neue"/>
                <a:cs typeface="Helvetica Neue"/>
                <a:sym typeface="Helvetica Neue"/>
              </a:rPr>
              <a:t>Aplicar conceptos de probabilidad conjunta y probabilidad condicional para resolver problemas que involucren dependencias entre eventos. </a:t>
            </a:r>
            <a:r>
              <a:rPr b="0" i="0" lang="en" sz="1800" u="none" cap="none" strike="noStrike">
                <a:solidFill>
                  <a:srgbClr val="000000"/>
                </a:solidFill>
                <a:latin typeface="Helvetica Neue"/>
                <a:ea typeface="Helvetica Neue"/>
                <a:cs typeface="Helvetica Neue"/>
                <a:sym typeface="Helvetica Neue"/>
              </a:rPr>
              <a:t>Así, vas a poder trabajar en escenarios más difíciles que aquellos basados solamente en un único evento.</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p:txBody>
      </p:sp>
      <p:sp>
        <p:nvSpPr>
          <p:cNvPr id="69" name="Google Shape;69;g24831cadf28_0_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¿Qué nos va a permitir saber probab.?</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animEffect filter="fade" transition="in">
                                      <p:cBhvr>
                                        <p:cTn dur="500"/>
                                        <p:tgtEl>
                                          <p:spTgt spid="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animEffect filter="fade" transition="in">
                                      <p:cBhvr>
                                        <p:cTn dur="500"/>
                                        <p:tgtEl>
                                          <p:spTgt spid="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animEffect filter="fade" transition="in">
                                      <p:cBhvr>
                                        <p:cTn dur="500"/>
                                        <p:tgtEl>
                                          <p:spTgt spid="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animEffect filter="fade" transition="in">
                                      <p:cBhvr>
                                        <p:cTn dur="500"/>
                                        <p:tgtEl>
                                          <p:spTgt spid="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animEffect filter="fade" transition="in">
                                      <p:cBhvr>
                                        <p:cTn dur="500"/>
                                        <p:tgtEl>
                                          <p:spTgt spid="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animEffect filter="fade" transition="in">
                                      <p:cBhvr>
                                        <p:cTn dur="500"/>
                                        <p:tgtEl>
                                          <p:spTgt spid="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6" st="6"/>
                                            </p:txEl>
                                          </p:spTgt>
                                        </p:tgtEl>
                                        <p:attrNameLst>
                                          <p:attrName>style.visibility</p:attrName>
                                        </p:attrNameLst>
                                      </p:cBhvr>
                                      <p:to>
                                        <p:strVal val="visible"/>
                                      </p:to>
                                    </p:set>
                                    <p:animEffect filter="fade" transition="in">
                                      <p:cBhvr>
                                        <p:cTn dur="500"/>
                                        <p:tgtEl>
                                          <p:spTgt spid="6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d3f41edba9_1_0"/>
          <p:cNvSpPr txBox="1"/>
          <p:nvPr/>
        </p:nvSpPr>
        <p:spPr>
          <a:xfrm>
            <a:off x="311161" y="1104159"/>
            <a:ext cx="8314500" cy="877200"/>
          </a:xfrm>
          <a:prstGeom prst="rect">
            <a:avLst/>
          </a:prstGeom>
          <a:noFill/>
          <a:ln>
            <a:noFill/>
          </a:ln>
        </p:spPr>
        <p:txBody>
          <a:bodyPr anchorCtr="0" anchor="ctr"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Un experimento se considera aleatorio si los resultados posibles son conocidos, pero no hay forma de predecir cuál de los posibles resultados ocurrirá.</a:t>
            </a:r>
            <a:endParaRPr b="0" i="0" sz="1800" u="none" cap="none" strike="noStrike">
              <a:solidFill>
                <a:srgbClr val="616161"/>
              </a:solidFill>
              <a:latin typeface="Proxima Nova"/>
              <a:ea typeface="Proxima Nova"/>
              <a:cs typeface="Proxima Nova"/>
              <a:sym typeface="Proxima Nova"/>
            </a:endParaRPr>
          </a:p>
        </p:txBody>
      </p:sp>
      <p:sp>
        <p:nvSpPr>
          <p:cNvPr id="75" name="Google Shape;75;gd3f41edba9_1_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269875"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Experimentos aleatorios</a:t>
            </a:r>
            <a:endParaRPr b="1" i="0" sz="3600" u="none" cap="none" strike="noStrike">
              <a:solidFill>
                <a:srgbClr val="FFFFFF"/>
              </a:solidFill>
              <a:latin typeface="Helvetica Neue"/>
              <a:ea typeface="Helvetica Neue"/>
              <a:cs typeface="Helvetica Neue"/>
              <a:sym typeface="Helvetica Neue"/>
            </a:endParaRPr>
          </a:p>
        </p:txBody>
      </p:sp>
      <p:sp>
        <p:nvSpPr>
          <p:cNvPr id="76" name="Google Shape;76;gd3f41edba9_1_0"/>
          <p:cNvSpPr/>
          <p:nvPr/>
        </p:nvSpPr>
        <p:spPr>
          <a:xfrm>
            <a:off x="414760" y="2694324"/>
            <a:ext cx="8314500" cy="17181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Tirar un dado y observar el resultado.</a:t>
            </a:r>
            <a:endParaRPr b="0" i="0" sz="1800" u="none" cap="none" strike="noStrike">
              <a:solidFill>
                <a:srgbClr val="616161"/>
              </a:solidFill>
              <a:latin typeface="Proxima Nova"/>
              <a:ea typeface="Proxima Nova"/>
              <a:cs typeface="Proxima Nova"/>
              <a:sym typeface="Proxima Nova"/>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Observar si mañana lloverá.</a:t>
            </a:r>
            <a:endParaRPr b="0" i="0" sz="1800" u="none" cap="none" strike="noStrike">
              <a:solidFill>
                <a:srgbClr val="616161"/>
              </a:solidFill>
              <a:latin typeface="Proxima Nova"/>
              <a:ea typeface="Proxima Nova"/>
              <a:cs typeface="Proxima Nova"/>
              <a:sym typeface="Proxima Nova"/>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Poner en una bolsa opaca 100 papeles numerados del 0 al 99. Retirar un papel, observar el número.</a:t>
            </a:r>
            <a:endParaRPr b="0" i="0" sz="1800" u="none" cap="none" strike="noStrike">
              <a:solidFill>
                <a:srgbClr val="616161"/>
              </a:solidFill>
              <a:latin typeface="Proxima Nova"/>
              <a:ea typeface="Proxima Nova"/>
              <a:cs typeface="Proxima Nova"/>
              <a:sym typeface="Proxima Nova"/>
            </a:endParaRPr>
          </a:p>
        </p:txBody>
      </p:sp>
      <p:sp>
        <p:nvSpPr>
          <p:cNvPr id="77" name="Google Shape;77;gd3f41edba9_1_0"/>
          <p:cNvSpPr txBox="1"/>
          <p:nvPr/>
        </p:nvSpPr>
        <p:spPr>
          <a:xfrm>
            <a:off x="235375" y="2131975"/>
            <a:ext cx="158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EJEMPLOS:</a:t>
            </a:r>
            <a:endParaRPr b="1"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1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1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100"/>
                                        <p:tgtEl>
                                          <p:spTgt spid="76">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nvSpPr>
        <p:spPr>
          <a:xfrm>
            <a:off x="311161" y="1104159"/>
            <a:ext cx="8314500" cy="877200"/>
          </a:xfrm>
          <a:prstGeom prst="rect">
            <a:avLst/>
          </a:prstGeom>
          <a:noFill/>
          <a:ln>
            <a:noFill/>
          </a:ln>
        </p:spPr>
        <p:txBody>
          <a:bodyPr anchorCtr="0" anchor="ctr"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El estudio de probabilidades nos permite analizar los posibles resultados de </a:t>
            </a:r>
            <a:r>
              <a:rPr b="1" i="0" lang="en" sz="1800" u="sng" cap="none" strike="noStrike">
                <a:solidFill>
                  <a:srgbClr val="616161"/>
                </a:solidFill>
                <a:latin typeface="Proxima Nova"/>
                <a:ea typeface="Proxima Nova"/>
                <a:cs typeface="Proxima Nova"/>
                <a:sym typeface="Proxima Nova"/>
              </a:rPr>
              <a:t>experimentos aleatorios</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83" name="Google Shape;83;p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269875"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Probabilidades</a:t>
            </a:r>
            <a:endParaRPr b="1" i="0" sz="3600" u="none" cap="none" strike="noStrike">
              <a:solidFill>
                <a:srgbClr val="FFFFFF"/>
              </a:solidFill>
              <a:latin typeface="Helvetica Neue"/>
              <a:ea typeface="Helvetica Neue"/>
              <a:cs typeface="Helvetica Neue"/>
              <a:sym typeface="Helvetica Neue"/>
            </a:endParaRPr>
          </a:p>
        </p:txBody>
      </p:sp>
      <p:sp>
        <p:nvSpPr>
          <p:cNvPr id="84" name="Google Shape;84;p2"/>
          <p:cNvSpPr/>
          <p:nvPr/>
        </p:nvSpPr>
        <p:spPr>
          <a:xfrm>
            <a:off x="311160" y="2240999"/>
            <a:ext cx="8314365" cy="171822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Es importante que </a:t>
            </a:r>
            <a:r>
              <a:rPr lang="en" sz="1800">
                <a:solidFill>
                  <a:srgbClr val="616161"/>
                </a:solidFill>
                <a:latin typeface="Proxima Nova"/>
                <a:ea typeface="Proxima Nova"/>
                <a:cs typeface="Proxima Nova"/>
                <a:sym typeface="Proxima Nova"/>
              </a:rPr>
              <a:t>identifiquemos</a:t>
            </a:r>
            <a:r>
              <a:rPr b="0" i="0" lang="en" sz="1800" u="none" cap="none" strike="noStrike">
                <a:solidFill>
                  <a:srgbClr val="616161"/>
                </a:solidFill>
                <a:latin typeface="Proxima Nova"/>
                <a:ea typeface="Proxima Nova"/>
                <a:cs typeface="Proxima Nova"/>
                <a:sym typeface="Proxima Nova"/>
              </a:rPr>
              <a:t> bien:</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¿Cuál es el </a:t>
            </a:r>
            <a:r>
              <a:rPr b="1" i="0" lang="en" sz="1800" u="none" cap="none" strike="noStrike">
                <a:solidFill>
                  <a:srgbClr val="616161"/>
                </a:solidFill>
                <a:latin typeface="Proxima Nova"/>
                <a:ea typeface="Proxima Nova"/>
                <a:cs typeface="Proxima Nova"/>
                <a:sym typeface="Proxima Nova"/>
              </a:rPr>
              <a:t>experimento aleatorio</a:t>
            </a:r>
            <a:r>
              <a:rPr b="0" i="0" lang="en" sz="1800" u="none" cap="none" strike="noStrike">
                <a:solidFill>
                  <a:srgbClr val="616161"/>
                </a:solidFill>
                <a:latin typeface="Proxima Nova"/>
                <a:ea typeface="Proxima Nova"/>
                <a:cs typeface="Proxima Nova"/>
                <a:sym typeface="Proxima Nova"/>
              </a:rPr>
              <a:t>?</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¿Cuál es el </a:t>
            </a:r>
            <a:r>
              <a:rPr b="1" i="0" lang="en" sz="1800" u="none" cap="none" strike="noStrike">
                <a:solidFill>
                  <a:srgbClr val="616161"/>
                </a:solidFill>
                <a:latin typeface="Proxima Nova"/>
                <a:ea typeface="Proxima Nova"/>
                <a:cs typeface="Proxima Nova"/>
                <a:sym typeface="Proxima Nova"/>
              </a:rPr>
              <a:t>espacio muestral</a:t>
            </a:r>
            <a:r>
              <a:rPr b="0" i="0" lang="en" sz="1800" u="none" cap="none" strike="noStrike">
                <a:solidFill>
                  <a:srgbClr val="616161"/>
                </a:solidFill>
                <a:latin typeface="Proxima Nova"/>
                <a:ea typeface="Proxima Nova"/>
                <a:cs typeface="Proxima Nova"/>
                <a:sym typeface="Proxima Nova"/>
              </a:rPr>
              <a:t> (los posibles resultados)?</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a:t>
            </a:r>
            <a:r>
              <a:rPr lang="en" sz="1800">
                <a:solidFill>
                  <a:srgbClr val="616161"/>
                </a:solidFill>
                <a:latin typeface="Proxima Nova"/>
                <a:ea typeface="Proxima Nova"/>
                <a:cs typeface="Proxima Nova"/>
                <a:sym typeface="Proxima Nova"/>
              </a:rPr>
              <a:t>A</a:t>
            </a:r>
            <a:r>
              <a:rPr b="0" i="0" lang="en" sz="1800" u="none" cap="none" strike="noStrike">
                <a:solidFill>
                  <a:srgbClr val="616161"/>
                </a:solidFill>
                <a:latin typeface="Proxima Nova"/>
                <a:ea typeface="Proxima Nova"/>
                <a:cs typeface="Proxima Nova"/>
                <a:sym typeface="Proxima Nova"/>
              </a:rPr>
              <a:t> qué </a:t>
            </a:r>
            <a:r>
              <a:rPr b="1" i="0" lang="en" sz="1800" u="none" cap="none" strike="noStrike">
                <a:solidFill>
                  <a:srgbClr val="616161"/>
                </a:solidFill>
                <a:latin typeface="Proxima Nova"/>
                <a:ea typeface="Proxima Nova"/>
                <a:cs typeface="Proxima Nova"/>
                <a:sym typeface="Proxima Nova"/>
              </a:rPr>
              <a:t>suceso</a:t>
            </a:r>
            <a:r>
              <a:rPr b="0" i="0" lang="en" sz="1800" u="none" cap="none" strike="noStrike">
                <a:solidFill>
                  <a:srgbClr val="616161"/>
                </a:solidFill>
                <a:latin typeface="Proxima Nova"/>
                <a:ea typeface="Proxima Nova"/>
                <a:cs typeface="Proxima Nova"/>
                <a:sym typeface="Proxima Nova"/>
              </a:rPr>
              <a:t> </a:t>
            </a:r>
            <a:r>
              <a:rPr lang="en" sz="1800">
                <a:solidFill>
                  <a:srgbClr val="616161"/>
                </a:solidFill>
                <a:latin typeface="Proxima Nova"/>
                <a:ea typeface="Proxima Nova"/>
                <a:cs typeface="Proxima Nova"/>
                <a:sym typeface="Proxima Nova"/>
              </a:rPr>
              <a:t>le quiero analizar su </a:t>
            </a:r>
            <a:r>
              <a:rPr lang="en" sz="1800" u="sng">
                <a:solidFill>
                  <a:srgbClr val="616161"/>
                </a:solidFill>
                <a:latin typeface="Proxima Nova"/>
                <a:ea typeface="Proxima Nova"/>
                <a:cs typeface="Proxima Nova"/>
                <a:sym typeface="Proxima Nova"/>
              </a:rPr>
              <a:t>probabilidad de ocurrencia</a:t>
            </a:r>
            <a:r>
              <a:rPr b="0" i="0" lang="en" sz="1800" u="none" cap="none" strike="noStrike">
                <a:solidFill>
                  <a:srgbClr val="616161"/>
                </a:solidFill>
                <a:latin typeface="Proxima Nova"/>
                <a:ea typeface="Proxima Nova"/>
                <a:cs typeface="Proxima Nova"/>
                <a:sym typeface="Proxima Nova"/>
              </a:rPr>
              <a: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10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Effect filter="fade" transition="in">
                                      <p:cBhvr>
                                        <p:cTn dur="1000"/>
                                        <p:tgtEl>
                                          <p:spTgt spid="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Effect filter="fade" transition="in">
                                      <p:cBhvr>
                                        <p:cTn dur="1000"/>
                                        <p:tgtEl>
                                          <p:spTgt spid="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Effect filter="fade" transition="in">
                                      <p:cBhvr>
                                        <p:cTn dur="1000"/>
                                        <p:tgtEl>
                                          <p:spTgt spid="8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3"/>
          <p:cNvSpPr txBox="1"/>
          <p:nvPr/>
        </p:nvSpPr>
        <p:spPr>
          <a:xfrm>
            <a:off x="311568" y="1078575"/>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El </a:t>
            </a:r>
            <a:r>
              <a:rPr b="1" i="0" lang="en" sz="1800" u="sng" cap="none" strike="noStrike">
                <a:solidFill>
                  <a:srgbClr val="616161"/>
                </a:solidFill>
                <a:latin typeface="Proxima Nova"/>
                <a:ea typeface="Proxima Nova"/>
                <a:cs typeface="Proxima Nova"/>
                <a:sym typeface="Proxima Nova"/>
              </a:rPr>
              <a:t>espacio muestral</a:t>
            </a:r>
            <a:r>
              <a:rPr b="0" i="0" lang="en" sz="1800" u="none" cap="none" strike="noStrike">
                <a:solidFill>
                  <a:srgbClr val="616161"/>
                </a:solidFill>
                <a:latin typeface="Proxima Nova"/>
                <a:ea typeface="Proxima Nova"/>
                <a:cs typeface="Proxima Nova"/>
                <a:sym typeface="Proxima Nova"/>
              </a:rPr>
              <a:t> es el conjunto de todos los posibles resultados del experimento.</a:t>
            </a:r>
            <a:endParaRPr b="0" i="0" sz="1600" u="none" cap="none" strike="noStrike">
              <a:solidFill>
                <a:srgbClr val="616161"/>
              </a:solidFill>
              <a:latin typeface="Proxima Nova"/>
              <a:ea typeface="Proxima Nova"/>
              <a:cs typeface="Proxima Nova"/>
              <a:sym typeface="Proxima Nova"/>
            </a:endParaRPr>
          </a:p>
        </p:txBody>
      </p:sp>
      <p:sp>
        <p:nvSpPr>
          <p:cNvPr id="90" name="Google Shape;90;p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Espacio muestral</a:t>
            </a:r>
            <a:endParaRPr b="1" i="0" sz="3600" u="none" cap="none" strike="noStrike">
              <a:solidFill>
                <a:srgbClr val="FFFFFF"/>
              </a:solidFill>
              <a:latin typeface="Helvetica Neue"/>
              <a:ea typeface="Helvetica Neue"/>
              <a:cs typeface="Helvetica Neue"/>
              <a:sym typeface="Helvetica Neue"/>
            </a:endParaRPr>
          </a:p>
        </p:txBody>
      </p:sp>
      <p:pic>
        <p:nvPicPr>
          <p:cNvPr id="91" name="Google Shape;91;p3"/>
          <p:cNvPicPr preferRelativeResize="0"/>
          <p:nvPr/>
        </p:nvPicPr>
        <p:blipFill rotWithShape="1">
          <a:blip r:embed="rId3">
            <a:alphaModFix/>
          </a:blip>
          <a:srcRect b="0" l="0" r="0" t="0"/>
          <a:stretch/>
        </p:blipFill>
        <p:spPr>
          <a:xfrm>
            <a:off x="152400" y="2146675"/>
            <a:ext cx="8839199" cy="1103992"/>
          </a:xfrm>
          <a:prstGeom prst="rect">
            <a:avLst/>
          </a:prstGeom>
          <a:noFill/>
          <a:ln>
            <a:noFill/>
          </a:ln>
        </p:spPr>
      </p:pic>
      <p:sp>
        <p:nvSpPr>
          <p:cNvPr id="92" name="Google Shape;92;p3"/>
          <p:cNvSpPr txBox="1"/>
          <p:nvPr/>
        </p:nvSpPr>
        <p:spPr>
          <a:xfrm>
            <a:off x="235375" y="1903375"/>
            <a:ext cx="158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EJEMPLO:</a:t>
            </a:r>
            <a:endParaRPr b="1" i="0" sz="1400" u="none" cap="none" strike="noStrike">
              <a:solidFill>
                <a:srgbClr val="000000"/>
              </a:solidFill>
              <a:latin typeface="Arial"/>
              <a:ea typeface="Arial"/>
              <a:cs typeface="Arial"/>
              <a:sym typeface="Arial"/>
            </a:endParaRPr>
          </a:p>
        </p:txBody>
      </p:sp>
      <p:sp>
        <p:nvSpPr>
          <p:cNvPr id="93" name="Google Shape;93;p3"/>
          <p:cNvSpPr txBox="1"/>
          <p:nvPr/>
        </p:nvSpPr>
        <p:spPr>
          <a:xfrm>
            <a:off x="397725" y="3326875"/>
            <a:ext cx="1781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Experimento -&gt;</a:t>
            </a:r>
            <a:endParaRPr b="0" i="0" sz="1400" u="none" cap="none" strike="noStrike">
              <a:solidFill>
                <a:srgbClr val="000000"/>
              </a:solidFill>
              <a:latin typeface="Arial"/>
              <a:ea typeface="Arial"/>
              <a:cs typeface="Arial"/>
              <a:sym typeface="Arial"/>
            </a:endParaRPr>
          </a:p>
        </p:txBody>
      </p:sp>
      <p:sp>
        <p:nvSpPr>
          <p:cNvPr id="94" name="Google Shape;94;p3"/>
          <p:cNvSpPr txBox="1"/>
          <p:nvPr/>
        </p:nvSpPr>
        <p:spPr>
          <a:xfrm>
            <a:off x="397725" y="3784075"/>
            <a:ext cx="190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Espacio muestral -&gt;</a:t>
            </a:r>
            <a:endParaRPr b="0" i="0" sz="1400" u="none" cap="none" strike="noStrike">
              <a:solidFill>
                <a:srgbClr val="000000"/>
              </a:solidFill>
              <a:latin typeface="Arial"/>
              <a:ea typeface="Arial"/>
              <a:cs typeface="Arial"/>
              <a:sym typeface="Arial"/>
            </a:endParaRPr>
          </a:p>
        </p:txBody>
      </p:sp>
      <p:sp>
        <p:nvSpPr>
          <p:cNvPr id="95" name="Google Shape;95;p3"/>
          <p:cNvSpPr txBox="1"/>
          <p:nvPr/>
        </p:nvSpPr>
        <p:spPr>
          <a:xfrm>
            <a:off x="1741075" y="3326875"/>
            <a:ext cx="4679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Extraer al azar un elemento del arreglo A</a:t>
            </a:r>
            <a:endParaRPr b="0" i="0" sz="1400" u="none" cap="none" strike="noStrike">
              <a:solidFill>
                <a:srgbClr val="000000"/>
              </a:solidFill>
              <a:latin typeface="Arial"/>
              <a:ea typeface="Arial"/>
              <a:cs typeface="Arial"/>
              <a:sym typeface="Arial"/>
            </a:endParaRPr>
          </a:p>
        </p:txBody>
      </p:sp>
      <p:sp>
        <p:nvSpPr>
          <p:cNvPr id="96" name="Google Shape;96;p3"/>
          <p:cNvSpPr txBox="1"/>
          <p:nvPr/>
        </p:nvSpPr>
        <p:spPr>
          <a:xfrm>
            <a:off x="2150325" y="3784075"/>
            <a:ext cx="1341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 = {5, 4, 8, 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Sucesos (evento) y operaciones</a:t>
            </a:r>
            <a:endParaRPr b="1" i="0" sz="3600" u="none" cap="none" strike="noStrike">
              <a:solidFill>
                <a:srgbClr val="FFFFFF"/>
              </a:solidFill>
              <a:latin typeface="Helvetica Neue"/>
              <a:ea typeface="Helvetica Neue"/>
              <a:cs typeface="Helvetica Neue"/>
              <a:sym typeface="Helvetica Neue"/>
            </a:endParaRPr>
          </a:p>
        </p:txBody>
      </p:sp>
      <p:sp>
        <p:nvSpPr>
          <p:cNvPr id="102" name="Google Shape;102;p4"/>
          <p:cNvSpPr txBox="1"/>
          <p:nvPr/>
        </p:nvSpPr>
        <p:spPr>
          <a:xfrm>
            <a:off x="311568" y="1154775"/>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Un </a:t>
            </a:r>
            <a:r>
              <a:rPr b="1" i="0" lang="en" sz="1800" u="sng" cap="none" strike="noStrike">
                <a:solidFill>
                  <a:srgbClr val="616161"/>
                </a:solidFill>
                <a:latin typeface="Proxima Nova"/>
                <a:ea typeface="Proxima Nova"/>
                <a:cs typeface="Proxima Nova"/>
                <a:sym typeface="Proxima Nova"/>
              </a:rPr>
              <a:t>suceso</a:t>
            </a:r>
            <a:r>
              <a:rPr b="0" i="0" lang="en" sz="1800" u="none" cap="none" strike="noStrike">
                <a:solidFill>
                  <a:srgbClr val="616161"/>
                </a:solidFill>
                <a:latin typeface="Proxima Nova"/>
                <a:ea typeface="Proxima Nova"/>
                <a:cs typeface="Proxima Nova"/>
                <a:sym typeface="Proxima Nova"/>
              </a:rPr>
              <a:t> (o evento) es un </a:t>
            </a:r>
            <a:r>
              <a:rPr b="0" i="0" lang="en" sz="1800" u="sng" cap="none" strike="noStrike">
                <a:solidFill>
                  <a:srgbClr val="616161"/>
                </a:solidFill>
                <a:latin typeface="Proxima Nova"/>
                <a:ea typeface="Proxima Nova"/>
                <a:cs typeface="Proxima Nova"/>
                <a:sym typeface="Proxima Nova"/>
              </a:rPr>
              <a:t>subconjunto</a:t>
            </a:r>
            <a:r>
              <a:rPr b="0" i="0" lang="en" sz="1800" u="none" cap="none" strike="noStrike">
                <a:solidFill>
                  <a:srgbClr val="616161"/>
                </a:solidFill>
                <a:latin typeface="Proxima Nova"/>
                <a:ea typeface="Proxima Nova"/>
                <a:cs typeface="Proxima Nova"/>
                <a:sym typeface="Proxima Nova"/>
              </a:rPr>
              <a:t> del espacio muestral</a:t>
            </a:r>
            <a:r>
              <a:rPr lang="en" sz="1800">
                <a:solidFill>
                  <a:srgbClr val="616161"/>
                </a:solidFill>
                <a:latin typeface="Proxima Nova"/>
                <a:ea typeface="Proxima Nova"/>
                <a:cs typeface="Proxima Nova"/>
                <a:sym typeface="Proxima Nova"/>
              </a:rPr>
              <a:t>, compuesto por </a:t>
            </a:r>
            <a:r>
              <a:rPr b="0" i="0" lang="en" sz="1800" u="none" cap="none" strike="noStrike">
                <a:solidFill>
                  <a:srgbClr val="616161"/>
                </a:solidFill>
                <a:latin typeface="Proxima Nova"/>
                <a:ea typeface="Proxima Nova"/>
                <a:cs typeface="Proxima Nova"/>
                <a:sym typeface="Proxima Nova"/>
              </a:rPr>
              <a:t>uno o varios elementos del espacio muestral.</a:t>
            </a:r>
            <a:endParaRPr b="0" i="0" sz="1600" u="none" cap="none" strike="noStrike">
              <a:solidFill>
                <a:srgbClr val="616161"/>
              </a:solidFill>
              <a:latin typeface="Proxima Nova"/>
              <a:ea typeface="Proxima Nova"/>
              <a:cs typeface="Proxima Nova"/>
              <a:sym typeface="Proxima Nova"/>
            </a:endParaRPr>
          </a:p>
        </p:txBody>
      </p:sp>
      <p:pic>
        <p:nvPicPr>
          <p:cNvPr id="103" name="Google Shape;103;p4"/>
          <p:cNvPicPr preferRelativeResize="0"/>
          <p:nvPr/>
        </p:nvPicPr>
        <p:blipFill rotWithShape="1">
          <a:blip r:embed="rId3">
            <a:alphaModFix/>
          </a:blip>
          <a:srcRect b="0" l="0" r="0" t="0"/>
          <a:stretch/>
        </p:blipFill>
        <p:spPr>
          <a:xfrm>
            <a:off x="152400" y="2222875"/>
            <a:ext cx="8839199" cy="1103992"/>
          </a:xfrm>
          <a:prstGeom prst="rect">
            <a:avLst/>
          </a:prstGeom>
          <a:noFill/>
          <a:ln>
            <a:noFill/>
          </a:ln>
        </p:spPr>
      </p:pic>
      <p:sp>
        <p:nvSpPr>
          <p:cNvPr id="104" name="Google Shape;104;p4"/>
          <p:cNvSpPr txBox="1"/>
          <p:nvPr/>
        </p:nvSpPr>
        <p:spPr>
          <a:xfrm>
            <a:off x="235375" y="1979575"/>
            <a:ext cx="158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EJEMPLO:</a:t>
            </a:r>
            <a:endParaRPr b="1" i="0" sz="1400" u="none" cap="none" strike="noStrike">
              <a:solidFill>
                <a:srgbClr val="000000"/>
              </a:solidFill>
              <a:latin typeface="Arial"/>
              <a:ea typeface="Arial"/>
              <a:cs typeface="Arial"/>
              <a:sym typeface="Arial"/>
            </a:endParaRPr>
          </a:p>
        </p:txBody>
      </p:sp>
      <p:sp>
        <p:nvSpPr>
          <p:cNvPr id="105" name="Google Shape;105;p4"/>
          <p:cNvSpPr txBox="1"/>
          <p:nvPr/>
        </p:nvSpPr>
        <p:spPr>
          <a:xfrm>
            <a:off x="397725" y="3326875"/>
            <a:ext cx="79539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Sucesos: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r>
              <a:rPr b="0" i="1" lang="en" sz="1400" u="none" cap="none" strike="noStrike">
                <a:solidFill>
                  <a:srgbClr val="000000"/>
                </a:solidFill>
                <a:latin typeface="Arial"/>
                <a:ea typeface="Arial"/>
                <a:cs typeface="Arial"/>
                <a:sym typeface="Arial"/>
              </a:rPr>
              <a:t>a</a:t>
            </a:r>
            <a:r>
              <a:rPr b="0" i="0" lang="en" sz="1400" u="none" cap="none" strike="noStrike">
                <a:solidFill>
                  <a:srgbClr val="000000"/>
                </a:solidFill>
                <a:latin typeface="Arial"/>
                <a:ea typeface="Arial"/>
                <a:cs typeface="Arial"/>
                <a:sym typeface="Arial"/>
              </a:rPr>
              <a:t> vale 4” </a:t>
            </a:r>
            <a:r>
              <a:rPr b="1" i="0" lang="en" sz="1400" u="none" cap="none" strike="noStrike">
                <a:solidFill>
                  <a:srgbClr val="000000"/>
                </a:solidFill>
                <a:latin typeface="Arial"/>
                <a:ea typeface="Arial"/>
                <a:cs typeface="Arial"/>
                <a:sym typeface="Arial"/>
              </a:rPr>
              <a:t>-&gt;</a:t>
            </a:r>
            <a:r>
              <a:rPr b="0" i="0" lang="en" sz="1400" u="none" cap="none" strike="noStrike">
                <a:solidFill>
                  <a:srgbClr val="000000"/>
                </a:solidFill>
                <a:latin typeface="Arial"/>
                <a:ea typeface="Arial"/>
                <a:cs typeface="Arial"/>
                <a:sym typeface="Arial"/>
              </a:rPr>
              <a:t> C = {4} (recordemos que a los conjuntos los nombramos con mayúscula)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a</a:t>
            </a:r>
            <a:r>
              <a:rPr b="0" i="0" lang="en" sz="1400" u="none" cap="none" strike="noStrike">
                <a:solidFill>
                  <a:schemeClr val="dk1"/>
                </a:solidFill>
                <a:latin typeface="Arial"/>
                <a:ea typeface="Arial"/>
                <a:cs typeface="Arial"/>
                <a:sym typeface="Arial"/>
              </a:rPr>
              <a:t> es impar” </a:t>
            </a:r>
            <a:r>
              <a:rPr b="1" i="0" lang="en" sz="1400" u="none" cap="none" strike="noStrike">
                <a:solidFill>
                  <a:schemeClr val="dk1"/>
                </a:solidFill>
                <a:latin typeface="Arial"/>
                <a:ea typeface="Arial"/>
                <a:cs typeface="Arial"/>
                <a:sym typeface="Arial"/>
              </a:rPr>
              <a:t>-&gt;</a:t>
            </a:r>
            <a:r>
              <a:rPr b="0" i="0" lang="en" sz="1400" u="none" cap="none" strike="noStrike">
                <a:solidFill>
                  <a:schemeClr val="dk1"/>
                </a:solidFill>
                <a:latin typeface="Arial"/>
                <a:ea typeface="Arial"/>
                <a:cs typeface="Arial"/>
                <a:sym typeface="Arial"/>
              </a:rPr>
              <a:t> I = {5,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a:t>
            </a:r>
            <a:r>
              <a:rPr b="0" i="1" lang="en" sz="1400" u="none" cap="none" strike="noStrike">
                <a:solidFill>
                  <a:schemeClr val="dk1"/>
                </a:solidFill>
                <a:latin typeface="Arial"/>
                <a:ea typeface="Arial"/>
                <a:cs typeface="Arial"/>
                <a:sym typeface="Arial"/>
              </a:rPr>
              <a:t>a</a:t>
            </a:r>
            <a:r>
              <a:rPr b="0" i="0" lang="en" sz="1400" u="none" cap="none" strike="noStrike">
                <a:solidFill>
                  <a:schemeClr val="dk1"/>
                </a:solidFill>
                <a:latin typeface="Arial"/>
                <a:ea typeface="Arial"/>
                <a:cs typeface="Arial"/>
                <a:sym typeface="Arial"/>
              </a:rPr>
              <a:t> es par” </a:t>
            </a:r>
            <a:r>
              <a:rPr b="1" i="0" lang="en" sz="1400" u="none" cap="none" strike="noStrike">
                <a:solidFill>
                  <a:schemeClr val="dk1"/>
                </a:solidFill>
                <a:latin typeface="Arial"/>
                <a:ea typeface="Arial"/>
                <a:cs typeface="Arial"/>
                <a:sym typeface="Arial"/>
              </a:rPr>
              <a:t>-&gt;</a:t>
            </a:r>
            <a:r>
              <a:rPr b="0" i="0" lang="en" sz="1400" u="none" cap="none" strike="noStrike">
                <a:solidFill>
                  <a:schemeClr val="dk1"/>
                </a:solidFill>
                <a:latin typeface="Arial"/>
                <a:ea typeface="Arial"/>
                <a:cs typeface="Arial"/>
                <a:sym typeface="Arial"/>
              </a:rPr>
              <a:t> P = {4, 8}</a:t>
            </a:r>
            <a:endParaRPr b="0" i="0" sz="1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10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1000"/>
                                        <p:tgtEl>
                                          <p:spTgt spid="10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d3f41edba9_0_1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Sucesos y operaciones</a:t>
            </a:r>
            <a:endParaRPr b="1" i="0" sz="3600" u="none" cap="none" strike="noStrike">
              <a:solidFill>
                <a:srgbClr val="FFFFFF"/>
              </a:solidFill>
              <a:latin typeface="Helvetica Neue"/>
              <a:ea typeface="Helvetica Neue"/>
              <a:cs typeface="Helvetica Neue"/>
              <a:sym typeface="Helvetica Neue"/>
            </a:endParaRPr>
          </a:p>
        </p:txBody>
      </p:sp>
      <p:sp>
        <p:nvSpPr>
          <p:cNvPr id="111" name="Google Shape;111;gd3f41edba9_0_10"/>
          <p:cNvSpPr txBox="1"/>
          <p:nvPr/>
        </p:nvSpPr>
        <p:spPr>
          <a:xfrm>
            <a:off x="246061" y="2526375"/>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Como los sucesos son conjuntos, podemos hacer todas las operaciones conocidas para conjuntos. </a:t>
            </a:r>
            <a:r>
              <a:rPr b="0" i="0" lang="en" sz="1800" u="sng" cap="none" strike="noStrike">
                <a:solidFill>
                  <a:srgbClr val="616161"/>
                </a:solidFill>
                <a:latin typeface="Proxima Nova"/>
                <a:ea typeface="Proxima Nova"/>
                <a:cs typeface="Proxima Nova"/>
                <a:sym typeface="Proxima Nova"/>
              </a:rPr>
              <a:t>El conjunto universal es ahora el espacio muestral</a:t>
            </a:r>
            <a:r>
              <a:rPr lang="en" sz="1800">
                <a:solidFill>
                  <a:srgbClr val="616161"/>
                </a:solidFill>
                <a:latin typeface="Proxima Nova"/>
                <a:ea typeface="Proxima Nova"/>
                <a:cs typeface="Proxima Nova"/>
                <a:sym typeface="Proxima Nova"/>
              </a:rPr>
              <a:t>.</a:t>
            </a:r>
            <a:endParaRPr b="0" i="0" sz="1600" u="none" cap="none" strike="noStrike">
              <a:solidFill>
                <a:srgbClr val="616161"/>
              </a:solidFill>
              <a:latin typeface="Proxima Nova"/>
              <a:ea typeface="Proxima Nova"/>
              <a:cs typeface="Proxima Nova"/>
              <a:sym typeface="Proxima Nova"/>
            </a:endParaRPr>
          </a:p>
        </p:txBody>
      </p:sp>
      <p:sp>
        <p:nvSpPr>
          <p:cNvPr id="112" name="Google Shape;112;gd3f41edba9_0_10"/>
          <p:cNvSpPr txBox="1"/>
          <p:nvPr/>
        </p:nvSpPr>
        <p:spPr>
          <a:xfrm>
            <a:off x="383618" y="3468850"/>
            <a:ext cx="7953900" cy="15699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Unión (</a:t>
            </a:r>
            <a:r>
              <a:rPr b="0" i="0" lang="en" sz="1800" u="none" cap="none" strike="noStrike">
                <a:solidFill>
                  <a:schemeClr val="dk1"/>
                </a:solidFill>
                <a:latin typeface="Arial"/>
                <a:ea typeface="Arial"/>
                <a:cs typeface="Arial"/>
                <a:sym typeface="Arial"/>
              </a:rPr>
              <a:t>U</a:t>
            </a:r>
            <a:r>
              <a:rPr b="1" i="0" lang="en" sz="1800" u="none" cap="none" strike="noStrike">
                <a:solidFill>
                  <a:schemeClr val="dk1"/>
                </a:solidFill>
                <a:latin typeface="Arial"/>
                <a:ea typeface="Arial"/>
                <a:cs typeface="Arial"/>
                <a:sym typeface="Arial"/>
              </a:rPr>
              <a:t>) -&gt; </a:t>
            </a:r>
            <a:r>
              <a:rPr b="0" i="0" lang="en" sz="1800" u="none" cap="none" strike="noStrike">
                <a:solidFill>
                  <a:schemeClr val="dk1"/>
                </a:solidFill>
                <a:latin typeface="Arial"/>
                <a:ea typeface="Arial"/>
                <a:cs typeface="Arial"/>
                <a:sym typeface="Arial"/>
              </a:rPr>
              <a:t>C U I = {4, 5, 1}</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Intersección (</a:t>
            </a:r>
            <a:r>
              <a:rPr b="0" i="0" lang="en" sz="1800" u="none" cap="none" strike="noStrike">
                <a:solidFill>
                  <a:schemeClr val="dk1"/>
                </a:solidFill>
                <a:latin typeface="Arial"/>
                <a:ea typeface="Arial"/>
                <a:cs typeface="Arial"/>
                <a:sym typeface="Arial"/>
              </a:rPr>
              <a:t>∩</a:t>
            </a:r>
            <a:r>
              <a:rPr b="1" i="0" lang="en" sz="1800" u="none" cap="none" strike="noStrike">
                <a:solidFill>
                  <a:schemeClr val="dk1"/>
                </a:solidFill>
                <a:latin typeface="Arial"/>
                <a:ea typeface="Arial"/>
                <a:cs typeface="Arial"/>
                <a:sym typeface="Arial"/>
              </a:rPr>
              <a:t>) -&gt; </a:t>
            </a:r>
            <a:r>
              <a:rPr b="0" i="0" lang="en" sz="1800" u="none" cap="none" strike="noStrike">
                <a:solidFill>
                  <a:schemeClr val="dk1"/>
                </a:solidFill>
                <a:latin typeface="Arial"/>
                <a:ea typeface="Arial"/>
                <a:cs typeface="Arial"/>
                <a:sym typeface="Arial"/>
              </a:rPr>
              <a:t>C ∩ P = {4}</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Diferencia (</a:t>
            </a:r>
            <a:r>
              <a:rPr b="0" i="0" lang="en" sz="1800" u="none" cap="none" strike="noStrike">
                <a:solidFill>
                  <a:schemeClr val="dk1"/>
                </a:solidFill>
                <a:latin typeface="Arial"/>
                <a:ea typeface="Arial"/>
                <a:cs typeface="Arial"/>
                <a:sym typeface="Arial"/>
              </a:rPr>
              <a:t>-</a:t>
            </a:r>
            <a:r>
              <a:rPr b="1" i="0" lang="en" sz="1800" u="none" cap="none" strike="noStrike">
                <a:solidFill>
                  <a:schemeClr val="dk1"/>
                </a:solidFill>
                <a:latin typeface="Arial"/>
                <a:ea typeface="Arial"/>
                <a:cs typeface="Arial"/>
                <a:sym typeface="Arial"/>
              </a:rPr>
              <a:t>) -&gt; </a:t>
            </a:r>
            <a:r>
              <a:rPr b="0" i="0" lang="en" sz="1800" u="none" cap="none" strike="noStrike">
                <a:solidFill>
                  <a:schemeClr val="dk1"/>
                </a:solidFill>
                <a:latin typeface="Arial"/>
                <a:ea typeface="Arial"/>
                <a:cs typeface="Arial"/>
                <a:sym typeface="Arial"/>
              </a:rPr>
              <a:t>P - C = {8}</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n" sz="1800" u="none" cap="none" strike="noStrike">
                <a:solidFill>
                  <a:schemeClr val="dk1"/>
                </a:solidFill>
                <a:latin typeface="Arial"/>
                <a:ea typeface="Arial"/>
                <a:cs typeface="Arial"/>
                <a:sym typeface="Arial"/>
              </a:rPr>
              <a:t>Complemento (</a:t>
            </a:r>
            <a:r>
              <a:rPr b="0" baseline="30000" i="0" lang="en" sz="1800" u="none" cap="none" strike="noStrike">
                <a:solidFill>
                  <a:schemeClr val="dk1"/>
                </a:solidFill>
                <a:latin typeface="Arial"/>
                <a:ea typeface="Arial"/>
                <a:cs typeface="Arial"/>
                <a:sym typeface="Arial"/>
              </a:rPr>
              <a:t>c</a:t>
            </a:r>
            <a:r>
              <a:rPr b="1" i="0" lang="en" sz="1800" u="none" cap="none" strike="noStrike">
                <a:solidFill>
                  <a:schemeClr val="dk1"/>
                </a:solidFill>
                <a:latin typeface="Arial"/>
                <a:ea typeface="Arial"/>
                <a:cs typeface="Arial"/>
                <a:sym typeface="Arial"/>
              </a:rPr>
              <a:t>)-&gt; </a:t>
            </a:r>
            <a:r>
              <a:rPr b="0" i="0" lang="en" sz="1800" u="none" cap="none" strike="noStrike">
                <a:solidFill>
                  <a:schemeClr val="dk1"/>
                </a:solidFill>
                <a:latin typeface="Arial"/>
                <a:ea typeface="Arial"/>
                <a:cs typeface="Arial"/>
                <a:sym typeface="Arial"/>
              </a:rPr>
              <a:t>C</a:t>
            </a:r>
            <a:r>
              <a:rPr b="0" baseline="30000" i="0"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{5, 8, 1}   </a:t>
            </a:r>
            <a:endParaRPr b="0" baseline="3000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baseline="30000" i="0" lang="en" sz="18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13" name="Google Shape;113;gd3f41edba9_0_10"/>
          <p:cNvSpPr txBox="1"/>
          <p:nvPr/>
        </p:nvSpPr>
        <p:spPr>
          <a:xfrm>
            <a:off x="383625" y="1094250"/>
            <a:ext cx="79539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Espacio muestral:</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S = {5, 4, 8,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Sucesos: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 =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I = {5, 1}</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P = {4, 8}</a:t>
            </a:r>
            <a:endParaRPr b="0" i="0" sz="1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animEffect filter="fade" transition="in">
                                      <p:cBhvr>
                                        <p:cTn dur="1000"/>
                                        <p:tgtEl>
                                          <p:spTgt spid="1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animEffect filter="fade" transition="in">
                                      <p:cBhvr>
                                        <p:cTn dur="1000"/>
                                        <p:tgtEl>
                                          <p:spTgt spid="1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animEffect filter="fade" transition="in">
                                      <p:cBhvr>
                                        <p:cTn dur="1000"/>
                                        <p:tgtEl>
                                          <p:spTgt spid="1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animEffect filter="fade" transition="in">
                                      <p:cBhvr>
                                        <p:cTn dur="1000"/>
                                        <p:tgtEl>
                                          <p:spTgt spid="1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animEffect filter="fade" transition="in">
                                      <p:cBhvr>
                                        <p:cTn dur="1000"/>
                                        <p:tgtEl>
                                          <p:spTgt spid="11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Cálculo de probabilidades</a:t>
            </a:r>
            <a:endParaRPr b="1" i="0" sz="3600" u="none" cap="none" strike="noStrike">
              <a:solidFill>
                <a:srgbClr val="FFFFFF"/>
              </a:solidFill>
              <a:latin typeface="Helvetica Neue"/>
              <a:ea typeface="Helvetica Neue"/>
              <a:cs typeface="Helvetica Neue"/>
              <a:sym typeface="Helvetica Neue"/>
            </a:endParaRPr>
          </a:p>
        </p:txBody>
      </p:sp>
      <p:pic>
        <p:nvPicPr>
          <p:cNvPr id="119" name="Google Shape;119;p5"/>
          <p:cNvPicPr preferRelativeResize="0"/>
          <p:nvPr/>
        </p:nvPicPr>
        <p:blipFill rotWithShape="1">
          <a:blip r:embed="rId3">
            <a:alphaModFix/>
          </a:blip>
          <a:srcRect b="0" l="0" r="0" t="0"/>
          <a:stretch/>
        </p:blipFill>
        <p:spPr>
          <a:xfrm>
            <a:off x="152400" y="2756275"/>
            <a:ext cx="8839199" cy="1103992"/>
          </a:xfrm>
          <a:prstGeom prst="rect">
            <a:avLst/>
          </a:prstGeom>
          <a:noFill/>
          <a:ln>
            <a:noFill/>
          </a:ln>
        </p:spPr>
      </p:pic>
      <p:sp>
        <p:nvSpPr>
          <p:cNvPr id="120" name="Google Shape;120;p5"/>
          <p:cNvSpPr txBox="1"/>
          <p:nvPr/>
        </p:nvSpPr>
        <p:spPr>
          <a:xfrm>
            <a:off x="311568" y="1078575"/>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Para el cálculo de probabilidades podemos utilizar la regla de Laplace:</a:t>
            </a:r>
            <a:endParaRPr b="0" i="0" sz="1600" u="none" cap="none" strike="noStrike">
              <a:solidFill>
                <a:srgbClr val="616161"/>
              </a:solidFill>
              <a:latin typeface="Proxima Nova"/>
              <a:ea typeface="Proxima Nova"/>
              <a:cs typeface="Proxima Nova"/>
              <a:sym typeface="Proxima Nova"/>
            </a:endParaRPr>
          </a:p>
        </p:txBody>
      </p:sp>
      <p:sp>
        <p:nvSpPr>
          <p:cNvPr id="121" name="Google Shape;121;p5"/>
          <p:cNvSpPr/>
          <p:nvPr/>
        </p:nvSpPr>
        <p:spPr>
          <a:xfrm>
            <a:off x="3707725" y="1776775"/>
            <a:ext cx="2851500" cy="835500"/>
          </a:xfrm>
          <a:prstGeom prst="rect">
            <a:avLst/>
          </a:prstGeom>
          <a:noFill/>
          <a:ln>
            <a:noFill/>
          </a:ln>
        </p:spPr>
        <p:txBody>
          <a:bodyPr anchorCtr="0" anchor="ctr" bIns="91425" lIns="91425" spcFirstLastPara="1" rIns="91425" wrap="square" tIns="91425">
            <a:noAutofit/>
          </a:bodyPr>
          <a:lstStyle/>
          <a:p>
            <a:pPr indent="0" lvl="0" marL="0" marR="0" rtl="0" algn="ctr">
              <a:lnSpc>
                <a:spcPct val="114000"/>
              </a:lnSpc>
              <a:spcBef>
                <a:spcPts val="0"/>
              </a:spcBef>
              <a:spcAft>
                <a:spcPts val="0"/>
              </a:spcAft>
              <a:buClr>
                <a:srgbClr val="000000"/>
              </a:buClr>
              <a:buSzPts val="1800"/>
              <a:buFont typeface="Arial"/>
              <a:buNone/>
            </a:pPr>
            <a:r>
              <a:rPr b="1" i="0" lang="en" sz="1800" u="none" cap="none" strike="noStrike">
                <a:solidFill>
                  <a:srgbClr val="595959"/>
                </a:solidFill>
                <a:latin typeface="Arial"/>
                <a:ea typeface="Arial"/>
                <a:cs typeface="Arial"/>
                <a:sym typeface="Arial"/>
              </a:rPr>
              <a:t>#Casos favorables de A</a:t>
            </a:r>
            <a:endParaRPr b="1" i="0" sz="1800" u="none" cap="none" strike="noStrike">
              <a:solidFill>
                <a:srgbClr val="595959"/>
              </a:solidFill>
              <a:latin typeface="Arial"/>
              <a:ea typeface="Arial"/>
              <a:cs typeface="Arial"/>
              <a:sym typeface="Arial"/>
            </a:endParaRPr>
          </a:p>
          <a:p>
            <a:pPr indent="0" lvl="0" marL="0" marR="0" rtl="0" algn="ctr">
              <a:lnSpc>
                <a:spcPct val="114000"/>
              </a:lnSpc>
              <a:spcBef>
                <a:spcPts val="0"/>
              </a:spcBef>
              <a:spcAft>
                <a:spcPts val="0"/>
              </a:spcAft>
              <a:buClr>
                <a:srgbClr val="000000"/>
              </a:buClr>
              <a:buSzPts val="1100"/>
              <a:buFont typeface="Arial"/>
              <a:buNone/>
            </a:pPr>
            <a:r>
              <a:rPr b="1" i="0" lang="en" sz="1800" u="none" cap="none" strike="noStrike">
                <a:solidFill>
                  <a:srgbClr val="595959"/>
                </a:solidFill>
                <a:latin typeface="Arial"/>
                <a:ea typeface="Arial"/>
                <a:cs typeface="Arial"/>
                <a:sym typeface="Arial"/>
              </a:rPr>
              <a:t>#Casos posibles</a:t>
            </a:r>
            <a:endParaRPr b="0" i="0" sz="1400" u="none" cap="none" strike="noStrike">
              <a:solidFill>
                <a:srgbClr val="000000"/>
              </a:solidFill>
              <a:latin typeface="Arial"/>
              <a:ea typeface="Arial"/>
              <a:cs typeface="Arial"/>
              <a:sym typeface="Arial"/>
            </a:endParaRPr>
          </a:p>
        </p:txBody>
      </p:sp>
      <p:cxnSp>
        <p:nvCxnSpPr>
          <p:cNvPr id="122" name="Google Shape;122;p5"/>
          <p:cNvCxnSpPr/>
          <p:nvPr/>
        </p:nvCxnSpPr>
        <p:spPr>
          <a:xfrm>
            <a:off x="3783925" y="2194525"/>
            <a:ext cx="2851500" cy="0"/>
          </a:xfrm>
          <a:prstGeom prst="straightConnector1">
            <a:avLst/>
          </a:prstGeom>
          <a:noFill/>
          <a:ln cap="flat" cmpd="sng" w="9525">
            <a:solidFill>
              <a:srgbClr val="595959"/>
            </a:solidFill>
            <a:prstDash val="solid"/>
            <a:round/>
            <a:headEnd len="sm" w="sm" type="none"/>
            <a:tailEnd len="sm" w="sm" type="none"/>
          </a:ln>
        </p:spPr>
      </p:cxnSp>
      <p:sp>
        <p:nvSpPr>
          <p:cNvPr id="123" name="Google Shape;123;p5"/>
          <p:cNvSpPr txBox="1"/>
          <p:nvPr/>
        </p:nvSpPr>
        <p:spPr>
          <a:xfrm>
            <a:off x="2833725" y="1966225"/>
            <a:ext cx="113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595959"/>
                </a:solidFill>
                <a:latin typeface="Arial"/>
                <a:ea typeface="Arial"/>
                <a:cs typeface="Arial"/>
                <a:sym typeface="Arial"/>
              </a:rPr>
              <a:t>P(A) = </a:t>
            </a:r>
            <a:endParaRPr b="0" i="0" sz="1400" u="none" cap="none" strike="noStrike">
              <a:solidFill>
                <a:srgbClr val="000000"/>
              </a:solidFill>
              <a:latin typeface="Arial"/>
              <a:ea typeface="Arial"/>
              <a:cs typeface="Arial"/>
              <a:sym typeface="Arial"/>
            </a:endParaRPr>
          </a:p>
        </p:txBody>
      </p:sp>
      <p:sp>
        <p:nvSpPr>
          <p:cNvPr id="124" name="Google Shape;124;p5"/>
          <p:cNvSpPr txBox="1"/>
          <p:nvPr/>
        </p:nvSpPr>
        <p:spPr>
          <a:xfrm>
            <a:off x="235375" y="2436775"/>
            <a:ext cx="158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EJEMPLO:</a:t>
            </a:r>
            <a:endParaRPr b="1" i="0" sz="1400" u="none" cap="none" strike="noStrike">
              <a:solidFill>
                <a:srgbClr val="000000"/>
              </a:solidFill>
              <a:latin typeface="Arial"/>
              <a:ea typeface="Arial"/>
              <a:cs typeface="Arial"/>
              <a:sym typeface="Arial"/>
            </a:endParaRPr>
          </a:p>
        </p:txBody>
      </p:sp>
      <p:sp>
        <p:nvSpPr>
          <p:cNvPr id="125" name="Google Shape;125;p5"/>
          <p:cNvSpPr txBox="1"/>
          <p:nvPr/>
        </p:nvSpPr>
        <p:spPr>
          <a:xfrm>
            <a:off x="383625" y="3761250"/>
            <a:ext cx="183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Espacio muestral:</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S = {5, 4, 8, 1}</a:t>
            </a:r>
            <a:endParaRPr b="1" i="0" sz="1400" u="none" cap="none" strike="noStrike">
              <a:solidFill>
                <a:srgbClr val="000000"/>
              </a:solidFill>
              <a:latin typeface="Arial"/>
              <a:ea typeface="Arial"/>
              <a:cs typeface="Arial"/>
              <a:sym typeface="Arial"/>
            </a:endParaRPr>
          </a:p>
        </p:txBody>
      </p:sp>
      <p:sp>
        <p:nvSpPr>
          <p:cNvPr id="126" name="Google Shape;126;p5"/>
          <p:cNvSpPr txBox="1"/>
          <p:nvPr/>
        </p:nvSpPr>
        <p:spPr>
          <a:xfrm>
            <a:off x="2257650" y="4008550"/>
            <a:ext cx="26613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 = 1 -&gt; P({1}) =         = 0,08</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a = 3 -&gt; P({3}) =         = 0</a:t>
            </a:r>
            <a:endParaRPr b="1" i="0" sz="1400" u="none" cap="none" strike="noStrike">
              <a:solidFill>
                <a:srgbClr val="000000"/>
              </a:solidFill>
              <a:latin typeface="Arial"/>
              <a:ea typeface="Arial"/>
              <a:cs typeface="Arial"/>
              <a:sym typeface="Arial"/>
            </a:endParaRPr>
          </a:p>
        </p:txBody>
      </p:sp>
      <p:sp>
        <p:nvSpPr>
          <p:cNvPr id="127" name="Google Shape;127;p5"/>
          <p:cNvSpPr txBox="1"/>
          <p:nvPr/>
        </p:nvSpPr>
        <p:spPr>
          <a:xfrm>
            <a:off x="6021800" y="4037600"/>
            <a:ext cx="33216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 </a:t>
            </a:r>
            <a:r>
              <a:rPr b="0" i="0" lang="en" sz="1800" u="none" cap="none" strike="noStrike">
                <a:solidFill>
                  <a:schemeClr val="dk1"/>
                </a:solidFill>
                <a:latin typeface="Arial"/>
                <a:ea typeface="Arial"/>
                <a:cs typeface="Arial"/>
                <a:sym typeface="Arial"/>
              </a:rPr>
              <a:t>∈ {5,4,1,8}</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P(S) =           = 1  </a:t>
            </a:r>
            <a:endParaRPr b="1" i="0" sz="1400" u="none" cap="none" strike="noStrike">
              <a:solidFill>
                <a:srgbClr val="000000"/>
              </a:solidFill>
              <a:latin typeface="Arial"/>
              <a:ea typeface="Arial"/>
              <a:cs typeface="Arial"/>
              <a:sym typeface="Arial"/>
            </a:endParaRPr>
          </a:p>
        </p:txBody>
      </p:sp>
      <p:sp>
        <p:nvSpPr>
          <p:cNvPr id="128" name="Google Shape;128;p5"/>
          <p:cNvSpPr txBox="1"/>
          <p:nvPr/>
        </p:nvSpPr>
        <p:spPr>
          <a:xfrm>
            <a:off x="3631525" y="3857600"/>
            <a:ext cx="108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cxnSp>
        <p:nvCxnSpPr>
          <p:cNvPr id="129" name="Google Shape;129;p5"/>
          <p:cNvCxnSpPr/>
          <p:nvPr/>
        </p:nvCxnSpPr>
        <p:spPr>
          <a:xfrm>
            <a:off x="3707725" y="4165400"/>
            <a:ext cx="303600" cy="3600"/>
          </a:xfrm>
          <a:prstGeom prst="straightConnector1">
            <a:avLst/>
          </a:prstGeom>
          <a:noFill/>
          <a:ln cap="flat" cmpd="sng" w="9525">
            <a:solidFill>
              <a:schemeClr val="dk2"/>
            </a:solidFill>
            <a:prstDash val="solid"/>
            <a:round/>
            <a:headEnd len="sm" w="sm" type="none"/>
            <a:tailEnd len="sm" w="sm" type="none"/>
          </a:ln>
        </p:spPr>
      </p:cxnSp>
      <p:sp>
        <p:nvSpPr>
          <p:cNvPr id="130" name="Google Shape;130;p5"/>
          <p:cNvSpPr txBox="1"/>
          <p:nvPr/>
        </p:nvSpPr>
        <p:spPr>
          <a:xfrm>
            <a:off x="3631525" y="4314800"/>
            <a:ext cx="108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cxnSp>
        <p:nvCxnSpPr>
          <p:cNvPr id="131" name="Google Shape;131;p5"/>
          <p:cNvCxnSpPr/>
          <p:nvPr/>
        </p:nvCxnSpPr>
        <p:spPr>
          <a:xfrm>
            <a:off x="3707725" y="4622600"/>
            <a:ext cx="303600" cy="3600"/>
          </a:xfrm>
          <a:prstGeom prst="straightConnector1">
            <a:avLst/>
          </a:prstGeom>
          <a:noFill/>
          <a:ln cap="flat" cmpd="sng" w="9525">
            <a:solidFill>
              <a:schemeClr val="dk2"/>
            </a:solidFill>
            <a:prstDash val="solid"/>
            <a:round/>
            <a:headEnd len="sm" w="sm" type="none"/>
            <a:tailEnd len="sm" w="sm" type="none"/>
          </a:ln>
        </p:spPr>
      </p:cxnSp>
      <p:sp>
        <p:nvSpPr>
          <p:cNvPr id="132" name="Google Shape;132;p5"/>
          <p:cNvSpPr txBox="1"/>
          <p:nvPr/>
        </p:nvSpPr>
        <p:spPr>
          <a:xfrm>
            <a:off x="6679525" y="4391000"/>
            <a:ext cx="1080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cxnSp>
        <p:nvCxnSpPr>
          <p:cNvPr id="133" name="Google Shape;133;p5"/>
          <p:cNvCxnSpPr/>
          <p:nvPr/>
        </p:nvCxnSpPr>
        <p:spPr>
          <a:xfrm>
            <a:off x="6755725" y="4698800"/>
            <a:ext cx="303600" cy="3600"/>
          </a:xfrm>
          <a:prstGeom prst="straightConnector1">
            <a:avLst/>
          </a:prstGeom>
          <a:noFill/>
          <a:ln cap="flat" cmpd="sng" w="9525">
            <a:solidFill>
              <a:schemeClr val="dk2"/>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10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4831cadf28_0_34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Cálculo de probabilidades</a:t>
            </a:r>
            <a:endParaRPr b="1" i="0" sz="3600" u="none" cap="none" strike="noStrike">
              <a:solidFill>
                <a:srgbClr val="FFFFFF"/>
              </a:solidFill>
              <a:latin typeface="Helvetica Neue"/>
              <a:ea typeface="Helvetica Neue"/>
              <a:cs typeface="Helvetica Neue"/>
              <a:sym typeface="Helvetica Neue"/>
            </a:endParaRPr>
          </a:p>
        </p:txBody>
      </p:sp>
      <p:sp>
        <p:nvSpPr>
          <p:cNvPr id="139" name="Google Shape;139;g24831cadf28_0_347"/>
          <p:cNvSpPr txBox="1"/>
          <p:nvPr/>
        </p:nvSpPr>
        <p:spPr>
          <a:xfrm>
            <a:off x="311568" y="1078575"/>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Para el cálculo de probabilidades podemos utilizar la regla de Laplace:</a:t>
            </a:r>
            <a:endParaRPr b="0" i="0" sz="1600" u="none" cap="none" strike="noStrike">
              <a:solidFill>
                <a:srgbClr val="616161"/>
              </a:solidFill>
              <a:latin typeface="Proxima Nova"/>
              <a:ea typeface="Proxima Nova"/>
              <a:cs typeface="Proxima Nova"/>
              <a:sym typeface="Proxima Nova"/>
            </a:endParaRPr>
          </a:p>
        </p:txBody>
      </p:sp>
      <p:sp>
        <p:nvSpPr>
          <p:cNvPr id="140" name="Google Shape;140;g24831cadf28_0_347"/>
          <p:cNvSpPr/>
          <p:nvPr/>
        </p:nvSpPr>
        <p:spPr>
          <a:xfrm>
            <a:off x="3707725" y="1776775"/>
            <a:ext cx="2851500" cy="835500"/>
          </a:xfrm>
          <a:prstGeom prst="rect">
            <a:avLst/>
          </a:prstGeom>
          <a:noFill/>
          <a:ln>
            <a:noFill/>
          </a:ln>
        </p:spPr>
        <p:txBody>
          <a:bodyPr anchorCtr="0" anchor="ctr" bIns="91425" lIns="91425" spcFirstLastPara="1" rIns="91425" wrap="square" tIns="91425">
            <a:noAutofit/>
          </a:bodyPr>
          <a:lstStyle/>
          <a:p>
            <a:pPr indent="0" lvl="0" marL="0" marR="0" rtl="0" algn="ctr">
              <a:lnSpc>
                <a:spcPct val="114000"/>
              </a:lnSpc>
              <a:spcBef>
                <a:spcPts val="0"/>
              </a:spcBef>
              <a:spcAft>
                <a:spcPts val="0"/>
              </a:spcAft>
              <a:buClr>
                <a:srgbClr val="000000"/>
              </a:buClr>
              <a:buSzPts val="1800"/>
              <a:buFont typeface="Arial"/>
              <a:buNone/>
            </a:pPr>
            <a:r>
              <a:rPr b="1" i="0" lang="en" sz="1800" u="none" cap="none" strike="noStrike">
                <a:solidFill>
                  <a:srgbClr val="595959"/>
                </a:solidFill>
                <a:latin typeface="Arial"/>
                <a:ea typeface="Arial"/>
                <a:cs typeface="Arial"/>
                <a:sym typeface="Arial"/>
              </a:rPr>
              <a:t>#Casos favorables de A</a:t>
            </a:r>
            <a:endParaRPr b="1" i="0" sz="1800" u="none" cap="none" strike="noStrike">
              <a:solidFill>
                <a:srgbClr val="595959"/>
              </a:solidFill>
              <a:latin typeface="Arial"/>
              <a:ea typeface="Arial"/>
              <a:cs typeface="Arial"/>
              <a:sym typeface="Arial"/>
            </a:endParaRPr>
          </a:p>
          <a:p>
            <a:pPr indent="0" lvl="0" marL="0" marR="0" rtl="0" algn="ctr">
              <a:lnSpc>
                <a:spcPct val="114000"/>
              </a:lnSpc>
              <a:spcBef>
                <a:spcPts val="0"/>
              </a:spcBef>
              <a:spcAft>
                <a:spcPts val="0"/>
              </a:spcAft>
              <a:buClr>
                <a:srgbClr val="000000"/>
              </a:buClr>
              <a:buSzPts val="1100"/>
              <a:buFont typeface="Arial"/>
              <a:buNone/>
            </a:pPr>
            <a:r>
              <a:rPr b="1" i="0" lang="en" sz="1800" u="none" cap="none" strike="noStrike">
                <a:solidFill>
                  <a:srgbClr val="595959"/>
                </a:solidFill>
                <a:latin typeface="Arial"/>
                <a:ea typeface="Arial"/>
                <a:cs typeface="Arial"/>
                <a:sym typeface="Arial"/>
              </a:rPr>
              <a:t>#Casos posibles</a:t>
            </a:r>
            <a:endParaRPr b="0" i="0" sz="1400" u="none" cap="none" strike="noStrike">
              <a:solidFill>
                <a:srgbClr val="000000"/>
              </a:solidFill>
              <a:latin typeface="Arial"/>
              <a:ea typeface="Arial"/>
              <a:cs typeface="Arial"/>
              <a:sym typeface="Arial"/>
            </a:endParaRPr>
          </a:p>
        </p:txBody>
      </p:sp>
      <p:cxnSp>
        <p:nvCxnSpPr>
          <p:cNvPr id="141" name="Google Shape;141;g24831cadf28_0_347"/>
          <p:cNvCxnSpPr/>
          <p:nvPr/>
        </p:nvCxnSpPr>
        <p:spPr>
          <a:xfrm>
            <a:off x="3783925" y="2194525"/>
            <a:ext cx="2851500" cy="0"/>
          </a:xfrm>
          <a:prstGeom prst="straightConnector1">
            <a:avLst/>
          </a:prstGeom>
          <a:noFill/>
          <a:ln cap="flat" cmpd="sng" w="9525">
            <a:solidFill>
              <a:srgbClr val="595959"/>
            </a:solidFill>
            <a:prstDash val="solid"/>
            <a:round/>
            <a:headEnd len="sm" w="sm" type="none"/>
            <a:tailEnd len="sm" w="sm" type="none"/>
          </a:ln>
        </p:spPr>
      </p:cxnSp>
      <p:sp>
        <p:nvSpPr>
          <p:cNvPr id="142" name="Google Shape;142;g24831cadf28_0_347"/>
          <p:cNvSpPr txBox="1"/>
          <p:nvPr/>
        </p:nvSpPr>
        <p:spPr>
          <a:xfrm>
            <a:off x="2833725" y="1966225"/>
            <a:ext cx="113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595959"/>
                </a:solidFill>
                <a:latin typeface="Arial"/>
                <a:ea typeface="Arial"/>
                <a:cs typeface="Arial"/>
                <a:sym typeface="Arial"/>
              </a:rPr>
              <a:t>P(A) = </a:t>
            </a:r>
            <a:endParaRPr b="0" i="0" sz="1400" u="none" cap="none" strike="noStrike">
              <a:solidFill>
                <a:srgbClr val="000000"/>
              </a:solidFill>
              <a:latin typeface="Arial"/>
              <a:ea typeface="Arial"/>
              <a:cs typeface="Arial"/>
              <a:sym typeface="Arial"/>
            </a:endParaRPr>
          </a:p>
        </p:txBody>
      </p:sp>
      <p:sp>
        <p:nvSpPr>
          <p:cNvPr id="143" name="Google Shape;143;g24831cadf28_0_347"/>
          <p:cNvSpPr txBox="1"/>
          <p:nvPr/>
        </p:nvSpPr>
        <p:spPr>
          <a:xfrm>
            <a:off x="235375" y="2893725"/>
            <a:ext cx="66597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IMPORTANTE: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La probabilidad es siempre positiva!</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La probabilidad está siempre en el intervalo [0, 1]</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La probabilidad de un suceso del que hay certeza absoluta es 1.</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La suma de las probabilidades de un suceso y su contrario es 1.</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 P(</a:t>
            </a:r>
            <a:r>
              <a:rPr b="1" i="0" lang="en" sz="1400" u="none" cap="none" strike="noStrike">
                <a:solidFill>
                  <a:schemeClr val="dk1"/>
                </a:solidFill>
                <a:latin typeface="Arial"/>
                <a:ea typeface="Arial"/>
                <a:cs typeface="Arial"/>
                <a:sym typeface="Arial"/>
              </a:rPr>
              <a:t>Ø) = 0</a:t>
            </a:r>
            <a:endParaRPr b="1"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24831cadf28_0_5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conjunta</a:t>
            </a:r>
            <a:endParaRPr b="1" i="0" sz="3600" u="none" cap="none" strike="noStrike">
              <a:solidFill>
                <a:srgbClr val="FFFFFF"/>
              </a:solidFill>
              <a:latin typeface="Helvetica Neue"/>
              <a:ea typeface="Helvetica Neue"/>
              <a:cs typeface="Helvetica Neue"/>
              <a:sym typeface="Helvetica Neue"/>
            </a:endParaRPr>
          </a:p>
        </p:txBody>
      </p:sp>
      <p:sp>
        <p:nvSpPr>
          <p:cNvPr id="149" name="Google Shape;149;g24831cadf28_0_55"/>
          <p:cNvSpPr txBox="1"/>
          <p:nvPr/>
        </p:nvSpPr>
        <p:spPr>
          <a:xfrm>
            <a:off x="226318" y="10362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La probabilidad conjunta indica la probabilidad de que dos sucesos aleatorios A y B ocurran al mismo tiempo (simultáneamente). Es decir, </a:t>
            </a:r>
            <a:r>
              <a:rPr b="0" i="0" lang="en" sz="1800" u="none" cap="none" strike="noStrike">
                <a:solidFill>
                  <a:schemeClr val="dk2"/>
                </a:solidFill>
                <a:latin typeface="Arial"/>
                <a:ea typeface="Arial"/>
                <a:cs typeface="Arial"/>
                <a:sym typeface="Arial"/>
              </a:rPr>
              <a:t>P(A ∩ B)</a:t>
            </a:r>
            <a:endParaRPr b="0" i="0" sz="1600" u="none" cap="none" strike="noStrike">
              <a:solidFill>
                <a:srgbClr val="616161"/>
              </a:solidFill>
              <a:latin typeface="Proxima Nova"/>
              <a:ea typeface="Proxima Nova"/>
              <a:cs typeface="Proxima Nova"/>
              <a:sym typeface="Proxima Nova"/>
            </a:endParaRPr>
          </a:p>
        </p:txBody>
      </p:sp>
      <p:sp>
        <p:nvSpPr>
          <p:cNvPr id="150" name="Google Shape;150;g24831cadf28_0_55"/>
          <p:cNvSpPr/>
          <p:nvPr/>
        </p:nvSpPr>
        <p:spPr>
          <a:xfrm>
            <a:off x="899500" y="2266925"/>
            <a:ext cx="3021000" cy="2264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1" name="Google Shape;151;g24831cadf28_0_55"/>
          <p:cNvPicPr preferRelativeResize="0"/>
          <p:nvPr/>
        </p:nvPicPr>
        <p:blipFill rotWithShape="1">
          <a:blip r:embed="rId3">
            <a:alphaModFix/>
          </a:blip>
          <a:srcRect b="0" l="0" r="0" t="0"/>
          <a:stretch/>
        </p:blipFill>
        <p:spPr>
          <a:xfrm>
            <a:off x="432825" y="2084726"/>
            <a:ext cx="316575" cy="384100"/>
          </a:xfrm>
          <a:prstGeom prst="rect">
            <a:avLst/>
          </a:prstGeom>
          <a:noFill/>
          <a:ln>
            <a:noFill/>
          </a:ln>
        </p:spPr>
      </p:pic>
      <p:sp>
        <p:nvSpPr>
          <p:cNvPr id="152" name="Google Shape;152;g24831cadf28_0_55"/>
          <p:cNvSpPr/>
          <p:nvPr/>
        </p:nvSpPr>
        <p:spPr>
          <a:xfrm>
            <a:off x="1270600" y="2809375"/>
            <a:ext cx="1425900" cy="14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g24831cadf28_0_55"/>
          <p:cNvSpPr/>
          <p:nvPr/>
        </p:nvSpPr>
        <p:spPr>
          <a:xfrm>
            <a:off x="2123500" y="2837825"/>
            <a:ext cx="1425900" cy="14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4" name="Google Shape;154;g24831cadf28_0_55"/>
          <p:cNvPicPr preferRelativeResize="0"/>
          <p:nvPr/>
        </p:nvPicPr>
        <p:blipFill rotWithShape="1">
          <a:blip r:embed="rId4">
            <a:alphaModFix/>
          </a:blip>
          <a:srcRect b="0" l="0" r="0" t="0"/>
          <a:stretch/>
        </p:blipFill>
        <p:spPr>
          <a:xfrm>
            <a:off x="1098796" y="2510227"/>
            <a:ext cx="316575" cy="327608"/>
          </a:xfrm>
          <a:prstGeom prst="rect">
            <a:avLst/>
          </a:prstGeom>
          <a:noFill/>
          <a:ln>
            <a:noFill/>
          </a:ln>
        </p:spPr>
      </p:pic>
      <p:pic>
        <p:nvPicPr>
          <p:cNvPr id="155" name="Google Shape;155;g24831cadf28_0_55"/>
          <p:cNvPicPr preferRelativeResize="0"/>
          <p:nvPr/>
        </p:nvPicPr>
        <p:blipFill rotWithShape="1">
          <a:blip r:embed="rId5">
            <a:alphaModFix/>
          </a:blip>
          <a:srcRect b="0" l="0" r="0" t="0"/>
          <a:stretch/>
        </p:blipFill>
        <p:spPr>
          <a:xfrm>
            <a:off x="3285451" y="2541501"/>
            <a:ext cx="346876" cy="327600"/>
          </a:xfrm>
          <a:prstGeom prst="rect">
            <a:avLst/>
          </a:prstGeom>
          <a:noFill/>
          <a:ln>
            <a:noFill/>
          </a:ln>
        </p:spPr>
      </p:pic>
      <p:sp>
        <p:nvSpPr>
          <p:cNvPr id="156" name="Google Shape;156;g24831cadf28_0_55"/>
          <p:cNvSpPr txBox="1"/>
          <p:nvPr/>
        </p:nvSpPr>
        <p:spPr>
          <a:xfrm>
            <a:off x="4403125" y="2000475"/>
            <a:ext cx="4096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Experimento aleatorio:</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Arrojar un dado y anotar el resultado.</a:t>
            </a:r>
            <a:endParaRPr b="0" i="0" sz="1400" u="none" cap="none" strike="noStrike">
              <a:solidFill>
                <a:srgbClr val="000000"/>
              </a:solidFill>
              <a:latin typeface="Arial"/>
              <a:ea typeface="Arial"/>
              <a:cs typeface="Arial"/>
              <a:sym typeface="Arial"/>
            </a:endParaRPr>
          </a:p>
        </p:txBody>
      </p:sp>
      <p:sp>
        <p:nvSpPr>
          <p:cNvPr id="157" name="Google Shape;157;g24831cadf28_0_55"/>
          <p:cNvSpPr txBox="1"/>
          <p:nvPr/>
        </p:nvSpPr>
        <p:spPr>
          <a:xfrm>
            <a:off x="4403125" y="2513325"/>
            <a:ext cx="307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 = {1, 2, 3, 4, 5, 6}</a:t>
            </a:r>
            <a:endParaRPr b="0" i="0" sz="1400" u="none" cap="none" strike="noStrike">
              <a:solidFill>
                <a:srgbClr val="000000"/>
              </a:solidFill>
              <a:latin typeface="Arial"/>
              <a:ea typeface="Arial"/>
              <a:cs typeface="Arial"/>
              <a:sym typeface="Arial"/>
            </a:endParaRPr>
          </a:p>
        </p:txBody>
      </p:sp>
      <p:sp>
        <p:nvSpPr>
          <p:cNvPr id="158" name="Google Shape;158;g24831cadf28_0_55"/>
          <p:cNvSpPr txBox="1"/>
          <p:nvPr/>
        </p:nvSpPr>
        <p:spPr>
          <a:xfrm>
            <a:off x="4403125" y="2888575"/>
            <a:ext cx="307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A: Obtener un número par</a:t>
            </a:r>
            <a:endParaRPr b="1" i="0" sz="1400" u="none" cap="none" strike="noStrike">
              <a:solidFill>
                <a:srgbClr val="000000"/>
              </a:solidFill>
              <a:latin typeface="Arial"/>
              <a:ea typeface="Arial"/>
              <a:cs typeface="Arial"/>
              <a:sym typeface="Arial"/>
            </a:endParaRPr>
          </a:p>
        </p:txBody>
      </p:sp>
      <p:sp>
        <p:nvSpPr>
          <p:cNvPr id="159" name="Google Shape;159;g24831cadf28_0_55"/>
          <p:cNvSpPr txBox="1"/>
          <p:nvPr/>
        </p:nvSpPr>
        <p:spPr>
          <a:xfrm>
            <a:off x="4403125" y="3159800"/>
            <a:ext cx="307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 = {2, 4, 6}</a:t>
            </a:r>
            <a:endParaRPr b="0" i="0" sz="1400" u="none" cap="none" strike="noStrike">
              <a:solidFill>
                <a:srgbClr val="000000"/>
              </a:solidFill>
              <a:latin typeface="Arial"/>
              <a:ea typeface="Arial"/>
              <a:cs typeface="Arial"/>
              <a:sym typeface="Arial"/>
            </a:endParaRPr>
          </a:p>
        </p:txBody>
      </p:sp>
      <p:sp>
        <p:nvSpPr>
          <p:cNvPr id="160" name="Google Shape;160;g24831cadf28_0_55"/>
          <p:cNvSpPr txBox="1"/>
          <p:nvPr/>
        </p:nvSpPr>
        <p:spPr>
          <a:xfrm>
            <a:off x="4403125" y="3476525"/>
            <a:ext cx="307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B: Obtener un múltiplo de 3</a:t>
            </a:r>
            <a:endParaRPr b="1" i="0" sz="1400" u="none" cap="none" strike="noStrike">
              <a:solidFill>
                <a:srgbClr val="000000"/>
              </a:solidFill>
              <a:latin typeface="Arial"/>
              <a:ea typeface="Arial"/>
              <a:cs typeface="Arial"/>
              <a:sym typeface="Arial"/>
            </a:endParaRPr>
          </a:p>
        </p:txBody>
      </p:sp>
      <p:sp>
        <p:nvSpPr>
          <p:cNvPr id="161" name="Google Shape;161;g24831cadf28_0_55"/>
          <p:cNvSpPr txBox="1"/>
          <p:nvPr/>
        </p:nvSpPr>
        <p:spPr>
          <a:xfrm>
            <a:off x="4403125" y="3774125"/>
            <a:ext cx="307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 = {3, 6}</a:t>
            </a:r>
            <a:endParaRPr b="0" i="0" sz="1400" u="none" cap="none" strike="noStrike">
              <a:solidFill>
                <a:srgbClr val="000000"/>
              </a:solidFill>
              <a:latin typeface="Arial"/>
              <a:ea typeface="Arial"/>
              <a:cs typeface="Arial"/>
              <a:sym typeface="Arial"/>
            </a:endParaRPr>
          </a:p>
        </p:txBody>
      </p:sp>
      <p:sp>
        <p:nvSpPr>
          <p:cNvPr id="162" name="Google Shape;162;g24831cadf28_0_55"/>
          <p:cNvSpPr txBox="1"/>
          <p:nvPr/>
        </p:nvSpPr>
        <p:spPr>
          <a:xfrm>
            <a:off x="2349700" y="2378275"/>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1</a:t>
            </a:r>
            <a:endParaRPr b="0" i="0" sz="1600" u="none" cap="none" strike="noStrike">
              <a:solidFill>
                <a:srgbClr val="000000"/>
              </a:solidFill>
              <a:latin typeface="Arial"/>
              <a:ea typeface="Arial"/>
              <a:cs typeface="Arial"/>
              <a:sym typeface="Arial"/>
            </a:endParaRPr>
          </a:p>
        </p:txBody>
      </p:sp>
      <p:sp>
        <p:nvSpPr>
          <p:cNvPr id="163" name="Google Shape;163;g24831cadf28_0_55"/>
          <p:cNvSpPr txBox="1"/>
          <p:nvPr/>
        </p:nvSpPr>
        <p:spPr>
          <a:xfrm>
            <a:off x="1532650" y="3142125"/>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2</a:t>
            </a:r>
            <a:endParaRPr b="0" i="0" sz="1600" u="none" cap="none" strike="noStrike">
              <a:solidFill>
                <a:srgbClr val="000000"/>
              </a:solidFill>
              <a:latin typeface="Arial"/>
              <a:ea typeface="Arial"/>
              <a:cs typeface="Arial"/>
              <a:sym typeface="Arial"/>
            </a:endParaRPr>
          </a:p>
        </p:txBody>
      </p:sp>
      <p:sp>
        <p:nvSpPr>
          <p:cNvPr id="164" name="Google Shape;164;g24831cadf28_0_55"/>
          <p:cNvSpPr txBox="1"/>
          <p:nvPr/>
        </p:nvSpPr>
        <p:spPr>
          <a:xfrm>
            <a:off x="2967888" y="3056850"/>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3</a:t>
            </a:r>
            <a:endParaRPr b="0" i="0" sz="1600" u="none" cap="none" strike="noStrike">
              <a:solidFill>
                <a:srgbClr val="000000"/>
              </a:solidFill>
              <a:latin typeface="Arial"/>
              <a:ea typeface="Arial"/>
              <a:cs typeface="Arial"/>
              <a:sym typeface="Arial"/>
            </a:endParaRPr>
          </a:p>
        </p:txBody>
      </p:sp>
      <p:sp>
        <p:nvSpPr>
          <p:cNvPr id="165" name="Google Shape;165;g24831cadf28_0_55"/>
          <p:cNvSpPr txBox="1"/>
          <p:nvPr/>
        </p:nvSpPr>
        <p:spPr>
          <a:xfrm>
            <a:off x="1668575" y="3517375"/>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4</a:t>
            </a:r>
            <a:endParaRPr b="0" i="0" sz="1600" u="none" cap="none" strike="noStrike">
              <a:solidFill>
                <a:srgbClr val="000000"/>
              </a:solidFill>
              <a:latin typeface="Arial"/>
              <a:ea typeface="Arial"/>
              <a:cs typeface="Arial"/>
              <a:sym typeface="Arial"/>
            </a:endParaRPr>
          </a:p>
        </p:txBody>
      </p:sp>
      <p:sp>
        <p:nvSpPr>
          <p:cNvPr id="166" name="Google Shape;166;g24831cadf28_0_55"/>
          <p:cNvSpPr txBox="1"/>
          <p:nvPr/>
        </p:nvSpPr>
        <p:spPr>
          <a:xfrm>
            <a:off x="3459675" y="4002725"/>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5</a:t>
            </a:r>
            <a:endParaRPr b="0" i="0" sz="1600" u="none" cap="none" strike="noStrike">
              <a:solidFill>
                <a:srgbClr val="000000"/>
              </a:solidFill>
              <a:latin typeface="Arial"/>
              <a:ea typeface="Arial"/>
              <a:cs typeface="Arial"/>
              <a:sym typeface="Arial"/>
            </a:endParaRPr>
          </a:p>
        </p:txBody>
      </p:sp>
      <p:sp>
        <p:nvSpPr>
          <p:cNvPr id="167" name="Google Shape;167;g24831cadf28_0_55"/>
          <p:cNvSpPr txBox="1"/>
          <p:nvPr/>
        </p:nvSpPr>
        <p:spPr>
          <a:xfrm>
            <a:off x="2236600" y="3357125"/>
            <a:ext cx="3468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6</a:t>
            </a:r>
            <a:endParaRPr b="0" i="0" sz="1600" u="none" cap="none" strike="noStrike">
              <a:solidFill>
                <a:srgbClr val="000000"/>
              </a:solidFill>
              <a:latin typeface="Arial"/>
              <a:ea typeface="Arial"/>
              <a:cs typeface="Arial"/>
              <a:sym typeface="Arial"/>
            </a:endParaRPr>
          </a:p>
        </p:txBody>
      </p:sp>
      <p:sp>
        <p:nvSpPr>
          <p:cNvPr id="168" name="Google Shape;168;g24831cadf28_0_55"/>
          <p:cNvSpPr txBox="1"/>
          <p:nvPr/>
        </p:nvSpPr>
        <p:spPr>
          <a:xfrm>
            <a:off x="4410525" y="4177025"/>
            <a:ext cx="457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P(A∩B): Sacar un número par que sea múltiplo de 3</a:t>
            </a:r>
            <a:endParaRPr b="0" i="0" sz="1400" u="none" cap="none" strike="noStrike">
              <a:solidFill>
                <a:srgbClr val="000000"/>
              </a:solidFill>
              <a:latin typeface="Arial"/>
              <a:ea typeface="Arial"/>
              <a:cs typeface="Arial"/>
              <a:sym typeface="Arial"/>
            </a:endParaRPr>
          </a:p>
        </p:txBody>
      </p:sp>
      <p:sp>
        <p:nvSpPr>
          <p:cNvPr id="169" name="Google Shape;169;g24831cadf28_0_55"/>
          <p:cNvSpPr txBox="1"/>
          <p:nvPr/>
        </p:nvSpPr>
        <p:spPr>
          <a:xfrm>
            <a:off x="4441675" y="447100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P(A∩B) = 1/6</a:t>
            </a:r>
            <a:endParaRPr b="1"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4831cadf28_0_8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Eventos mutuamente excluyentes</a:t>
            </a:r>
            <a:endParaRPr b="1" i="0" sz="3600" u="none" cap="none" strike="noStrike">
              <a:solidFill>
                <a:srgbClr val="FFFFFF"/>
              </a:solidFill>
              <a:latin typeface="Helvetica Neue"/>
              <a:ea typeface="Helvetica Neue"/>
              <a:cs typeface="Helvetica Neue"/>
              <a:sym typeface="Helvetica Neue"/>
            </a:endParaRPr>
          </a:p>
        </p:txBody>
      </p:sp>
      <p:sp>
        <p:nvSpPr>
          <p:cNvPr id="175" name="Google Shape;175;g24831cadf28_0_80"/>
          <p:cNvSpPr txBox="1"/>
          <p:nvPr/>
        </p:nvSpPr>
        <p:spPr>
          <a:xfrm>
            <a:off x="226318" y="10362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Dos eventos aleatorios A y B se dicen “mutuamente excluyentes” o “incompatibles” si la ocurrencia de uno no permite la ocurrencia del otro.</a:t>
            </a:r>
            <a:endParaRPr b="0" i="0" sz="1600" u="none" cap="none" strike="noStrike">
              <a:solidFill>
                <a:srgbClr val="616161"/>
              </a:solidFill>
              <a:latin typeface="Proxima Nova"/>
              <a:ea typeface="Proxima Nova"/>
              <a:cs typeface="Proxima Nova"/>
              <a:sym typeface="Proxima Nova"/>
            </a:endParaRPr>
          </a:p>
        </p:txBody>
      </p:sp>
      <p:sp>
        <p:nvSpPr>
          <p:cNvPr id="176" name="Google Shape;176;g24831cadf28_0_80"/>
          <p:cNvSpPr/>
          <p:nvPr/>
        </p:nvSpPr>
        <p:spPr>
          <a:xfrm>
            <a:off x="652770" y="2120847"/>
            <a:ext cx="1423800" cy="106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7" name="Google Shape;177;g24831cadf28_0_80"/>
          <p:cNvPicPr preferRelativeResize="0"/>
          <p:nvPr/>
        </p:nvPicPr>
        <p:blipFill rotWithShape="1">
          <a:blip r:embed="rId3">
            <a:alphaModFix/>
          </a:blip>
          <a:srcRect b="0" l="0" r="0" t="0"/>
          <a:stretch/>
        </p:blipFill>
        <p:spPr>
          <a:xfrm>
            <a:off x="432825" y="2034975"/>
            <a:ext cx="149202" cy="181029"/>
          </a:xfrm>
          <a:prstGeom prst="rect">
            <a:avLst/>
          </a:prstGeom>
          <a:noFill/>
          <a:ln>
            <a:noFill/>
          </a:ln>
        </p:spPr>
      </p:pic>
      <p:sp>
        <p:nvSpPr>
          <p:cNvPr id="178" name="Google Shape;178;g24831cadf28_0_80"/>
          <p:cNvSpPr/>
          <p:nvPr/>
        </p:nvSpPr>
        <p:spPr>
          <a:xfrm>
            <a:off x="827670" y="2376507"/>
            <a:ext cx="672000" cy="692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g24831cadf28_0_80"/>
          <p:cNvSpPr/>
          <p:nvPr/>
        </p:nvSpPr>
        <p:spPr>
          <a:xfrm>
            <a:off x="1229643" y="2389915"/>
            <a:ext cx="672000" cy="692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0" name="Google Shape;180;g24831cadf28_0_80"/>
          <p:cNvPicPr preferRelativeResize="0"/>
          <p:nvPr/>
        </p:nvPicPr>
        <p:blipFill rotWithShape="1">
          <a:blip r:embed="rId4">
            <a:alphaModFix/>
          </a:blip>
          <a:srcRect b="0" l="0" r="0" t="0"/>
          <a:stretch/>
        </p:blipFill>
        <p:spPr>
          <a:xfrm>
            <a:off x="746698" y="2235516"/>
            <a:ext cx="149202" cy="154404"/>
          </a:xfrm>
          <a:prstGeom prst="rect">
            <a:avLst/>
          </a:prstGeom>
          <a:noFill/>
          <a:ln>
            <a:noFill/>
          </a:ln>
        </p:spPr>
      </p:pic>
      <p:pic>
        <p:nvPicPr>
          <p:cNvPr id="181" name="Google Shape;181;g24831cadf28_0_80"/>
          <p:cNvPicPr preferRelativeResize="0"/>
          <p:nvPr/>
        </p:nvPicPr>
        <p:blipFill rotWithShape="1">
          <a:blip r:embed="rId5">
            <a:alphaModFix/>
          </a:blip>
          <a:srcRect b="0" l="0" r="0" t="0"/>
          <a:stretch/>
        </p:blipFill>
        <p:spPr>
          <a:xfrm>
            <a:off x="1777272" y="2250256"/>
            <a:ext cx="163483" cy="154400"/>
          </a:xfrm>
          <a:prstGeom prst="rect">
            <a:avLst/>
          </a:prstGeom>
          <a:noFill/>
          <a:ln>
            <a:noFill/>
          </a:ln>
        </p:spPr>
      </p:pic>
      <p:sp>
        <p:nvSpPr>
          <p:cNvPr id="182" name="Google Shape;182;g24831cadf28_0_80"/>
          <p:cNvSpPr/>
          <p:nvPr/>
        </p:nvSpPr>
        <p:spPr>
          <a:xfrm>
            <a:off x="652770" y="3455347"/>
            <a:ext cx="1423800" cy="106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 name="Google Shape;183;g24831cadf28_0_80"/>
          <p:cNvPicPr preferRelativeResize="0"/>
          <p:nvPr/>
        </p:nvPicPr>
        <p:blipFill rotWithShape="1">
          <a:blip r:embed="rId3">
            <a:alphaModFix/>
          </a:blip>
          <a:srcRect b="0" l="0" r="0" t="0"/>
          <a:stretch/>
        </p:blipFill>
        <p:spPr>
          <a:xfrm>
            <a:off x="432825" y="3369475"/>
            <a:ext cx="149202" cy="181029"/>
          </a:xfrm>
          <a:prstGeom prst="rect">
            <a:avLst/>
          </a:prstGeom>
          <a:noFill/>
          <a:ln>
            <a:noFill/>
          </a:ln>
        </p:spPr>
      </p:pic>
      <p:sp>
        <p:nvSpPr>
          <p:cNvPr id="184" name="Google Shape;184;g24831cadf28_0_80"/>
          <p:cNvSpPr/>
          <p:nvPr/>
        </p:nvSpPr>
        <p:spPr>
          <a:xfrm>
            <a:off x="751474" y="3833976"/>
            <a:ext cx="552600" cy="5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g24831cadf28_0_80"/>
          <p:cNvSpPr/>
          <p:nvPr/>
        </p:nvSpPr>
        <p:spPr>
          <a:xfrm>
            <a:off x="1425249" y="3833976"/>
            <a:ext cx="552600" cy="5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6" name="Google Shape;186;g24831cadf28_0_80"/>
          <p:cNvPicPr preferRelativeResize="0"/>
          <p:nvPr/>
        </p:nvPicPr>
        <p:blipFill rotWithShape="1">
          <a:blip r:embed="rId4">
            <a:alphaModFix/>
          </a:blip>
          <a:srcRect b="0" l="0" r="0" t="0"/>
          <a:stretch/>
        </p:blipFill>
        <p:spPr>
          <a:xfrm>
            <a:off x="953173" y="3598416"/>
            <a:ext cx="149202" cy="154404"/>
          </a:xfrm>
          <a:prstGeom prst="rect">
            <a:avLst/>
          </a:prstGeom>
          <a:noFill/>
          <a:ln>
            <a:noFill/>
          </a:ln>
        </p:spPr>
      </p:pic>
      <p:pic>
        <p:nvPicPr>
          <p:cNvPr id="187" name="Google Shape;187;g24831cadf28_0_80"/>
          <p:cNvPicPr preferRelativeResize="0"/>
          <p:nvPr/>
        </p:nvPicPr>
        <p:blipFill rotWithShape="1">
          <a:blip r:embed="rId5">
            <a:alphaModFix/>
          </a:blip>
          <a:srcRect b="0" l="0" r="0" t="0"/>
          <a:stretch/>
        </p:blipFill>
        <p:spPr>
          <a:xfrm>
            <a:off x="1619810" y="3598431"/>
            <a:ext cx="163483" cy="154400"/>
          </a:xfrm>
          <a:prstGeom prst="rect">
            <a:avLst/>
          </a:prstGeom>
          <a:noFill/>
          <a:ln>
            <a:noFill/>
          </a:ln>
        </p:spPr>
      </p:pic>
      <p:sp>
        <p:nvSpPr>
          <p:cNvPr id="188" name="Google Shape;188;g24831cadf28_0_80"/>
          <p:cNvSpPr txBox="1"/>
          <p:nvPr/>
        </p:nvSpPr>
        <p:spPr>
          <a:xfrm>
            <a:off x="2235400" y="2292200"/>
            <a:ext cx="4096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No son mutuamente excluyentes!</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Hay casos que se cuentan tanto en A como en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Es decir, </a:t>
            </a:r>
            <a:r>
              <a:rPr b="0" i="0" lang="en" sz="1400" u="none" cap="none" strike="noStrike">
                <a:solidFill>
                  <a:schemeClr val="dk1"/>
                </a:solidFill>
                <a:latin typeface="Arial"/>
                <a:ea typeface="Arial"/>
                <a:cs typeface="Arial"/>
                <a:sym typeface="Arial"/>
              </a:rPr>
              <a:t>A∩B ≠ Ø → P(A∩B) ≠ 0</a:t>
            </a:r>
            <a:endParaRPr b="0" i="0" sz="1400" u="none" cap="none" strike="noStrike">
              <a:solidFill>
                <a:srgbClr val="000000"/>
              </a:solidFill>
              <a:latin typeface="Arial"/>
              <a:ea typeface="Arial"/>
              <a:cs typeface="Arial"/>
              <a:sym typeface="Arial"/>
            </a:endParaRPr>
          </a:p>
        </p:txBody>
      </p:sp>
      <p:sp>
        <p:nvSpPr>
          <p:cNvPr id="189" name="Google Shape;189;g24831cadf28_0_80"/>
          <p:cNvSpPr txBox="1"/>
          <p:nvPr/>
        </p:nvSpPr>
        <p:spPr>
          <a:xfrm>
            <a:off x="2224525" y="3604900"/>
            <a:ext cx="4096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Son mutuamente excluyentes!</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Si ocurre A, no ocurre B, y viceversa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Arial"/>
                <a:ea typeface="Arial"/>
                <a:cs typeface="Arial"/>
                <a:sym typeface="Arial"/>
              </a:rPr>
              <a:t>Es decir, A∩B = Ø → P(A∩B) = 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24831cadf28_0_172"/>
          <p:cNvSpPr txBox="1"/>
          <p:nvPr/>
        </p:nvSpPr>
        <p:spPr>
          <a:xfrm>
            <a:off x="5978550" y="2066850"/>
            <a:ext cx="29025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Ejemplo: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Para el experimento aleatorio arrojar un dado y registrar el resultado, calcular las probabilidades de los eventos:</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A: sacar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 sacar impar.</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C: sacar múltiplo de 5.</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1" i="0" lang="en" sz="1400" u="none" cap="none" strike="noStrike">
                <a:solidFill>
                  <a:srgbClr val="000000"/>
                </a:solidFill>
                <a:latin typeface="Arial"/>
                <a:ea typeface="Arial"/>
                <a:cs typeface="Arial"/>
                <a:sym typeface="Arial"/>
              </a:rPr>
            </a:br>
            <a:r>
              <a:rPr b="1" i="0" lang="en" sz="1400" u="none" cap="none" strike="noStrike">
                <a:solidFill>
                  <a:srgbClr val="000000"/>
                </a:solidFill>
                <a:latin typeface="Arial"/>
                <a:ea typeface="Arial"/>
                <a:cs typeface="Arial"/>
                <a:sym typeface="Arial"/>
              </a:rPr>
              <a:t>P(AUB) =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P(AUC) = ?</a:t>
            </a:r>
            <a:br>
              <a:rPr b="1" i="0" lang="en" sz="1400" u="none" cap="none" strike="noStrike">
                <a:solidFill>
                  <a:srgbClr val="000000"/>
                </a:solidFill>
                <a:latin typeface="Arial"/>
                <a:ea typeface="Arial"/>
                <a:cs typeface="Arial"/>
                <a:sym typeface="Arial"/>
              </a:rPr>
            </a:br>
            <a:r>
              <a:rPr b="1" i="0" lang="en" sz="1400" u="none" cap="none" strike="noStrike">
                <a:solidFill>
                  <a:srgbClr val="000000"/>
                </a:solidFill>
                <a:latin typeface="Arial"/>
                <a:ea typeface="Arial"/>
                <a:cs typeface="Arial"/>
                <a:sym typeface="Arial"/>
              </a:rPr>
              <a:t>P(BUC) = ?</a:t>
            </a:r>
            <a:endParaRPr b="1" i="0" sz="1400" u="none" cap="none" strike="noStrike">
              <a:solidFill>
                <a:srgbClr val="000000"/>
              </a:solidFill>
              <a:latin typeface="Arial"/>
              <a:ea typeface="Arial"/>
              <a:cs typeface="Arial"/>
              <a:sym typeface="Arial"/>
            </a:endParaRPr>
          </a:p>
        </p:txBody>
      </p:sp>
      <p:sp>
        <p:nvSpPr>
          <p:cNvPr id="195" name="Google Shape;195;g24831cadf28_0_17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Regla de la suma</a:t>
            </a:r>
            <a:endParaRPr b="1" i="0" sz="3600" u="none" cap="none" strike="noStrike">
              <a:solidFill>
                <a:srgbClr val="FFFFFF"/>
              </a:solidFill>
              <a:latin typeface="Helvetica Neue"/>
              <a:ea typeface="Helvetica Neue"/>
              <a:cs typeface="Helvetica Neue"/>
              <a:sym typeface="Helvetica Neue"/>
            </a:endParaRPr>
          </a:p>
        </p:txBody>
      </p:sp>
      <p:sp>
        <p:nvSpPr>
          <p:cNvPr id="196" name="Google Shape;196;g24831cadf28_0_172"/>
          <p:cNvSpPr txBox="1"/>
          <p:nvPr/>
        </p:nvSpPr>
        <p:spPr>
          <a:xfrm>
            <a:off x="226318" y="8838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Cuando queremos calcular la probabilidad de que ocurra un evento aleatorio A o un evento aleatorio B, podemos aplicar </a:t>
            </a:r>
            <a:r>
              <a:rPr b="1" i="0" lang="en" sz="1800" u="none" cap="none" strike="noStrike">
                <a:solidFill>
                  <a:srgbClr val="616161"/>
                </a:solidFill>
                <a:latin typeface="Proxima Nova"/>
                <a:ea typeface="Proxima Nova"/>
                <a:cs typeface="Proxima Nova"/>
                <a:sym typeface="Proxima Nova"/>
              </a:rPr>
              <a:t>la regla de la suma.</a:t>
            </a:r>
            <a:endParaRPr b="1" i="0" sz="1600" u="none" cap="none" strike="noStrike">
              <a:solidFill>
                <a:srgbClr val="616161"/>
              </a:solidFill>
              <a:latin typeface="Proxima Nova"/>
              <a:ea typeface="Proxima Nova"/>
              <a:cs typeface="Proxima Nova"/>
              <a:sym typeface="Proxima Nova"/>
            </a:endParaRPr>
          </a:p>
        </p:txBody>
      </p:sp>
      <p:sp>
        <p:nvSpPr>
          <p:cNvPr id="197" name="Google Shape;197;g24831cadf28_0_172"/>
          <p:cNvSpPr/>
          <p:nvPr/>
        </p:nvSpPr>
        <p:spPr>
          <a:xfrm>
            <a:off x="576570" y="2425647"/>
            <a:ext cx="1423800" cy="106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8" name="Google Shape;198;g24831cadf28_0_172"/>
          <p:cNvPicPr preferRelativeResize="0"/>
          <p:nvPr/>
        </p:nvPicPr>
        <p:blipFill rotWithShape="1">
          <a:blip r:embed="rId3">
            <a:alphaModFix/>
          </a:blip>
          <a:srcRect b="0" l="0" r="0" t="0"/>
          <a:stretch/>
        </p:blipFill>
        <p:spPr>
          <a:xfrm>
            <a:off x="356625" y="2339775"/>
            <a:ext cx="149202" cy="181029"/>
          </a:xfrm>
          <a:prstGeom prst="rect">
            <a:avLst/>
          </a:prstGeom>
          <a:noFill/>
          <a:ln>
            <a:noFill/>
          </a:ln>
        </p:spPr>
      </p:pic>
      <p:sp>
        <p:nvSpPr>
          <p:cNvPr id="199" name="Google Shape;199;g24831cadf28_0_172"/>
          <p:cNvSpPr/>
          <p:nvPr/>
        </p:nvSpPr>
        <p:spPr>
          <a:xfrm>
            <a:off x="751470" y="2681307"/>
            <a:ext cx="672000" cy="692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24831cadf28_0_172"/>
          <p:cNvSpPr/>
          <p:nvPr/>
        </p:nvSpPr>
        <p:spPr>
          <a:xfrm>
            <a:off x="1153443" y="2694715"/>
            <a:ext cx="672000" cy="692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1" name="Google Shape;201;g24831cadf28_0_172"/>
          <p:cNvPicPr preferRelativeResize="0"/>
          <p:nvPr/>
        </p:nvPicPr>
        <p:blipFill rotWithShape="1">
          <a:blip r:embed="rId4">
            <a:alphaModFix/>
          </a:blip>
          <a:srcRect b="0" l="0" r="0" t="0"/>
          <a:stretch/>
        </p:blipFill>
        <p:spPr>
          <a:xfrm>
            <a:off x="670498" y="2540316"/>
            <a:ext cx="149202" cy="154404"/>
          </a:xfrm>
          <a:prstGeom prst="rect">
            <a:avLst/>
          </a:prstGeom>
          <a:noFill/>
          <a:ln>
            <a:noFill/>
          </a:ln>
        </p:spPr>
      </p:pic>
      <p:pic>
        <p:nvPicPr>
          <p:cNvPr id="202" name="Google Shape;202;g24831cadf28_0_172"/>
          <p:cNvPicPr preferRelativeResize="0"/>
          <p:nvPr/>
        </p:nvPicPr>
        <p:blipFill rotWithShape="1">
          <a:blip r:embed="rId5">
            <a:alphaModFix/>
          </a:blip>
          <a:srcRect b="0" l="0" r="0" t="0"/>
          <a:stretch/>
        </p:blipFill>
        <p:spPr>
          <a:xfrm>
            <a:off x="1701072" y="2555056"/>
            <a:ext cx="163483" cy="154400"/>
          </a:xfrm>
          <a:prstGeom prst="rect">
            <a:avLst/>
          </a:prstGeom>
          <a:noFill/>
          <a:ln>
            <a:noFill/>
          </a:ln>
        </p:spPr>
      </p:pic>
      <p:sp>
        <p:nvSpPr>
          <p:cNvPr id="203" name="Google Shape;203;g24831cadf28_0_172"/>
          <p:cNvSpPr/>
          <p:nvPr/>
        </p:nvSpPr>
        <p:spPr>
          <a:xfrm>
            <a:off x="576570" y="3760147"/>
            <a:ext cx="1423800" cy="1067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g24831cadf28_0_172"/>
          <p:cNvPicPr preferRelativeResize="0"/>
          <p:nvPr/>
        </p:nvPicPr>
        <p:blipFill rotWithShape="1">
          <a:blip r:embed="rId3">
            <a:alphaModFix/>
          </a:blip>
          <a:srcRect b="0" l="0" r="0" t="0"/>
          <a:stretch/>
        </p:blipFill>
        <p:spPr>
          <a:xfrm>
            <a:off x="356625" y="3674275"/>
            <a:ext cx="149202" cy="181029"/>
          </a:xfrm>
          <a:prstGeom prst="rect">
            <a:avLst/>
          </a:prstGeom>
          <a:noFill/>
          <a:ln>
            <a:noFill/>
          </a:ln>
        </p:spPr>
      </p:pic>
      <p:sp>
        <p:nvSpPr>
          <p:cNvPr id="205" name="Google Shape;205;g24831cadf28_0_172"/>
          <p:cNvSpPr/>
          <p:nvPr/>
        </p:nvSpPr>
        <p:spPr>
          <a:xfrm>
            <a:off x="675274" y="4138776"/>
            <a:ext cx="552600" cy="5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24831cadf28_0_172"/>
          <p:cNvSpPr/>
          <p:nvPr/>
        </p:nvSpPr>
        <p:spPr>
          <a:xfrm>
            <a:off x="1349049" y="4138776"/>
            <a:ext cx="552600" cy="5697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7" name="Google Shape;207;g24831cadf28_0_172"/>
          <p:cNvPicPr preferRelativeResize="0"/>
          <p:nvPr/>
        </p:nvPicPr>
        <p:blipFill rotWithShape="1">
          <a:blip r:embed="rId4">
            <a:alphaModFix/>
          </a:blip>
          <a:srcRect b="0" l="0" r="0" t="0"/>
          <a:stretch/>
        </p:blipFill>
        <p:spPr>
          <a:xfrm>
            <a:off x="876973" y="3903216"/>
            <a:ext cx="149202" cy="154404"/>
          </a:xfrm>
          <a:prstGeom prst="rect">
            <a:avLst/>
          </a:prstGeom>
          <a:noFill/>
          <a:ln>
            <a:noFill/>
          </a:ln>
        </p:spPr>
      </p:pic>
      <p:pic>
        <p:nvPicPr>
          <p:cNvPr id="208" name="Google Shape;208;g24831cadf28_0_172"/>
          <p:cNvPicPr preferRelativeResize="0"/>
          <p:nvPr/>
        </p:nvPicPr>
        <p:blipFill rotWithShape="1">
          <a:blip r:embed="rId5">
            <a:alphaModFix/>
          </a:blip>
          <a:srcRect b="0" l="0" r="0" t="0"/>
          <a:stretch/>
        </p:blipFill>
        <p:spPr>
          <a:xfrm>
            <a:off x="1543610" y="3903231"/>
            <a:ext cx="163483" cy="154400"/>
          </a:xfrm>
          <a:prstGeom prst="rect">
            <a:avLst/>
          </a:prstGeom>
          <a:noFill/>
          <a:ln>
            <a:noFill/>
          </a:ln>
        </p:spPr>
      </p:pic>
      <p:sp>
        <p:nvSpPr>
          <p:cNvPr id="209" name="Google Shape;209;g24831cadf28_0_172"/>
          <p:cNvSpPr txBox="1"/>
          <p:nvPr/>
        </p:nvSpPr>
        <p:spPr>
          <a:xfrm>
            <a:off x="2159200" y="2597000"/>
            <a:ext cx="4096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No son mutuamente excluyentes!</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 P(AUB) = P(A) + P(B) - P(</a:t>
            </a:r>
            <a:r>
              <a:rPr b="0" i="0" lang="en" sz="1400" u="none" cap="none" strike="noStrike">
                <a:solidFill>
                  <a:schemeClr val="dk1"/>
                </a:solidFill>
                <a:latin typeface="Arial"/>
                <a:ea typeface="Arial"/>
                <a:cs typeface="Arial"/>
                <a:sym typeface="Arial"/>
              </a:rPr>
              <a:t>A∩B</a:t>
            </a: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10" name="Google Shape;210;g24831cadf28_0_172"/>
          <p:cNvSpPr txBox="1"/>
          <p:nvPr/>
        </p:nvSpPr>
        <p:spPr>
          <a:xfrm>
            <a:off x="2148325" y="3909700"/>
            <a:ext cx="4096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Son mutuamente excluyentes!</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 P(AUB) = P(A) + P(B)</a:t>
            </a:r>
            <a:endParaRPr b="0" i="0" sz="1400" u="none" cap="none" strike="noStrike">
              <a:solidFill>
                <a:srgbClr val="000000"/>
              </a:solidFill>
              <a:latin typeface="Arial"/>
              <a:ea typeface="Arial"/>
              <a:cs typeface="Arial"/>
              <a:sym typeface="Arial"/>
            </a:endParaRPr>
          </a:p>
        </p:txBody>
      </p:sp>
      <p:sp>
        <p:nvSpPr>
          <p:cNvPr id="211" name="Google Shape;211;g24831cadf28_0_172"/>
          <p:cNvSpPr txBox="1"/>
          <p:nvPr/>
        </p:nvSpPr>
        <p:spPr>
          <a:xfrm>
            <a:off x="227525" y="1739025"/>
            <a:ext cx="6109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IMPORTANTE: Cambia según sean excluyentes o no!!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6"/>
          <p:cNvSpPr/>
          <p:nvPr/>
        </p:nvSpPr>
        <p:spPr>
          <a:xfrm>
            <a:off x="4206200" y="3462200"/>
            <a:ext cx="3321600" cy="10017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218" name="Google Shape;218;p6"/>
          <p:cNvSpPr txBox="1"/>
          <p:nvPr/>
        </p:nvSpPr>
        <p:spPr>
          <a:xfrm>
            <a:off x="226318" y="9600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Nos permite calcular la probabilidad de que ocurra un suceso aleatorio A </a:t>
            </a:r>
            <a:br>
              <a:rPr b="0" i="0" lang="en" sz="1800" u="none" cap="none" strike="noStrike">
                <a:solidFill>
                  <a:srgbClr val="616161"/>
                </a:solidFill>
                <a:latin typeface="Proxima Nova"/>
                <a:ea typeface="Proxima Nova"/>
                <a:cs typeface="Proxima Nova"/>
                <a:sym typeface="Proxima Nova"/>
              </a:rPr>
            </a:br>
            <a:r>
              <a:rPr b="0" i="0" lang="en" sz="1800" u="none" cap="none" strike="noStrike">
                <a:solidFill>
                  <a:srgbClr val="616161"/>
                </a:solidFill>
                <a:latin typeface="Proxima Nova"/>
                <a:ea typeface="Proxima Nova"/>
                <a:cs typeface="Proxima Nova"/>
                <a:sym typeface="Proxima Nova"/>
              </a:rPr>
              <a:t>sabiendo que ha ocurrido otro suceso aleatorio B.</a:t>
            </a:r>
            <a:endParaRPr b="0" i="0" sz="1600" u="none" cap="none" strike="noStrike">
              <a:solidFill>
                <a:srgbClr val="616161"/>
              </a:solidFill>
              <a:latin typeface="Proxima Nova"/>
              <a:ea typeface="Proxima Nova"/>
              <a:cs typeface="Proxima Nova"/>
              <a:sym typeface="Proxima Nova"/>
            </a:endParaRPr>
          </a:p>
        </p:txBody>
      </p:sp>
      <p:sp>
        <p:nvSpPr>
          <p:cNvPr id="219" name="Google Shape;219;p6"/>
          <p:cNvSpPr/>
          <p:nvPr/>
        </p:nvSpPr>
        <p:spPr>
          <a:xfrm>
            <a:off x="5793000" y="3594225"/>
            <a:ext cx="12012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P(A ∩ B)</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P(B)</a:t>
            </a:r>
            <a:endParaRPr b="0" i="0" sz="1800" u="none" cap="none" strike="noStrike">
              <a:solidFill>
                <a:srgbClr val="595959"/>
              </a:solidFill>
              <a:latin typeface="Arial"/>
              <a:ea typeface="Arial"/>
              <a:cs typeface="Arial"/>
              <a:sym typeface="Arial"/>
            </a:endParaRPr>
          </a:p>
        </p:txBody>
      </p:sp>
      <p:sp>
        <p:nvSpPr>
          <p:cNvPr id="220" name="Google Shape;220;p6"/>
          <p:cNvSpPr/>
          <p:nvPr/>
        </p:nvSpPr>
        <p:spPr>
          <a:xfrm>
            <a:off x="4515600" y="3594225"/>
            <a:ext cx="12012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P(A</a:t>
            </a:r>
            <a:r>
              <a:rPr b="0" i="0" lang="en" sz="1800" u="none" cap="none" strike="noStrike">
                <a:solidFill>
                  <a:schemeClr val="dk2"/>
                </a:solidFill>
                <a:latin typeface="Arial"/>
                <a:ea typeface="Arial"/>
                <a:cs typeface="Arial"/>
                <a:sym typeface="Arial"/>
              </a:rPr>
              <a:t>|</a:t>
            </a:r>
            <a:r>
              <a:rPr b="0" i="0" lang="en" sz="1800" u="none" cap="none" strike="noStrike">
                <a:solidFill>
                  <a:srgbClr val="595959"/>
                </a:solidFill>
                <a:latin typeface="Arial"/>
                <a:ea typeface="Arial"/>
                <a:cs typeface="Arial"/>
                <a:sym typeface="Arial"/>
              </a:rPr>
              <a:t>B)  =</a:t>
            </a:r>
            <a:endParaRPr b="0" i="0" sz="1400" u="none" cap="none" strike="noStrike">
              <a:solidFill>
                <a:srgbClr val="000000"/>
              </a:solidFill>
              <a:latin typeface="Arial"/>
              <a:ea typeface="Arial"/>
              <a:cs typeface="Arial"/>
              <a:sym typeface="Arial"/>
            </a:endParaRPr>
          </a:p>
        </p:txBody>
      </p:sp>
      <p:cxnSp>
        <p:nvCxnSpPr>
          <p:cNvPr id="221" name="Google Shape;221;p6"/>
          <p:cNvCxnSpPr/>
          <p:nvPr/>
        </p:nvCxnSpPr>
        <p:spPr>
          <a:xfrm>
            <a:off x="5793000" y="3966975"/>
            <a:ext cx="1201200" cy="0"/>
          </a:xfrm>
          <a:prstGeom prst="straightConnector1">
            <a:avLst/>
          </a:prstGeom>
          <a:noFill/>
          <a:ln cap="flat" cmpd="sng" w="9525">
            <a:solidFill>
              <a:srgbClr val="595959"/>
            </a:solidFill>
            <a:prstDash val="solid"/>
            <a:round/>
            <a:headEnd len="sm" w="sm" type="none"/>
            <a:tailEnd len="sm" w="sm" type="none"/>
          </a:ln>
        </p:spPr>
      </p:cxnSp>
      <p:pic>
        <p:nvPicPr>
          <p:cNvPr id="222" name="Google Shape;222;p6"/>
          <p:cNvPicPr preferRelativeResize="0"/>
          <p:nvPr/>
        </p:nvPicPr>
        <p:blipFill rotWithShape="1">
          <a:blip r:embed="rId3">
            <a:alphaModFix/>
          </a:blip>
          <a:srcRect b="27360" l="3042" r="71562" t="27111"/>
          <a:stretch/>
        </p:blipFill>
        <p:spPr>
          <a:xfrm>
            <a:off x="512500" y="1980100"/>
            <a:ext cx="2709499" cy="2732225"/>
          </a:xfrm>
          <a:prstGeom prst="rect">
            <a:avLst/>
          </a:prstGeom>
          <a:noFill/>
          <a:ln>
            <a:noFill/>
          </a:ln>
        </p:spPr>
      </p:pic>
      <p:sp>
        <p:nvSpPr>
          <p:cNvPr id="223" name="Google Shape;223;p6"/>
          <p:cNvSpPr txBox="1"/>
          <p:nvPr/>
        </p:nvSpPr>
        <p:spPr>
          <a:xfrm>
            <a:off x="3453675" y="1980100"/>
            <a:ext cx="5286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Si sabemos que ocurrió B, eso limita el número total de casos a únicamente aquellos que cumplen B.</a:t>
            </a:r>
            <a:endParaRPr b="1" i="0" sz="1400" u="none" cap="none" strike="noStrike">
              <a:solidFill>
                <a:srgbClr val="000000"/>
              </a:solidFill>
              <a:latin typeface="Arial"/>
              <a:ea typeface="Arial"/>
              <a:cs typeface="Arial"/>
              <a:sym typeface="Arial"/>
            </a:endParaRPr>
          </a:p>
        </p:txBody>
      </p:sp>
      <p:sp>
        <p:nvSpPr>
          <p:cNvPr id="224" name="Google Shape;224;p6"/>
          <p:cNvSpPr txBox="1"/>
          <p:nvPr/>
        </p:nvSpPr>
        <p:spPr>
          <a:xfrm>
            <a:off x="3453675" y="2570175"/>
            <a:ext cx="4922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El número de casos favorables es el que cumple A y B simultáneamente (es decir, A ∩ B) </a:t>
            </a:r>
            <a:endParaRPr b="1"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4831cadf28_0_22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230" name="Google Shape;230;g24831cadf28_0_222"/>
          <p:cNvSpPr/>
          <p:nvPr/>
        </p:nvSpPr>
        <p:spPr>
          <a:xfrm>
            <a:off x="1586825" y="3969100"/>
            <a:ext cx="12012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P(A ∩ B)</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P(B)</a:t>
            </a:r>
            <a:endParaRPr b="0" i="0" sz="1800" u="none" cap="none" strike="noStrike">
              <a:solidFill>
                <a:srgbClr val="595959"/>
              </a:solidFill>
              <a:latin typeface="Arial"/>
              <a:ea typeface="Arial"/>
              <a:cs typeface="Arial"/>
              <a:sym typeface="Arial"/>
            </a:endParaRPr>
          </a:p>
        </p:txBody>
      </p:sp>
      <p:sp>
        <p:nvSpPr>
          <p:cNvPr id="231" name="Google Shape;231;g24831cadf28_0_222"/>
          <p:cNvSpPr/>
          <p:nvPr/>
        </p:nvSpPr>
        <p:spPr>
          <a:xfrm>
            <a:off x="309425" y="3969100"/>
            <a:ext cx="12012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P(A</a:t>
            </a:r>
            <a:r>
              <a:rPr b="0" i="0" lang="en" sz="1800" u="none" cap="none" strike="noStrike">
                <a:solidFill>
                  <a:schemeClr val="dk2"/>
                </a:solidFill>
                <a:latin typeface="Arial"/>
                <a:ea typeface="Arial"/>
                <a:cs typeface="Arial"/>
                <a:sym typeface="Arial"/>
              </a:rPr>
              <a:t>|</a:t>
            </a:r>
            <a:r>
              <a:rPr b="0" i="0" lang="en" sz="1800" u="none" cap="none" strike="noStrike">
                <a:solidFill>
                  <a:srgbClr val="595959"/>
                </a:solidFill>
                <a:latin typeface="Arial"/>
                <a:ea typeface="Arial"/>
                <a:cs typeface="Arial"/>
                <a:sym typeface="Arial"/>
              </a:rPr>
              <a:t>B)  =</a:t>
            </a:r>
            <a:endParaRPr b="0" i="0" sz="1400" u="none" cap="none" strike="noStrike">
              <a:solidFill>
                <a:srgbClr val="000000"/>
              </a:solidFill>
              <a:latin typeface="Arial"/>
              <a:ea typeface="Arial"/>
              <a:cs typeface="Arial"/>
              <a:sym typeface="Arial"/>
            </a:endParaRPr>
          </a:p>
        </p:txBody>
      </p:sp>
      <p:cxnSp>
        <p:nvCxnSpPr>
          <p:cNvPr id="232" name="Google Shape;232;g24831cadf28_0_222"/>
          <p:cNvCxnSpPr/>
          <p:nvPr/>
        </p:nvCxnSpPr>
        <p:spPr>
          <a:xfrm>
            <a:off x="1586825" y="4341850"/>
            <a:ext cx="1201200" cy="0"/>
          </a:xfrm>
          <a:prstGeom prst="straightConnector1">
            <a:avLst/>
          </a:prstGeom>
          <a:noFill/>
          <a:ln cap="flat" cmpd="sng" w="9525">
            <a:solidFill>
              <a:srgbClr val="595959"/>
            </a:solidFill>
            <a:prstDash val="solid"/>
            <a:round/>
            <a:headEnd len="sm" w="sm" type="none"/>
            <a:tailEnd len="sm" w="sm" type="none"/>
          </a:ln>
        </p:spPr>
      </p:cxnSp>
      <p:sp>
        <p:nvSpPr>
          <p:cNvPr id="233" name="Google Shape;233;g24831cadf28_0_222"/>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El 25% de los alumnos de TUDAI termina la carrera sabiendo Python y JavaScript, mientras que el 60% termina sabiendo JavaScript. ¿Cuál es la probabilidad de que un alumno de TUDAI que termina la carrera sabiendo JavaScript, sepa Python?</a:t>
            </a:r>
            <a:endParaRPr b="0" i="0" sz="1400" u="none" cap="none" strike="noStrike">
              <a:solidFill>
                <a:srgbClr val="000000"/>
              </a:solidFill>
              <a:latin typeface="Arial"/>
              <a:ea typeface="Arial"/>
              <a:cs typeface="Arial"/>
              <a:sym typeface="Arial"/>
            </a:endParaRPr>
          </a:p>
        </p:txBody>
      </p:sp>
      <p:sp>
        <p:nvSpPr>
          <p:cNvPr id="234" name="Google Shape;234;g24831cadf28_0_222"/>
          <p:cNvSpPr txBox="1"/>
          <p:nvPr/>
        </p:nvSpPr>
        <p:spPr>
          <a:xfrm>
            <a:off x="249250" y="2078575"/>
            <a:ext cx="5163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Evento A:</a:t>
            </a:r>
            <a:r>
              <a:rPr b="0" i="0" lang="en" sz="1400" u="none" cap="none" strike="noStrike">
                <a:solidFill>
                  <a:srgbClr val="000000"/>
                </a:solidFill>
                <a:latin typeface="Arial"/>
                <a:ea typeface="Arial"/>
                <a:cs typeface="Arial"/>
                <a:sym typeface="Arial"/>
              </a:rPr>
              <a:t> Un alumno de TUDAI termina sabiendo Python.</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P(A) = ?</a:t>
            </a:r>
            <a:r>
              <a:rPr b="1" i="0" lang="e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
        <p:nvSpPr>
          <p:cNvPr id="235" name="Google Shape;235;g24831cadf28_0_222"/>
          <p:cNvSpPr txBox="1"/>
          <p:nvPr/>
        </p:nvSpPr>
        <p:spPr>
          <a:xfrm>
            <a:off x="249250" y="2646875"/>
            <a:ext cx="5163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Evento B:</a:t>
            </a:r>
            <a:r>
              <a:rPr b="0" i="0" lang="en" sz="1400" u="none" cap="none" strike="noStrike">
                <a:solidFill>
                  <a:srgbClr val="000000"/>
                </a:solidFill>
                <a:latin typeface="Arial"/>
                <a:ea typeface="Arial"/>
                <a:cs typeface="Arial"/>
                <a:sym typeface="Arial"/>
              </a:rPr>
              <a:t> Un alumno de TUDAI termina sabiendo JavaScript.</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P(B) = 0.6</a:t>
            </a:r>
            <a:r>
              <a:rPr b="1" i="0" lang="en" sz="1400" u="none" cap="none" strike="noStrike">
                <a:solidFill>
                  <a:srgbClr val="000000"/>
                </a:solidFill>
                <a:latin typeface="Arial"/>
                <a:ea typeface="Arial"/>
                <a:cs typeface="Arial"/>
                <a:sym typeface="Arial"/>
              </a:rPr>
              <a:t> </a:t>
            </a:r>
            <a:endParaRPr b="1" i="0" sz="1400" u="none" cap="none" strike="noStrike">
              <a:solidFill>
                <a:srgbClr val="000000"/>
              </a:solidFill>
              <a:latin typeface="Arial"/>
              <a:ea typeface="Arial"/>
              <a:cs typeface="Arial"/>
              <a:sym typeface="Arial"/>
            </a:endParaRPr>
          </a:p>
        </p:txBody>
      </p:sp>
      <p:sp>
        <p:nvSpPr>
          <p:cNvPr id="236" name="Google Shape;236;g24831cadf28_0_222"/>
          <p:cNvSpPr txBox="1"/>
          <p:nvPr/>
        </p:nvSpPr>
        <p:spPr>
          <a:xfrm>
            <a:off x="249250" y="3233200"/>
            <a:ext cx="6446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Evento A y B:</a:t>
            </a:r>
            <a:r>
              <a:rPr b="0" i="0" lang="en" sz="1400" u="none" cap="none" strike="noStrike">
                <a:solidFill>
                  <a:srgbClr val="000000"/>
                </a:solidFill>
                <a:latin typeface="Arial"/>
                <a:ea typeface="Arial"/>
                <a:cs typeface="Arial"/>
                <a:sym typeface="Arial"/>
              </a:rPr>
              <a:t> Un alumno de TUDAI termina sabiendo JavaScript y Python.</a:t>
            </a:r>
            <a:br>
              <a:rPr b="0" i="0" lang="en" sz="1400" u="none" cap="none" strike="noStrike">
                <a:solidFill>
                  <a:srgbClr val="000000"/>
                </a:solidFill>
                <a:latin typeface="Arial"/>
                <a:ea typeface="Arial"/>
                <a:cs typeface="Arial"/>
                <a:sym typeface="Arial"/>
              </a:rPr>
            </a:br>
            <a:r>
              <a:rPr b="0" i="0" lang="en" sz="1400" u="none" cap="none" strike="noStrike">
                <a:solidFill>
                  <a:srgbClr val="000000"/>
                </a:solidFill>
                <a:latin typeface="Arial"/>
                <a:ea typeface="Arial"/>
                <a:cs typeface="Arial"/>
                <a:sym typeface="Arial"/>
              </a:rPr>
              <a:t>P(A∩B) = 0.25</a:t>
            </a:r>
            <a:endParaRPr b="1" i="0" sz="1400" u="none" cap="none" strike="noStrike">
              <a:solidFill>
                <a:srgbClr val="000000"/>
              </a:solidFill>
              <a:latin typeface="Arial"/>
              <a:ea typeface="Arial"/>
              <a:cs typeface="Arial"/>
              <a:sym typeface="Arial"/>
            </a:endParaRPr>
          </a:p>
        </p:txBody>
      </p:sp>
      <p:sp>
        <p:nvSpPr>
          <p:cNvPr id="237" name="Google Shape;237;g24831cadf28_0_222"/>
          <p:cNvSpPr/>
          <p:nvPr/>
        </p:nvSpPr>
        <p:spPr>
          <a:xfrm>
            <a:off x="3080700" y="3969100"/>
            <a:ext cx="12012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0.25</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0.6</a:t>
            </a:r>
            <a:endParaRPr b="0" i="0" sz="1800" u="none" cap="none" strike="noStrike">
              <a:solidFill>
                <a:srgbClr val="595959"/>
              </a:solidFill>
              <a:latin typeface="Arial"/>
              <a:ea typeface="Arial"/>
              <a:cs typeface="Arial"/>
              <a:sym typeface="Arial"/>
            </a:endParaRPr>
          </a:p>
        </p:txBody>
      </p:sp>
      <p:cxnSp>
        <p:nvCxnSpPr>
          <p:cNvPr id="238" name="Google Shape;238;g24831cadf28_0_222"/>
          <p:cNvCxnSpPr/>
          <p:nvPr/>
        </p:nvCxnSpPr>
        <p:spPr>
          <a:xfrm>
            <a:off x="3355800" y="4341850"/>
            <a:ext cx="651000" cy="0"/>
          </a:xfrm>
          <a:prstGeom prst="straightConnector1">
            <a:avLst/>
          </a:prstGeom>
          <a:noFill/>
          <a:ln cap="flat" cmpd="sng" w="9525">
            <a:solidFill>
              <a:srgbClr val="595959"/>
            </a:solidFill>
            <a:prstDash val="solid"/>
            <a:round/>
            <a:headEnd len="sm" w="sm" type="none"/>
            <a:tailEnd len="sm" w="sm" type="none"/>
          </a:ln>
        </p:spPr>
      </p:cxnSp>
      <p:sp>
        <p:nvSpPr>
          <p:cNvPr id="239" name="Google Shape;239;g24831cadf28_0_222"/>
          <p:cNvSpPr/>
          <p:nvPr/>
        </p:nvSpPr>
        <p:spPr>
          <a:xfrm>
            <a:off x="4281900" y="3969100"/>
            <a:ext cx="12012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5</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12</a:t>
            </a:r>
            <a:endParaRPr b="0" i="0" sz="1800" u="none" cap="none" strike="noStrike">
              <a:solidFill>
                <a:srgbClr val="595959"/>
              </a:solidFill>
              <a:latin typeface="Arial"/>
              <a:ea typeface="Arial"/>
              <a:cs typeface="Arial"/>
              <a:sym typeface="Arial"/>
            </a:endParaRPr>
          </a:p>
        </p:txBody>
      </p:sp>
      <p:cxnSp>
        <p:nvCxnSpPr>
          <p:cNvPr id="240" name="Google Shape;240;g24831cadf28_0_222"/>
          <p:cNvCxnSpPr/>
          <p:nvPr/>
        </p:nvCxnSpPr>
        <p:spPr>
          <a:xfrm>
            <a:off x="4557000" y="4341850"/>
            <a:ext cx="651000" cy="0"/>
          </a:xfrm>
          <a:prstGeom prst="straightConnector1">
            <a:avLst/>
          </a:prstGeom>
          <a:noFill/>
          <a:ln cap="flat" cmpd="sng" w="9525">
            <a:solidFill>
              <a:srgbClr val="595959"/>
            </a:solidFill>
            <a:prstDash val="solid"/>
            <a:round/>
            <a:headEnd len="sm" w="sm" type="none"/>
            <a:tailEnd len="sm" w="sm" type="none"/>
          </a:ln>
        </p:spPr>
      </p:cxnSp>
      <p:sp>
        <p:nvSpPr>
          <p:cNvPr id="241" name="Google Shape;241;g24831cadf28_0_222"/>
          <p:cNvSpPr/>
          <p:nvPr/>
        </p:nvSpPr>
        <p:spPr>
          <a:xfrm>
            <a:off x="2916575" y="3969100"/>
            <a:ext cx="2997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42" name="Google Shape;242;g24831cadf28_0_222"/>
          <p:cNvSpPr/>
          <p:nvPr/>
        </p:nvSpPr>
        <p:spPr>
          <a:xfrm>
            <a:off x="4135775" y="3969100"/>
            <a:ext cx="2997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24831cadf28_0_246"/>
          <p:cNvSpPr/>
          <p:nvPr/>
        </p:nvSpPr>
        <p:spPr>
          <a:xfrm>
            <a:off x="497950" y="1839525"/>
            <a:ext cx="3321600" cy="10017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24831cadf28_0_24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Teorema de Bayes</a:t>
            </a:r>
            <a:endParaRPr b="1" i="0" sz="3600" u="none" cap="none" strike="noStrike">
              <a:solidFill>
                <a:srgbClr val="FFFFFF"/>
              </a:solidFill>
              <a:latin typeface="Helvetica Neue"/>
              <a:ea typeface="Helvetica Neue"/>
              <a:cs typeface="Helvetica Neue"/>
              <a:sym typeface="Helvetica Neue"/>
            </a:endParaRPr>
          </a:p>
        </p:txBody>
      </p:sp>
      <p:sp>
        <p:nvSpPr>
          <p:cNvPr id="249" name="Google Shape;249;g24831cadf28_0_246"/>
          <p:cNvSpPr txBox="1"/>
          <p:nvPr/>
        </p:nvSpPr>
        <p:spPr>
          <a:xfrm>
            <a:off x="226318" y="9600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El Teorema de Bayes nos permite relacionar entre sí las probabilidades condicionales</a:t>
            </a:r>
            <a:endParaRPr b="0" i="0" sz="1600" u="none" cap="none" strike="noStrike">
              <a:solidFill>
                <a:srgbClr val="616161"/>
              </a:solidFill>
              <a:latin typeface="Proxima Nova"/>
              <a:ea typeface="Proxima Nova"/>
              <a:cs typeface="Proxima Nova"/>
              <a:sym typeface="Proxima Nova"/>
            </a:endParaRPr>
          </a:p>
        </p:txBody>
      </p:sp>
      <p:sp>
        <p:nvSpPr>
          <p:cNvPr id="250" name="Google Shape;250;g24831cadf28_0_246"/>
          <p:cNvSpPr/>
          <p:nvPr/>
        </p:nvSpPr>
        <p:spPr>
          <a:xfrm>
            <a:off x="2084750" y="1971550"/>
            <a:ext cx="15708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P(B|A) x P(A)</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P(B)</a:t>
            </a:r>
            <a:endParaRPr b="0" i="0" sz="1800" u="none" cap="none" strike="noStrike">
              <a:solidFill>
                <a:srgbClr val="595959"/>
              </a:solidFill>
              <a:latin typeface="Arial"/>
              <a:ea typeface="Arial"/>
              <a:cs typeface="Arial"/>
              <a:sym typeface="Arial"/>
            </a:endParaRPr>
          </a:p>
        </p:txBody>
      </p:sp>
      <p:sp>
        <p:nvSpPr>
          <p:cNvPr id="251" name="Google Shape;251;g24831cadf28_0_246"/>
          <p:cNvSpPr/>
          <p:nvPr/>
        </p:nvSpPr>
        <p:spPr>
          <a:xfrm>
            <a:off x="667825" y="1971550"/>
            <a:ext cx="13407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P(A | B)  =</a:t>
            </a:r>
            <a:endParaRPr b="0" i="0" sz="1400" u="none" cap="none" strike="noStrike">
              <a:solidFill>
                <a:srgbClr val="000000"/>
              </a:solidFill>
              <a:latin typeface="Arial"/>
              <a:ea typeface="Arial"/>
              <a:cs typeface="Arial"/>
              <a:sym typeface="Arial"/>
            </a:endParaRPr>
          </a:p>
        </p:txBody>
      </p:sp>
      <p:cxnSp>
        <p:nvCxnSpPr>
          <p:cNvPr id="252" name="Google Shape;252;g24831cadf28_0_246"/>
          <p:cNvCxnSpPr/>
          <p:nvPr/>
        </p:nvCxnSpPr>
        <p:spPr>
          <a:xfrm>
            <a:off x="2084750" y="2344300"/>
            <a:ext cx="1570800" cy="0"/>
          </a:xfrm>
          <a:prstGeom prst="straightConnector1">
            <a:avLst/>
          </a:prstGeom>
          <a:noFill/>
          <a:ln cap="flat" cmpd="sng" w="9525">
            <a:solidFill>
              <a:srgbClr val="595959"/>
            </a:solidFill>
            <a:prstDash val="solid"/>
            <a:round/>
            <a:headEnd len="sm" w="sm" type="none"/>
            <a:tailEnd len="sm" w="sm" type="none"/>
          </a:ln>
        </p:spPr>
      </p:cxnSp>
      <p:sp>
        <p:nvSpPr>
          <p:cNvPr id="253" name="Google Shape;253;g24831cadf28_0_246"/>
          <p:cNvSpPr/>
          <p:nvPr/>
        </p:nvSpPr>
        <p:spPr>
          <a:xfrm>
            <a:off x="497950" y="3149050"/>
            <a:ext cx="13407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P(A | B)  =</a:t>
            </a:r>
            <a:endParaRPr b="0" i="0" sz="1400" u="none" cap="none" strike="noStrike">
              <a:solidFill>
                <a:srgbClr val="000000"/>
              </a:solidFill>
              <a:latin typeface="Arial"/>
              <a:ea typeface="Arial"/>
              <a:cs typeface="Arial"/>
              <a:sym typeface="Arial"/>
            </a:endParaRPr>
          </a:p>
        </p:txBody>
      </p:sp>
      <p:sp>
        <p:nvSpPr>
          <p:cNvPr id="254" name="Google Shape;254;g24831cadf28_0_246"/>
          <p:cNvSpPr/>
          <p:nvPr/>
        </p:nvSpPr>
        <p:spPr>
          <a:xfrm>
            <a:off x="1715350" y="3149000"/>
            <a:ext cx="15708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P(A</a:t>
            </a:r>
            <a:r>
              <a:rPr b="0" i="0" lang="en" sz="1800" u="none" cap="none" strike="noStrike">
                <a:solidFill>
                  <a:schemeClr val="dk2"/>
                </a:solidFill>
                <a:latin typeface="Arial"/>
                <a:ea typeface="Arial"/>
                <a:cs typeface="Arial"/>
                <a:sym typeface="Arial"/>
              </a:rPr>
              <a:t>∩</a:t>
            </a:r>
            <a:r>
              <a:rPr b="0" i="0" lang="en" sz="1800" u="none" cap="none" strike="noStrike">
                <a:solidFill>
                  <a:srgbClr val="595959"/>
                </a:solidFill>
                <a:latin typeface="Arial"/>
                <a:ea typeface="Arial"/>
                <a:cs typeface="Arial"/>
                <a:sym typeface="Arial"/>
              </a:rPr>
              <a:t>B)</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P(B)</a:t>
            </a:r>
            <a:endParaRPr b="0" i="0" sz="1800" u="none" cap="none" strike="noStrike">
              <a:solidFill>
                <a:srgbClr val="595959"/>
              </a:solidFill>
              <a:latin typeface="Arial"/>
              <a:ea typeface="Arial"/>
              <a:cs typeface="Arial"/>
              <a:sym typeface="Arial"/>
            </a:endParaRPr>
          </a:p>
        </p:txBody>
      </p:sp>
      <p:cxnSp>
        <p:nvCxnSpPr>
          <p:cNvPr id="255" name="Google Shape;255;g24831cadf28_0_246"/>
          <p:cNvCxnSpPr/>
          <p:nvPr/>
        </p:nvCxnSpPr>
        <p:spPr>
          <a:xfrm>
            <a:off x="1867750" y="3521750"/>
            <a:ext cx="1324800" cy="0"/>
          </a:xfrm>
          <a:prstGeom prst="straightConnector1">
            <a:avLst/>
          </a:prstGeom>
          <a:noFill/>
          <a:ln cap="flat" cmpd="sng" w="9525">
            <a:solidFill>
              <a:srgbClr val="595959"/>
            </a:solidFill>
            <a:prstDash val="solid"/>
            <a:round/>
            <a:headEnd len="sm" w="sm" type="none"/>
            <a:tailEnd len="sm" w="sm" type="none"/>
          </a:ln>
        </p:spPr>
      </p:cxnSp>
      <p:sp>
        <p:nvSpPr>
          <p:cNvPr id="256" name="Google Shape;256;g24831cadf28_0_246"/>
          <p:cNvSpPr/>
          <p:nvPr/>
        </p:nvSpPr>
        <p:spPr>
          <a:xfrm>
            <a:off x="515425" y="3840275"/>
            <a:ext cx="1340700" cy="745500"/>
          </a:xfrm>
          <a:prstGeom prst="rect">
            <a:avLst/>
          </a:prstGeom>
          <a:noFill/>
          <a:ln>
            <a:noFill/>
          </a:ln>
        </p:spPr>
        <p:txBody>
          <a:bodyPr anchorCtr="0" anchor="ctr" bIns="91425" lIns="91425" spcFirstLastPara="1" rIns="91425" wrap="square" tIns="91425">
            <a:noAutofit/>
          </a:bodyPr>
          <a:lstStyle/>
          <a:p>
            <a:pPr indent="0" lvl="0" marL="0" marR="0" rtl="0" algn="r">
              <a:lnSpc>
                <a:spcPct val="115000"/>
              </a:lnSpc>
              <a:spcBef>
                <a:spcPts val="0"/>
              </a:spcBef>
              <a:spcAft>
                <a:spcPts val="1600"/>
              </a:spcAft>
              <a:buClr>
                <a:srgbClr val="000000"/>
              </a:buClr>
              <a:buSzPts val="1800"/>
              <a:buFont typeface="Arial"/>
              <a:buNone/>
            </a:pPr>
            <a:r>
              <a:rPr b="0" i="0" lang="en" sz="1800" u="none" cap="none" strike="noStrike">
                <a:solidFill>
                  <a:srgbClr val="595959"/>
                </a:solidFill>
                <a:latin typeface="Arial"/>
                <a:ea typeface="Arial"/>
                <a:cs typeface="Arial"/>
                <a:sym typeface="Arial"/>
              </a:rPr>
              <a:t>P(B | A)  =</a:t>
            </a:r>
            <a:endParaRPr b="0" i="0" sz="1400" u="none" cap="none" strike="noStrike">
              <a:solidFill>
                <a:srgbClr val="000000"/>
              </a:solidFill>
              <a:latin typeface="Arial"/>
              <a:ea typeface="Arial"/>
              <a:cs typeface="Arial"/>
              <a:sym typeface="Arial"/>
            </a:endParaRPr>
          </a:p>
        </p:txBody>
      </p:sp>
      <p:sp>
        <p:nvSpPr>
          <p:cNvPr id="257" name="Google Shape;257;g24831cadf28_0_246"/>
          <p:cNvSpPr/>
          <p:nvPr/>
        </p:nvSpPr>
        <p:spPr>
          <a:xfrm>
            <a:off x="1732825" y="3840225"/>
            <a:ext cx="1570800" cy="745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595959"/>
                </a:solidFill>
                <a:latin typeface="Arial"/>
                <a:ea typeface="Arial"/>
                <a:cs typeface="Arial"/>
                <a:sym typeface="Arial"/>
              </a:rPr>
              <a:t>P(A</a:t>
            </a:r>
            <a:r>
              <a:rPr b="0" i="0" lang="en" sz="1800" u="none" cap="none" strike="noStrike">
                <a:solidFill>
                  <a:schemeClr val="dk2"/>
                </a:solidFill>
                <a:latin typeface="Arial"/>
                <a:ea typeface="Arial"/>
                <a:cs typeface="Arial"/>
                <a:sym typeface="Arial"/>
              </a:rPr>
              <a:t>∩</a:t>
            </a:r>
            <a:r>
              <a:rPr b="0" i="0" lang="en" sz="1800" u="none" cap="none" strike="noStrike">
                <a:solidFill>
                  <a:srgbClr val="595959"/>
                </a:solidFill>
                <a:latin typeface="Arial"/>
                <a:ea typeface="Arial"/>
                <a:cs typeface="Arial"/>
                <a:sym typeface="Arial"/>
              </a:rPr>
              <a:t>B)</a:t>
            </a:r>
            <a:br>
              <a:rPr b="0" i="0" lang="en" sz="1800" u="none" cap="none" strike="noStrike">
                <a:solidFill>
                  <a:srgbClr val="595959"/>
                </a:solidFill>
                <a:latin typeface="Arial"/>
                <a:ea typeface="Arial"/>
                <a:cs typeface="Arial"/>
                <a:sym typeface="Arial"/>
              </a:rPr>
            </a:br>
            <a:r>
              <a:rPr b="0" i="0" lang="en" sz="1800" u="none" cap="none" strike="noStrike">
                <a:solidFill>
                  <a:srgbClr val="595959"/>
                </a:solidFill>
                <a:latin typeface="Arial"/>
                <a:ea typeface="Arial"/>
                <a:cs typeface="Arial"/>
                <a:sym typeface="Arial"/>
              </a:rPr>
              <a:t>P(A)</a:t>
            </a:r>
            <a:endParaRPr b="0" i="0" sz="1800" u="none" cap="none" strike="noStrike">
              <a:solidFill>
                <a:srgbClr val="595959"/>
              </a:solidFill>
              <a:latin typeface="Arial"/>
              <a:ea typeface="Arial"/>
              <a:cs typeface="Arial"/>
              <a:sym typeface="Arial"/>
            </a:endParaRPr>
          </a:p>
        </p:txBody>
      </p:sp>
      <p:cxnSp>
        <p:nvCxnSpPr>
          <p:cNvPr id="258" name="Google Shape;258;g24831cadf28_0_246"/>
          <p:cNvCxnSpPr/>
          <p:nvPr/>
        </p:nvCxnSpPr>
        <p:spPr>
          <a:xfrm>
            <a:off x="1885225" y="4212975"/>
            <a:ext cx="1324800" cy="0"/>
          </a:xfrm>
          <a:prstGeom prst="straightConnector1">
            <a:avLst/>
          </a:prstGeom>
          <a:noFill/>
          <a:ln cap="flat" cmpd="sng" w="9525">
            <a:solidFill>
              <a:srgbClr val="595959"/>
            </a:solidFill>
            <a:prstDash val="solid"/>
            <a:round/>
            <a:headEnd len="sm" w="sm" type="none"/>
            <a:tailEnd len="sm" w="sm" type="none"/>
          </a:ln>
        </p:spPr>
      </p:cxnSp>
      <p:sp>
        <p:nvSpPr>
          <p:cNvPr id="259" name="Google Shape;259;g24831cadf28_0_246"/>
          <p:cNvSpPr/>
          <p:nvPr/>
        </p:nvSpPr>
        <p:spPr>
          <a:xfrm>
            <a:off x="3380000" y="3840225"/>
            <a:ext cx="3603000" cy="7455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1800"/>
              <a:buFont typeface="Arial"/>
              <a:buNone/>
            </a:pPr>
            <a:r>
              <a:rPr b="0" i="0" lang="en" sz="1800" u="none" cap="none" strike="noStrike">
                <a:solidFill>
                  <a:schemeClr val="dk2"/>
                </a:solidFill>
                <a:latin typeface="Arial"/>
                <a:ea typeface="Arial"/>
                <a:cs typeface="Arial"/>
                <a:sym typeface="Arial"/>
              </a:rPr>
              <a:t>⇒ P(A∩B) = </a:t>
            </a:r>
            <a:r>
              <a:rPr b="0" i="0" lang="en" sz="1800" u="none" cap="none" strike="noStrike">
                <a:solidFill>
                  <a:srgbClr val="595959"/>
                </a:solidFill>
                <a:latin typeface="Arial"/>
                <a:ea typeface="Arial"/>
                <a:cs typeface="Arial"/>
                <a:sym typeface="Arial"/>
              </a:rPr>
              <a:t>P(B | A) x P(A)</a:t>
            </a:r>
            <a:endParaRPr b="0" i="0" sz="1400" u="none" cap="none" strike="noStrike">
              <a:solidFill>
                <a:srgbClr val="000000"/>
              </a:solidFill>
              <a:latin typeface="Arial"/>
              <a:ea typeface="Arial"/>
              <a:cs typeface="Arial"/>
              <a:sym typeface="Arial"/>
            </a:endParaRPr>
          </a:p>
        </p:txBody>
      </p:sp>
      <p:sp>
        <p:nvSpPr>
          <p:cNvPr id="260" name="Google Shape;260;g24831cadf28_0_246"/>
          <p:cNvSpPr/>
          <p:nvPr/>
        </p:nvSpPr>
        <p:spPr>
          <a:xfrm>
            <a:off x="1927350" y="3163425"/>
            <a:ext cx="1206900" cy="4629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g24831cadf28_0_246"/>
          <p:cNvSpPr/>
          <p:nvPr/>
        </p:nvSpPr>
        <p:spPr>
          <a:xfrm>
            <a:off x="3614500" y="3891425"/>
            <a:ext cx="2817900" cy="6432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24831cadf28_0_29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267" name="Google Shape;267;g24831cadf28_0_290"/>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Durante el otoño en Tandil, un 10% de los días llueve y el 90% de los días hay sol. Cuando llueve, la probabilidad de que el colectivo azul pase de largo es de un 0.4. Cuando no llueve, la probabilidad de que pase de largo es de 0.1. </a:t>
            </a:r>
            <a:r>
              <a:rPr b="1" i="0" lang="en" sz="1400" u="none" cap="none" strike="noStrike">
                <a:solidFill>
                  <a:srgbClr val="000000"/>
                </a:solidFill>
                <a:latin typeface="Arial"/>
                <a:ea typeface="Arial"/>
                <a:cs typeface="Arial"/>
                <a:sym typeface="Arial"/>
              </a:rPr>
              <a:t>Calcular la probabilidad de que pase de largo.</a:t>
            </a:r>
            <a:endParaRPr b="1" i="0" sz="1400" u="none" cap="none" strike="noStrike">
              <a:solidFill>
                <a:srgbClr val="000000"/>
              </a:solidFill>
              <a:latin typeface="Arial"/>
              <a:ea typeface="Arial"/>
              <a:cs typeface="Arial"/>
              <a:sym typeface="Arial"/>
            </a:endParaRPr>
          </a:p>
        </p:txBody>
      </p:sp>
      <p:sp>
        <p:nvSpPr>
          <p:cNvPr id="268" name="Google Shape;268;g24831cadf28_0_290"/>
          <p:cNvSpPr/>
          <p:nvPr/>
        </p:nvSpPr>
        <p:spPr>
          <a:xfrm>
            <a:off x="3690625" y="23666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g24831cadf28_0_290"/>
          <p:cNvSpPr/>
          <p:nvPr/>
        </p:nvSpPr>
        <p:spPr>
          <a:xfrm>
            <a:off x="1569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Llueve</a:t>
            </a:r>
            <a:endParaRPr b="0" i="0" sz="1400" u="none" cap="none" strike="noStrike">
              <a:solidFill>
                <a:srgbClr val="000000"/>
              </a:solidFill>
              <a:latin typeface="Arial"/>
              <a:ea typeface="Arial"/>
              <a:cs typeface="Arial"/>
              <a:sym typeface="Arial"/>
            </a:endParaRPr>
          </a:p>
        </p:txBody>
      </p:sp>
      <p:sp>
        <p:nvSpPr>
          <p:cNvPr id="270" name="Google Shape;270;g24831cadf28_0_290"/>
          <p:cNvSpPr/>
          <p:nvPr/>
        </p:nvSpPr>
        <p:spPr>
          <a:xfrm>
            <a:off x="5875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Sol</a:t>
            </a:r>
            <a:endParaRPr b="0" i="0" sz="1400" u="none" cap="none" strike="noStrike">
              <a:solidFill>
                <a:srgbClr val="000000"/>
              </a:solidFill>
              <a:latin typeface="Arial"/>
              <a:ea typeface="Arial"/>
              <a:cs typeface="Arial"/>
              <a:sym typeface="Arial"/>
            </a:endParaRPr>
          </a:p>
        </p:txBody>
      </p:sp>
      <p:sp>
        <p:nvSpPr>
          <p:cNvPr id="271" name="Google Shape;271;g24831cadf28_0_290"/>
          <p:cNvSpPr/>
          <p:nvPr/>
        </p:nvSpPr>
        <p:spPr>
          <a:xfrm>
            <a:off x="503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272" name="Google Shape;272;g24831cadf28_0_290"/>
          <p:cNvSpPr/>
          <p:nvPr/>
        </p:nvSpPr>
        <p:spPr>
          <a:xfrm>
            <a:off x="2647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sp>
        <p:nvSpPr>
          <p:cNvPr id="273" name="Google Shape;273;g24831cadf28_0_290"/>
          <p:cNvSpPr/>
          <p:nvPr/>
        </p:nvSpPr>
        <p:spPr>
          <a:xfrm>
            <a:off x="4762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274" name="Google Shape;274;g24831cadf28_0_290"/>
          <p:cNvSpPr/>
          <p:nvPr/>
        </p:nvSpPr>
        <p:spPr>
          <a:xfrm>
            <a:off x="6906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cxnSp>
        <p:nvCxnSpPr>
          <p:cNvPr id="275" name="Google Shape;275;g24831cadf28_0_290"/>
          <p:cNvCxnSpPr>
            <a:stCxn id="268" idx="3"/>
            <a:endCxn id="269" idx="0"/>
          </p:cNvCxnSpPr>
          <p:nvPr/>
        </p:nvCxnSpPr>
        <p:spPr>
          <a:xfrm flipH="1">
            <a:off x="2375250" y="2711596"/>
            <a:ext cx="1551300" cy="486900"/>
          </a:xfrm>
          <a:prstGeom prst="straightConnector1">
            <a:avLst/>
          </a:prstGeom>
          <a:noFill/>
          <a:ln cap="flat" cmpd="sng" w="9525">
            <a:solidFill>
              <a:schemeClr val="dk2"/>
            </a:solidFill>
            <a:prstDash val="solid"/>
            <a:round/>
            <a:headEnd len="sm" w="sm" type="none"/>
            <a:tailEnd len="med" w="med" type="triangle"/>
          </a:ln>
        </p:spPr>
      </p:cxnSp>
      <p:cxnSp>
        <p:nvCxnSpPr>
          <p:cNvPr id="276" name="Google Shape;276;g24831cadf28_0_290"/>
          <p:cNvCxnSpPr>
            <a:stCxn id="268" idx="5"/>
            <a:endCxn id="270" idx="0"/>
          </p:cNvCxnSpPr>
          <p:nvPr/>
        </p:nvCxnSpPr>
        <p:spPr>
          <a:xfrm>
            <a:off x="5065700" y="2711596"/>
            <a:ext cx="1615500" cy="486900"/>
          </a:xfrm>
          <a:prstGeom prst="straightConnector1">
            <a:avLst/>
          </a:prstGeom>
          <a:noFill/>
          <a:ln cap="flat" cmpd="sng" w="9525">
            <a:solidFill>
              <a:schemeClr val="dk2"/>
            </a:solidFill>
            <a:prstDash val="solid"/>
            <a:round/>
            <a:headEnd len="sm" w="sm" type="none"/>
            <a:tailEnd len="med" w="med" type="triangle"/>
          </a:ln>
        </p:spPr>
      </p:cxnSp>
      <p:cxnSp>
        <p:nvCxnSpPr>
          <p:cNvPr id="277" name="Google Shape;277;g24831cadf28_0_290"/>
          <p:cNvCxnSpPr>
            <a:stCxn id="270" idx="5"/>
            <a:endCxn id="274" idx="0"/>
          </p:cNvCxnSpPr>
          <p:nvPr/>
        </p:nvCxnSpPr>
        <p:spPr>
          <a:xfrm>
            <a:off x="7250775" y="3543546"/>
            <a:ext cx="461700" cy="545700"/>
          </a:xfrm>
          <a:prstGeom prst="straightConnector1">
            <a:avLst/>
          </a:prstGeom>
          <a:noFill/>
          <a:ln cap="flat" cmpd="sng" w="9525">
            <a:solidFill>
              <a:schemeClr val="dk2"/>
            </a:solidFill>
            <a:prstDash val="solid"/>
            <a:round/>
            <a:headEnd len="sm" w="sm" type="none"/>
            <a:tailEnd len="med" w="med" type="triangle"/>
          </a:ln>
        </p:spPr>
      </p:cxnSp>
      <p:cxnSp>
        <p:nvCxnSpPr>
          <p:cNvPr id="278" name="Google Shape;278;g24831cadf28_0_290"/>
          <p:cNvCxnSpPr>
            <a:stCxn id="270" idx="3"/>
            <a:endCxn id="273" idx="0"/>
          </p:cNvCxnSpPr>
          <p:nvPr/>
        </p:nvCxnSpPr>
        <p:spPr>
          <a:xfrm flipH="1">
            <a:off x="5568325" y="3543546"/>
            <a:ext cx="543300" cy="545700"/>
          </a:xfrm>
          <a:prstGeom prst="straightConnector1">
            <a:avLst/>
          </a:prstGeom>
          <a:noFill/>
          <a:ln cap="flat" cmpd="sng" w="9525">
            <a:solidFill>
              <a:schemeClr val="dk2"/>
            </a:solidFill>
            <a:prstDash val="solid"/>
            <a:round/>
            <a:headEnd len="sm" w="sm" type="none"/>
            <a:tailEnd len="med" w="med" type="triangle"/>
          </a:ln>
        </p:spPr>
      </p:cxnSp>
      <p:cxnSp>
        <p:nvCxnSpPr>
          <p:cNvPr id="279" name="Google Shape;279;g24831cadf28_0_290"/>
          <p:cNvCxnSpPr>
            <a:stCxn id="269" idx="5"/>
            <a:endCxn id="272" idx="0"/>
          </p:cNvCxnSpPr>
          <p:nvPr/>
        </p:nvCxnSpPr>
        <p:spPr>
          <a:xfrm>
            <a:off x="2944775" y="3543546"/>
            <a:ext cx="508800" cy="545700"/>
          </a:xfrm>
          <a:prstGeom prst="straightConnector1">
            <a:avLst/>
          </a:prstGeom>
          <a:noFill/>
          <a:ln cap="flat" cmpd="sng" w="9525">
            <a:solidFill>
              <a:schemeClr val="dk2"/>
            </a:solidFill>
            <a:prstDash val="solid"/>
            <a:round/>
            <a:headEnd len="sm" w="sm" type="none"/>
            <a:tailEnd len="med" w="med" type="triangle"/>
          </a:ln>
        </p:spPr>
      </p:cxnSp>
      <p:cxnSp>
        <p:nvCxnSpPr>
          <p:cNvPr id="280" name="Google Shape;280;g24831cadf28_0_290"/>
          <p:cNvCxnSpPr>
            <a:stCxn id="269" idx="3"/>
            <a:endCxn id="271" idx="0"/>
          </p:cNvCxnSpPr>
          <p:nvPr/>
        </p:nvCxnSpPr>
        <p:spPr>
          <a:xfrm flipH="1">
            <a:off x="1309125" y="3543546"/>
            <a:ext cx="496500" cy="545700"/>
          </a:xfrm>
          <a:prstGeom prst="straightConnector1">
            <a:avLst/>
          </a:prstGeom>
          <a:noFill/>
          <a:ln cap="flat" cmpd="sng" w="9525">
            <a:solidFill>
              <a:schemeClr val="dk2"/>
            </a:solidFill>
            <a:prstDash val="solid"/>
            <a:round/>
            <a:headEnd len="sm" w="sm" type="none"/>
            <a:tailEnd len="med" w="med" type="triangle"/>
          </a:ln>
        </p:spPr>
      </p:cxnSp>
      <p:sp>
        <p:nvSpPr>
          <p:cNvPr id="281" name="Google Shape;281;g24831cadf28_0_290"/>
          <p:cNvSpPr txBox="1"/>
          <p:nvPr/>
        </p:nvSpPr>
        <p:spPr>
          <a:xfrm>
            <a:off x="2741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82" name="Google Shape;282;g24831cadf28_0_290"/>
          <p:cNvSpPr txBox="1"/>
          <p:nvPr/>
        </p:nvSpPr>
        <p:spPr>
          <a:xfrm>
            <a:off x="5900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283" name="Google Shape;283;g24831cadf28_0_290"/>
          <p:cNvSpPr txBox="1"/>
          <p:nvPr/>
        </p:nvSpPr>
        <p:spPr>
          <a:xfrm>
            <a:off x="75937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84" name="Google Shape;284;g24831cadf28_0_290"/>
          <p:cNvSpPr txBox="1"/>
          <p:nvPr/>
        </p:nvSpPr>
        <p:spPr>
          <a:xfrm>
            <a:off x="51685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285" name="Google Shape;285;g24831cadf28_0_290"/>
          <p:cNvSpPr txBox="1"/>
          <p:nvPr/>
        </p:nvSpPr>
        <p:spPr>
          <a:xfrm>
            <a:off x="3270500"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86" name="Google Shape;286;g24831cadf28_0_290"/>
          <p:cNvSpPr txBox="1"/>
          <p:nvPr/>
        </p:nvSpPr>
        <p:spPr>
          <a:xfrm>
            <a:off x="9618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4831cadf28_0_32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292" name="Google Shape;292;g24831cadf28_0_323"/>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Durante el otoño en Tandil, un 10% de los días llueve y el 90% de los días hay sol. Cuando llueve, la probabilidad de que el colectivo azul pase de largo es de un 0.4. Cuando no llueve, la probabilidad de que pase de largo es de 0.1. </a:t>
            </a:r>
            <a:r>
              <a:rPr b="1" i="0" lang="en" sz="1400" u="none" cap="none" strike="noStrike">
                <a:solidFill>
                  <a:srgbClr val="000000"/>
                </a:solidFill>
                <a:latin typeface="Arial"/>
                <a:ea typeface="Arial"/>
                <a:cs typeface="Arial"/>
                <a:sym typeface="Arial"/>
              </a:rPr>
              <a:t>Calcular la probabilidad de que pase de largo.</a:t>
            </a:r>
            <a:endParaRPr b="1" i="0" sz="1400" u="none" cap="none" strike="noStrike">
              <a:solidFill>
                <a:srgbClr val="000000"/>
              </a:solidFill>
              <a:latin typeface="Arial"/>
              <a:ea typeface="Arial"/>
              <a:cs typeface="Arial"/>
              <a:sym typeface="Arial"/>
            </a:endParaRPr>
          </a:p>
        </p:txBody>
      </p:sp>
      <p:sp>
        <p:nvSpPr>
          <p:cNvPr id="293" name="Google Shape;293;g24831cadf28_0_323"/>
          <p:cNvSpPr/>
          <p:nvPr/>
        </p:nvSpPr>
        <p:spPr>
          <a:xfrm>
            <a:off x="3690625" y="23666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24831cadf28_0_323"/>
          <p:cNvSpPr/>
          <p:nvPr/>
        </p:nvSpPr>
        <p:spPr>
          <a:xfrm>
            <a:off x="1569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Llueve</a:t>
            </a:r>
            <a:endParaRPr b="0" i="0" sz="1400" u="none" cap="none" strike="noStrike">
              <a:solidFill>
                <a:srgbClr val="000000"/>
              </a:solidFill>
              <a:latin typeface="Arial"/>
              <a:ea typeface="Arial"/>
              <a:cs typeface="Arial"/>
              <a:sym typeface="Arial"/>
            </a:endParaRPr>
          </a:p>
        </p:txBody>
      </p:sp>
      <p:sp>
        <p:nvSpPr>
          <p:cNvPr id="295" name="Google Shape;295;g24831cadf28_0_323"/>
          <p:cNvSpPr/>
          <p:nvPr/>
        </p:nvSpPr>
        <p:spPr>
          <a:xfrm>
            <a:off x="5875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Sol</a:t>
            </a:r>
            <a:endParaRPr b="0" i="0" sz="1400" u="none" cap="none" strike="noStrike">
              <a:solidFill>
                <a:srgbClr val="000000"/>
              </a:solidFill>
              <a:latin typeface="Arial"/>
              <a:ea typeface="Arial"/>
              <a:cs typeface="Arial"/>
              <a:sym typeface="Arial"/>
            </a:endParaRPr>
          </a:p>
        </p:txBody>
      </p:sp>
      <p:sp>
        <p:nvSpPr>
          <p:cNvPr id="296" name="Google Shape;296;g24831cadf28_0_323"/>
          <p:cNvSpPr/>
          <p:nvPr/>
        </p:nvSpPr>
        <p:spPr>
          <a:xfrm>
            <a:off x="503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297" name="Google Shape;297;g24831cadf28_0_323"/>
          <p:cNvSpPr/>
          <p:nvPr/>
        </p:nvSpPr>
        <p:spPr>
          <a:xfrm>
            <a:off x="2647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sp>
        <p:nvSpPr>
          <p:cNvPr id="298" name="Google Shape;298;g24831cadf28_0_323"/>
          <p:cNvSpPr/>
          <p:nvPr/>
        </p:nvSpPr>
        <p:spPr>
          <a:xfrm>
            <a:off x="4762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299" name="Google Shape;299;g24831cadf28_0_323"/>
          <p:cNvSpPr/>
          <p:nvPr/>
        </p:nvSpPr>
        <p:spPr>
          <a:xfrm>
            <a:off x="6906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cxnSp>
        <p:nvCxnSpPr>
          <p:cNvPr id="300" name="Google Shape;300;g24831cadf28_0_323"/>
          <p:cNvCxnSpPr>
            <a:stCxn id="293" idx="3"/>
            <a:endCxn id="294" idx="0"/>
          </p:cNvCxnSpPr>
          <p:nvPr/>
        </p:nvCxnSpPr>
        <p:spPr>
          <a:xfrm flipH="1">
            <a:off x="2375250" y="2711596"/>
            <a:ext cx="1551300" cy="486900"/>
          </a:xfrm>
          <a:prstGeom prst="straightConnector1">
            <a:avLst/>
          </a:prstGeom>
          <a:noFill/>
          <a:ln cap="flat" cmpd="sng" w="9525">
            <a:solidFill>
              <a:schemeClr val="dk2"/>
            </a:solidFill>
            <a:prstDash val="solid"/>
            <a:round/>
            <a:headEnd len="sm" w="sm" type="none"/>
            <a:tailEnd len="med" w="med" type="triangle"/>
          </a:ln>
        </p:spPr>
      </p:cxnSp>
      <p:cxnSp>
        <p:nvCxnSpPr>
          <p:cNvPr id="301" name="Google Shape;301;g24831cadf28_0_323"/>
          <p:cNvCxnSpPr>
            <a:stCxn id="293" idx="5"/>
            <a:endCxn id="295" idx="0"/>
          </p:cNvCxnSpPr>
          <p:nvPr/>
        </p:nvCxnSpPr>
        <p:spPr>
          <a:xfrm>
            <a:off x="5065700" y="2711596"/>
            <a:ext cx="1615500" cy="486900"/>
          </a:xfrm>
          <a:prstGeom prst="straightConnector1">
            <a:avLst/>
          </a:prstGeom>
          <a:noFill/>
          <a:ln cap="flat" cmpd="sng" w="9525">
            <a:solidFill>
              <a:schemeClr val="dk2"/>
            </a:solidFill>
            <a:prstDash val="solid"/>
            <a:round/>
            <a:headEnd len="sm" w="sm" type="none"/>
            <a:tailEnd len="med" w="med" type="triangle"/>
          </a:ln>
        </p:spPr>
      </p:cxnSp>
      <p:cxnSp>
        <p:nvCxnSpPr>
          <p:cNvPr id="302" name="Google Shape;302;g24831cadf28_0_323"/>
          <p:cNvCxnSpPr>
            <a:stCxn id="295" idx="5"/>
            <a:endCxn id="299" idx="0"/>
          </p:cNvCxnSpPr>
          <p:nvPr/>
        </p:nvCxnSpPr>
        <p:spPr>
          <a:xfrm>
            <a:off x="7250775" y="3543546"/>
            <a:ext cx="461700" cy="545700"/>
          </a:xfrm>
          <a:prstGeom prst="straightConnector1">
            <a:avLst/>
          </a:prstGeom>
          <a:noFill/>
          <a:ln cap="flat" cmpd="sng" w="9525">
            <a:solidFill>
              <a:schemeClr val="dk2"/>
            </a:solidFill>
            <a:prstDash val="solid"/>
            <a:round/>
            <a:headEnd len="sm" w="sm" type="none"/>
            <a:tailEnd len="med" w="med" type="triangle"/>
          </a:ln>
        </p:spPr>
      </p:cxnSp>
      <p:cxnSp>
        <p:nvCxnSpPr>
          <p:cNvPr id="303" name="Google Shape;303;g24831cadf28_0_323"/>
          <p:cNvCxnSpPr>
            <a:stCxn id="295" idx="3"/>
            <a:endCxn id="298" idx="0"/>
          </p:cNvCxnSpPr>
          <p:nvPr/>
        </p:nvCxnSpPr>
        <p:spPr>
          <a:xfrm flipH="1">
            <a:off x="5568325" y="3543546"/>
            <a:ext cx="543300" cy="545700"/>
          </a:xfrm>
          <a:prstGeom prst="straightConnector1">
            <a:avLst/>
          </a:prstGeom>
          <a:noFill/>
          <a:ln cap="flat" cmpd="sng" w="9525">
            <a:solidFill>
              <a:schemeClr val="dk2"/>
            </a:solidFill>
            <a:prstDash val="solid"/>
            <a:round/>
            <a:headEnd len="sm" w="sm" type="none"/>
            <a:tailEnd len="med" w="med" type="triangle"/>
          </a:ln>
        </p:spPr>
      </p:cxnSp>
      <p:cxnSp>
        <p:nvCxnSpPr>
          <p:cNvPr id="304" name="Google Shape;304;g24831cadf28_0_323"/>
          <p:cNvCxnSpPr>
            <a:stCxn id="294" idx="5"/>
            <a:endCxn id="297" idx="0"/>
          </p:cNvCxnSpPr>
          <p:nvPr/>
        </p:nvCxnSpPr>
        <p:spPr>
          <a:xfrm>
            <a:off x="2944775" y="3543546"/>
            <a:ext cx="508800" cy="545700"/>
          </a:xfrm>
          <a:prstGeom prst="straightConnector1">
            <a:avLst/>
          </a:prstGeom>
          <a:noFill/>
          <a:ln cap="flat" cmpd="sng" w="9525">
            <a:solidFill>
              <a:schemeClr val="dk2"/>
            </a:solidFill>
            <a:prstDash val="solid"/>
            <a:round/>
            <a:headEnd len="sm" w="sm" type="none"/>
            <a:tailEnd len="med" w="med" type="triangle"/>
          </a:ln>
        </p:spPr>
      </p:cxnSp>
      <p:cxnSp>
        <p:nvCxnSpPr>
          <p:cNvPr id="305" name="Google Shape;305;g24831cadf28_0_323"/>
          <p:cNvCxnSpPr>
            <a:stCxn id="294" idx="3"/>
            <a:endCxn id="296" idx="0"/>
          </p:cNvCxnSpPr>
          <p:nvPr/>
        </p:nvCxnSpPr>
        <p:spPr>
          <a:xfrm flipH="1">
            <a:off x="1309125" y="3543546"/>
            <a:ext cx="496500" cy="545700"/>
          </a:xfrm>
          <a:prstGeom prst="straightConnector1">
            <a:avLst/>
          </a:prstGeom>
          <a:noFill/>
          <a:ln cap="flat" cmpd="sng" w="9525">
            <a:solidFill>
              <a:schemeClr val="dk2"/>
            </a:solidFill>
            <a:prstDash val="solid"/>
            <a:round/>
            <a:headEnd len="sm" w="sm" type="none"/>
            <a:tailEnd len="med" w="med" type="triangle"/>
          </a:ln>
        </p:spPr>
      </p:cxnSp>
      <p:sp>
        <p:nvSpPr>
          <p:cNvPr id="306" name="Google Shape;306;g24831cadf28_0_323"/>
          <p:cNvSpPr txBox="1"/>
          <p:nvPr/>
        </p:nvSpPr>
        <p:spPr>
          <a:xfrm>
            <a:off x="2741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07" name="Google Shape;307;g24831cadf28_0_323"/>
          <p:cNvSpPr txBox="1"/>
          <p:nvPr/>
        </p:nvSpPr>
        <p:spPr>
          <a:xfrm>
            <a:off x="5900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308" name="Google Shape;308;g24831cadf28_0_323"/>
          <p:cNvSpPr txBox="1"/>
          <p:nvPr/>
        </p:nvSpPr>
        <p:spPr>
          <a:xfrm>
            <a:off x="75937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309" name="Google Shape;309;g24831cadf28_0_323"/>
          <p:cNvSpPr txBox="1"/>
          <p:nvPr/>
        </p:nvSpPr>
        <p:spPr>
          <a:xfrm>
            <a:off x="51685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10" name="Google Shape;310;g24831cadf28_0_323"/>
          <p:cNvSpPr txBox="1"/>
          <p:nvPr/>
        </p:nvSpPr>
        <p:spPr>
          <a:xfrm>
            <a:off x="3270500"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311" name="Google Shape;311;g24831cadf28_0_323"/>
          <p:cNvSpPr txBox="1"/>
          <p:nvPr/>
        </p:nvSpPr>
        <p:spPr>
          <a:xfrm>
            <a:off x="9618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24831cadf28_0_36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317" name="Google Shape;317;g24831cadf28_0_366"/>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Durante el otoño en Tandil, un 10% de los días llueve y el 90% de los días hay sol. Cuando llueve, la probabilidad de que el colectivo azul pase de largo es de un 0.4. Cuando no llueve, la probabilidad de que pase de largo es de 0.1. </a:t>
            </a:r>
            <a:r>
              <a:rPr b="1" i="0" lang="en" sz="1400" u="none" cap="none" strike="noStrike">
                <a:solidFill>
                  <a:srgbClr val="000000"/>
                </a:solidFill>
                <a:latin typeface="Arial"/>
                <a:ea typeface="Arial"/>
                <a:cs typeface="Arial"/>
                <a:sym typeface="Arial"/>
              </a:rPr>
              <a:t>Calcular la probabilidad de que pase de largo.</a:t>
            </a:r>
            <a:endParaRPr b="1" i="0" sz="1400" u="none" cap="none" strike="noStrike">
              <a:solidFill>
                <a:srgbClr val="000000"/>
              </a:solidFill>
              <a:latin typeface="Arial"/>
              <a:ea typeface="Arial"/>
              <a:cs typeface="Arial"/>
              <a:sym typeface="Arial"/>
            </a:endParaRPr>
          </a:p>
        </p:txBody>
      </p:sp>
      <p:sp>
        <p:nvSpPr>
          <p:cNvPr id="318" name="Google Shape;318;g24831cadf28_0_366"/>
          <p:cNvSpPr/>
          <p:nvPr/>
        </p:nvSpPr>
        <p:spPr>
          <a:xfrm>
            <a:off x="3690625" y="23666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24831cadf28_0_366"/>
          <p:cNvSpPr/>
          <p:nvPr/>
        </p:nvSpPr>
        <p:spPr>
          <a:xfrm>
            <a:off x="1569700" y="3198625"/>
            <a:ext cx="1611000" cy="4041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Llueve</a:t>
            </a:r>
            <a:endParaRPr b="0" i="0" sz="1400" u="none" cap="none" strike="noStrike">
              <a:solidFill>
                <a:srgbClr val="000000"/>
              </a:solidFill>
              <a:latin typeface="Arial"/>
              <a:ea typeface="Arial"/>
              <a:cs typeface="Arial"/>
              <a:sym typeface="Arial"/>
            </a:endParaRPr>
          </a:p>
        </p:txBody>
      </p:sp>
      <p:sp>
        <p:nvSpPr>
          <p:cNvPr id="320" name="Google Shape;320;g24831cadf28_0_366"/>
          <p:cNvSpPr/>
          <p:nvPr/>
        </p:nvSpPr>
        <p:spPr>
          <a:xfrm>
            <a:off x="5875700" y="3198625"/>
            <a:ext cx="1611000" cy="4041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Sol</a:t>
            </a:r>
            <a:endParaRPr b="0" i="0" sz="1400" u="none" cap="none" strike="noStrike">
              <a:solidFill>
                <a:srgbClr val="000000"/>
              </a:solidFill>
              <a:latin typeface="Arial"/>
              <a:ea typeface="Arial"/>
              <a:cs typeface="Arial"/>
              <a:sym typeface="Arial"/>
            </a:endParaRPr>
          </a:p>
        </p:txBody>
      </p:sp>
      <p:sp>
        <p:nvSpPr>
          <p:cNvPr id="321" name="Google Shape;321;g24831cadf28_0_366"/>
          <p:cNvSpPr/>
          <p:nvPr/>
        </p:nvSpPr>
        <p:spPr>
          <a:xfrm>
            <a:off x="503775" y="4089175"/>
            <a:ext cx="1611000" cy="4041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322" name="Google Shape;322;g24831cadf28_0_366"/>
          <p:cNvSpPr/>
          <p:nvPr/>
        </p:nvSpPr>
        <p:spPr>
          <a:xfrm>
            <a:off x="2647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sp>
        <p:nvSpPr>
          <p:cNvPr id="323" name="Google Shape;323;g24831cadf28_0_366"/>
          <p:cNvSpPr/>
          <p:nvPr/>
        </p:nvSpPr>
        <p:spPr>
          <a:xfrm>
            <a:off x="4762775" y="4089175"/>
            <a:ext cx="1611000" cy="4041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Pasa</a:t>
            </a:r>
            <a:endParaRPr b="0" i="0" sz="1400" u="none" cap="none" strike="noStrike">
              <a:solidFill>
                <a:srgbClr val="000000"/>
              </a:solidFill>
              <a:latin typeface="Arial"/>
              <a:ea typeface="Arial"/>
              <a:cs typeface="Arial"/>
              <a:sym typeface="Arial"/>
            </a:endParaRPr>
          </a:p>
        </p:txBody>
      </p:sp>
      <p:sp>
        <p:nvSpPr>
          <p:cNvPr id="324" name="Google Shape;324;g24831cadf28_0_366"/>
          <p:cNvSpPr/>
          <p:nvPr/>
        </p:nvSpPr>
        <p:spPr>
          <a:xfrm>
            <a:off x="6906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 pasa</a:t>
            </a:r>
            <a:endParaRPr b="0" i="0" sz="1400" u="none" cap="none" strike="noStrike">
              <a:solidFill>
                <a:srgbClr val="000000"/>
              </a:solidFill>
              <a:latin typeface="Arial"/>
              <a:ea typeface="Arial"/>
              <a:cs typeface="Arial"/>
              <a:sym typeface="Arial"/>
            </a:endParaRPr>
          </a:p>
        </p:txBody>
      </p:sp>
      <p:cxnSp>
        <p:nvCxnSpPr>
          <p:cNvPr id="325" name="Google Shape;325;g24831cadf28_0_366"/>
          <p:cNvCxnSpPr>
            <a:stCxn id="318" idx="3"/>
            <a:endCxn id="319" idx="0"/>
          </p:cNvCxnSpPr>
          <p:nvPr/>
        </p:nvCxnSpPr>
        <p:spPr>
          <a:xfrm flipH="1">
            <a:off x="2375250" y="2711596"/>
            <a:ext cx="1551300" cy="486900"/>
          </a:xfrm>
          <a:prstGeom prst="straightConnector1">
            <a:avLst/>
          </a:prstGeom>
          <a:noFill/>
          <a:ln cap="flat" cmpd="sng" w="38100">
            <a:solidFill>
              <a:schemeClr val="dk2"/>
            </a:solidFill>
            <a:prstDash val="solid"/>
            <a:round/>
            <a:headEnd len="sm" w="sm" type="none"/>
            <a:tailEnd len="med" w="med" type="triangle"/>
          </a:ln>
        </p:spPr>
      </p:cxnSp>
      <p:cxnSp>
        <p:nvCxnSpPr>
          <p:cNvPr id="326" name="Google Shape;326;g24831cadf28_0_366"/>
          <p:cNvCxnSpPr>
            <a:stCxn id="318" idx="5"/>
            <a:endCxn id="320" idx="0"/>
          </p:cNvCxnSpPr>
          <p:nvPr/>
        </p:nvCxnSpPr>
        <p:spPr>
          <a:xfrm>
            <a:off x="5065700" y="2711596"/>
            <a:ext cx="1615500" cy="486900"/>
          </a:xfrm>
          <a:prstGeom prst="straightConnector1">
            <a:avLst/>
          </a:prstGeom>
          <a:noFill/>
          <a:ln cap="flat" cmpd="sng" w="38100">
            <a:solidFill>
              <a:schemeClr val="dk2"/>
            </a:solidFill>
            <a:prstDash val="solid"/>
            <a:round/>
            <a:headEnd len="sm" w="sm" type="none"/>
            <a:tailEnd len="med" w="med" type="triangle"/>
          </a:ln>
        </p:spPr>
      </p:cxnSp>
      <p:cxnSp>
        <p:nvCxnSpPr>
          <p:cNvPr id="327" name="Google Shape;327;g24831cadf28_0_366"/>
          <p:cNvCxnSpPr>
            <a:stCxn id="320" idx="5"/>
            <a:endCxn id="324" idx="0"/>
          </p:cNvCxnSpPr>
          <p:nvPr/>
        </p:nvCxnSpPr>
        <p:spPr>
          <a:xfrm>
            <a:off x="7250775" y="3543546"/>
            <a:ext cx="461700" cy="545700"/>
          </a:xfrm>
          <a:prstGeom prst="straightConnector1">
            <a:avLst/>
          </a:prstGeom>
          <a:noFill/>
          <a:ln cap="flat" cmpd="sng" w="9525">
            <a:solidFill>
              <a:schemeClr val="dk2"/>
            </a:solidFill>
            <a:prstDash val="solid"/>
            <a:round/>
            <a:headEnd len="sm" w="sm" type="none"/>
            <a:tailEnd len="med" w="med" type="triangle"/>
          </a:ln>
        </p:spPr>
      </p:cxnSp>
      <p:cxnSp>
        <p:nvCxnSpPr>
          <p:cNvPr id="328" name="Google Shape;328;g24831cadf28_0_366"/>
          <p:cNvCxnSpPr>
            <a:stCxn id="320" idx="3"/>
            <a:endCxn id="323" idx="0"/>
          </p:cNvCxnSpPr>
          <p:nvPr/>
        </p:nvCxnSpPr>
        <p:spPr>
          <a:xfrm flipH="1">
            <a:off x="5568325" y="3543546"/>
            <a:ext cx="543300" cy="545700"/>
          </a:xfrm>
          <a:prstGeom prst="straightConnector1">
            <a:avLst/>
          </a:prstGeom>
          <a:noFill/>
          <a:ln cap="flat" cmpd="sng" w="38100">
            <a:solidFill>
              <a:schemeClr val="dk2"/>
            </a:solidFill>
            <a:prstDash val="solid"/>
            <a:round/>
            <a:headEnd len="sm" w="sm" type="none"/>
            <a:tailEnd len="med" w="med" type="triangle"/>
          </a:ln>
        </p:spPr>
      </p:cxnSp>
      <p:cxnSp>
        <p:nvCxnSpPr>
          <p:cNvPr id="329" name="Google Shape;329;g24831cadf28_0_366"/>
          <p:cNvCxnSpPr>
            <a:stCxn id="319" idx="5"/>
            <a:endCxn id="322" idx="0"/>
          </p:cNvCxnSpPr>
          <p:nvPr/>
        </p:nvCxnSpPr>
        <p:spPr>
          <a:xfrm>
            <a:off x="2944775" y="3543546"/>
            <a:ext cx="508800" cy="545700"/>
          </a:xfrm>
          <a:prstGeom prst="straightConnector1">
            <a:avLst/>
          </a:prstGeom>
          <a:noFill/>
          <a:ln cap="flat" cmpd="sng" w="9525">
            <a:solidFill>
              <a:schemeClr val="dk2"/>
            </a:solidFill>
            <a:prstDash val="solid"/>
            <a:round/>
            <a:headEnd len="sm" w="sm" type="none"/>
            <a:tailEnd len="med" w="med" type="triangle"/>
          </a:ln>
        </p:spPr>
      </p:cxnSp>
      <p:cxnSp>
        <p:nvCxnSpPr>
          <p:cNvPr id="330" name="Google Shape;330;g24831cadf28_0_366"/>
          <p:cNvCxnSpPr>
            <a:stCxn id="319" idx="3"/>
            <a:endCxn id="321" idx="0"/>
          </p:cNvCxnSpPr>
          <p:nvPr/>
        </p:nvCxnSpPr>
        <p:spPr>
          <a:xfrm flipH="1">
            <a:off x="1309125" y="3543546"/>
            <a:ext cx="496500" cy="545700"/>
          </a:xfrm>
          <a:prstGeom prst="straightConnector1">
            <a:avLst/>
          </a:prstGeom>
          <a:noFill/>
          <a:ln cap="flat" cmpd="sng" w="38100">
            <a:solidFill>
              <a:schemeClr val="dk2"/>
            </a:solidFill>
            <a:prstDash val="solid"/>
            <a:round/>
            <a:headEnd len="sm" w="sm" type="none"/>
            <a:tailEnd len="med" w="med" type="triangle"/>
          </a:ln>
        </p:spPr>
      </p:cxnSp>
      <p:sp>
        <p:nvSpPr>
          <p:cNvPr id="331" name="Google Shape;331;g24831cadf28_0_366"/>
          <p:cNvSpPr txBox="1"/>
          <p:nvPr/>
        </p:nvSpPr>
        <p:spPr>
          <a:xfrm>
            <a:off x="2741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2" name="Google Shape;332;g24831cadf28_0_366"/>
          <p:cNvSpPr txBox="1"/>
          <p:nvPr/>
        </p:nvSpPr>
        <p:spPr>
          <a:xfrm>
            <a:off x="5900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333" name="Google Shape;333;g24831cadf28_0_366"/>
          <p:cNvSpPr txBox="1"/>
          <p:nvPr/>
        </p:nvSpPr>
        <p:spPr>
          <a:xfrm>
            <a:off x="75937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0.9</a:t>
            </a:r>
            <a:endParaRPr b="0" i="0" sz="1400" u="none" cap="none" strike="noStrike">
              <a:solidFill>
                <a:srgbClr val="000000"/>
              </a:solidFill>
              <a:latin typeface="Arial"/>
              <a:ea typeface="Arial"/>
              <a:cs typeface="Arial"/>
              <a:sym typeface="Arial"/>
            </a:endParaRPr>
          </a:p>
        </p:txBody>
      </p:sp>
      <p:sp>
        <p:nvSpPr>
          <p:cNvPr id="334" name="Google Shape;334;g24831cadf28_0_366"/>
          <p:cNvSpPr txBox="1"/>
          <p:nvPr/>
        </p:nvSpPr>
        <p:spPr>
          <a:xfrm>
            <a:off x="51685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5" name="Google Shape;335;g24831cadf28_0_366"/>
          <p:cNvSpPr txBox="1"/>
          <p:nvPr/>
        </p:nvSpPr>
        <p:spPr>
          <a:xfrm>
            <a:off x="3270500"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0.6</a:t>
            </a:r>
            <a:endParaRPr b="0" i="0" sz="1400" u="none" cap="none" strike="noStrike">
              <a:solidFill>
                <a:srgbClr val="000000"/>
              </a:solidFill>
              <a:latin typeface="Arial"/>
              <a:ea typeface="Arial"/>
              <a:cs typeface="Arial"/>
              <a:sym typeface="Arial"/>
            </a:endParaRPr>
          </a:p>
        </p:txBody>
      </p:sp>
      <p:sp>
        <p:nvSpPr>
          <p:cNvPr id="336" name="Google Shape;336;g24831cadf28_0_366"/>
          <p:cNvSpPr txBox="1"/>
          <p:nvPr/>
        </p:nvSpPr>
        <p:spPr>
          <a:xfrm>
            <a:off x="9618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0.4</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24831cadf28_0_39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342" name="Google Shape;342;g24831cadf28_0_390"/>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Durante el otoño en Tandil, un 10% de los días llueve y el 90% de los días hay sol. Cuando llueve, la probabilidad de que el colectivo azul pase de largo es de un 0.4. Cuando no llueve, la probabilidad de que pase de largo es de 0.1. </a:t>
            </a:r>
            <a:r>
              <a:rPr b="1" i="0" lang="en" sz="1400" u="none" cap="none" strike="noStrike">
                <a:solidFill>
                  <a:srgbClr val="000000"/>
                </a:solidFill>
                <a:latin typeface="Arial"/>
                <a:ea typeface="Arial"/>
                <a:cs typeface="Arial"/>
                <a:sym typeface="Arial"/>
              </a:rPr>
              <a:t>Calcular la probabilidad de que pase de largo.</a:t>
            </a:r>
            <a:endParaRPr b="1" i="0" sz="1400" u="none" cap="none" strike="noStrike">
              <a:solidFill>
                <a:srgbClr val="000000"/>
              </a:solidFill>
              <a:latin typeface="Arial"/>
              <a:ea typeface="Arial"/>
              <a:cs typeface="Arial"/>
              <a:sym typeface="Arial"/>
            </a:endParaRPr>
          </a:p>
        </p:txBody>
      </p:sp>
      <p:pic>
        <p:nvPicPr>
          <p:cNvPr id="343" name="Google Shape;343;g24831cadf28_0_390"/>
          <p:cNvPicPr preferRelativeResize="0"/>
          <p:nvPr/>
        </p:nvPicPr>
        <p:blipFill rotWithShape="1">
          <a:blip r:embed="rId3">
            <a:alphaModFix/>
          </a:blip>
          <a:srcRect b="0" l="0" r="0" t="0"/>
          <a:stretch/>
        </p:blipFill>
        <p:spPr>
          <a:xfrm>
            <a:off x="4080459" y="2001450"/>
            <a:ext cx="4964592" cy="1554625"/>
          </a:xfrm>
          <a:prstGeom prst="rect">
            <a:avLst/>
          </a:prstGeom>
          <a:noFill/>
          <a:ln>
            <a:noFill/>
          </a:ln>
        </p:spPr>
      </p:pic>
      <p:sp>
        <p:nvSpPr>
          <p:cNvPr id="344" name="Google Shape;344;g24831cadf28_0_390"/>
          <p:cNvSpPr txBox="1"/>
          <p:nvPr/>
        </p:nvSpPr>
        <p:spPr>
          <a:xfrm>
            <a:off x="249250" y="2078575"/>
            <a:ext cx="51636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P(Pase de largo)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 P(Pase de largo y Llueve)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 P(Pase de largo y Sol)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 P(Llueve) x P(Pase de largo | Llueve)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 P(Sol) x P(Pase de largo | Sol)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 0.1 x 0.4 + 0.9 x 0.1</a:t>
            </a:r>
            <a:r>
              <a:rPr b="1" i="0" lang="en" sz="1400" u="none" cap="none" strike="noStrike">
                <a:solidFill>
                  <a:srgbClr val="000000"/>
                </a:solidFill>
                <a:latin typeface="Arial"/>
                <a:ea typeface="Arial"/>
                <a:cs typeface="Arial"/>
                <a:sym typeface="Arial"/>
              </a:rPr>
              <a:t> = 0.13</a:t>
            </a:r>
            <a:endParaRPr b="1"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24831cadf28_0_25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Probabilidad condicional</a:t>
            </a:r>
            <a:endParaRPr b="1" i="0" sz="3600" u="none" cap="none" strike="noStrike">
              <a:solidFill>
                <a:srgbClr val="FFFFFF"/>
              </a:solidFill>
              <a:latin typeface="Helvetica Neue"/>
              <a:ea typeface="Helvetica Neue"/>
              <a:cs typeface="Helvetica Neue"/>
              <a:sym typeface="Helvetica Neue"/>
            </a:endParaRPr>
          </a:p>
        </p:txBody>
      </p:sp>
      <p:sp>
        <p:nvSpPr>
          <p:cNvPr id="350" name="Google Shape;350;g24831cadf28_0_258"/>
          <p:cNvSpPr txBox="1"/>
          <p:nvPr/>
        </p:nvSpPr>
        <p:spPr>
          <a:xfrm>
            <a:off x="249250" y="1088050"/>
            <a:ext cx="8456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Ejercicio de ejemplo: </a:t>
            </a:r>
            <a:r>
              <a:rPr b="0" i="0" lang="en" sz="1400" u="none" cap="none" strike="noStrike">
                <a:solidFill>
                  <a:srgbClr val="000000"/>
                </a:solidFill>
                <a:latin typeface="Arial"/>
                <a:ea typeface="Arial"/>
                <a:cs typeface="Arial"/>
                <a:sym typeface="Arial"/>
              </a:rPr>
              <a:t>Supongamos que se arroja una moneda al aire y se observa si dio cara (C) o ceca (S). Calcular las probabilidades de que toquen 2 caras (CC), 2 cecas (SS), primero cara y después ceca (CS) y primero ceca y después cara (SC)</a:t>
            </a:r>
            <a:endParaRPr b="0" i="0" sz="1400" u="none" cap="none" strike="noStrike">
              <a:solidFill>
                <a:srgbClr val="000000"/>
              </a:solidFill>
              <a:latin typeface="Arial"/>
              <a:ea typeface="Arial"/>
              <a:cs typeface="Arial"/>
              <a:sym typeface="Arial"/>
            </a:endParaRPr>
          </a:p>
        </p:txBody>
      </p:sp>
      <p:sp>
        <p:nvSpPr>
          <p:cNvPr id="351" name="Google Shape;351;g24831cadf28_0_258"/>
          <p:cNvSpPr/>
          <p:nvPr/>
        </p:nvSpPr>
        <p:spPr>
          <a:xfrm>
            <a:off x="3690625" y="23666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g24831cadf28_0_258"/>
          <p:cNvSpPr/>
          <p:nvPr/>
        </p:nvSpPr>
        <p:spPr>
          <a:xfrm>
            <a:off x="1569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353" name="Google Shape;353;g24831cadf28_0_258"/>
          <p:cNvSpPr/>
          <p:nvPr/>
        </p:nvSpPr>
        <p:spPr>
          <a:xfrm>
            <a:off x="5875700" y="319862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sp>
        <p:nvSpPr>
          <p:cNvPr id="354" name="Google Shape;354;g24831cadf28_0_258"/>
          <p:cNvSpPr/>
          <p:nvPr/>
        </p:nvSpPr>
        <p:spPr>
          <a:xfrm>
            <a:off x="503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355" name="Google Shape;355;g24831cadf28_0_258"/>
          <p:cNvSpPr/>
          <p:nvPr/>
        </p:nvSpPr>
        <p:spPr>
          <a:xfrm>
            <a:off x="2647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sp>
        <p:nvSpPr>
          <p:cNvPr id="356" name="Google Shape;356;g24831cadf28_0_258"/>
          <p:cNvSpPr/>
          <p:nvPr/>
        </p:nvSpPr>
        <p:spPr>
          <a:xfrm>
            <a:off x="4762775"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357" name="Google Shape;357;g24831cadf28_0_258"/>
          <p:cNvSpPr/>
          <p:nvPr/>
        </p:nvSpPr>
        <p:spPr>
          <a:xfrm>
            <a:off x="6906950" y="4089175"/>
            <a:ext cx="1611000" cy="404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S</a:t>
            </a:r>
            <a:endParaRPr b="0" i="0" sz="1400" u="none" cap="none" strike="noStrike">
              <a:solidFill>
                <a:srgbClr val="000000"/>
              </a:solidFill>
              <a:latin typeface="Arial"/>
              <a:ea typeface="Arial"/>
              <a:cs typeface="Arial"/>
              <a:sym typeface="Arial"/>
            </a:endParaRPr>
          </a:p>
        </p:txBody>
      </p:sp>
      <p:cxnSp>
        <p:nvCxnSpPr>
          <p:cNvPr id="358" name="Google Shape;358;g24831cadf28_0_258"/>
          <p:cNvCxnSpPr>
            <a:stCxn id="351" idx="3"/>
            <a:endCxn id="352" idx="0"/>
          </p:cNvCxnSpPr>
          <p:nvPr/>
        </p:nvCxnSpPr>
        <p:spPr>
          <a:xfrm flipH="1">
            <a:off x="2375250" y="2711596"/>
            <a:ext cx="1551300" cy="486900"/>
          </a:xfrm>
          <a:prstGeom prst="straightConnector1">
            <a:avLst/>
          </a:prstGeom>
          <a:noFill/>
          <a:ln cap="flat" cmpd="sng" w="9525">
            <a:solidFill>
              <a:schemeClr val="dk2"/>
            </a:solidFill>
            <a:prstDash val="solid"/>
            <a:round/>
            <a:headEnd len="sm" w="sm" type="none"/>
            <a:tailEnd len="med" w="med" type="triangle"/>
          </a:ln>
        </p:spPr>
      </p:cxnSp>
      <p:cxnSp>
        <p:nvCxnSpPr>
          <p:cNvPr id="359" name="Google Shape;359;g24831cadf28_0_258"/>
          <p:cNvCxnSpPr>
            <a:stCxn id="351" idx="5"/>
            <a:endCxn id="353" idx="0"/>
          </p:cNvCxnSpPr>
          <p:nvPr/>
        </p:nvCxnSpPr>
        <p:spPr>
          <a:xfrm>
            <a:off x="5065700" y="2711596"/>
            <a:ext cx="1615500" cy="486900"/>
          </a:xfrm>
          <a:prstGeom prst="straightConnector1">
            <a:avLst/>
          </a:prstGeom>
          <a:noFill/>
          <a:ln cap="flat" cmpd="sng" w="9525">
            <a:solidFill>
              <a:schemeClr val="dk2"/>
            </a:solidFill>
            <a:prstDash val="solid"/>
            <a:round/>
            <a:headEnd len="sm" w="sm" type="none"/>
            <a:tailEnd len="med" w="med" type="triangle"/>
          </a:ln>
        </p:spPr>
      </p:cxnSp>
      <p:cxnSp>
        <p:nvCxnSpPr>
          <p:cNvPr id="360" name="Google Shape;360;g24831cadf28_0_258"/>
          <p:cNvCxnSpPr>
            <a:stCxn id="353" idx="5"/>
            <a:endCxn id="357" idx="0"/>
          </p:cNvCxnSpPr>
          <p:nvPr/>
        </p:nvCxnSpPr>
        <p:spPr>
          <a:xfrm>
            <a:off x="7250775" y="3543546"/>
            <a:ext cx="461700" cy="545700"/>
          </a:xfrm>
          <a:prstGeom prst="straightConnector1">
            <a:avLst/>
          </a:prstGeom>
          <a:noFill/>
          <a:ln cap="flat" cmpd="sng" w="9525">
            <a:solidFill>
              <a:schemeClr val="dk2"/>
            </a:solidFill>
            <a:prstDash val="solid"/>
            <a:round/>
            <a:headEnd len="sm" w="sm" type="none"/>
            <a:tailEnd len="med" w="med" type="triangle"/>
          </a:ln>
        </p:spPr>
      </p:cxnSp>
      <p:cxnSp>
        <p:nvCxnSpPr>
          <p:cNvPr id="361" name="Google Shape;361;g24831cadf28_0_258"/>
          <p:cNvCxnSpPr>
            <a:stCxn id="353" idx="3"/>
            <a:endCxn id="356" idx="0"/>
          </p:cNvCxnSpPr>
          <p:nvPr/>
        </p:nvCxnSpPr>
        <p:spPr>
          <a:xfrm flipH="1">
            <a:off x="5568325" y="3543546"/>
            <a:ext cx="543300" cy="545700"/>
          </a:xfrm>
          <a:prstGeom prst="straightConnector1">
            <a:avLst/>
          </a:prstGeom>
          <a:noFill/>
          <a:ln cap="flat" cmpd="sng" w="9525">
            <a:solidFill>
              <a:schemeClr val="dk2"/>
            </a:solidFill>
            <a:prstDash val="solid"/>
            <a:round/>
            <a:headEnd len="sm" w="sm" type="none"/>
            <a:tailEnd len="med" w="med" type="triangle"/>
          </a:ln>
        </p:spPr>
      </p:cxnSp>
      <p:cxnSp>
        <p:nvCxnSpPr>
          <p:cNvPr id="362" name="Google Shape;362;g24831cadf28_0_258"/>
          <p:cNvCxnSpPr>
            <a:stCxn id="352" idx="5"/>
            <a:endCxn id="355" idx="0"/>
          </p:cNvCxnSpPr>
          <p:nvPr/>
        </p:nvCxnSpPr>
        <p:spPr>
          <a:xfrm>
            <a:off x="2944775" y="3543546"/>
            <a:ext cx="508800" cy="545700"/>
          </a:xfrm>
          <a:prstGeom prst="straightConnector1">
            <a:avLst/>
          </a:prstGeom>
          <a:noFill/>
          <a:ln cap="flat" cmpd="sng" w="9525">
            <a:solidFill>
              <a:schemeClr val="dk2"/>
            </a:solidFill>
            <a:prstDash val="solid"/>
            <a:round/>
            <a:headEnd len="sm" w="sm" type="none"/>
            <a:tailEnd len="med" w="med" type="triangle"/>
          </a:ln>
        </p:spPr>
      </p:cxnSp>
      <p:cxnSp>
        <p:nvCxnSpPr>
          <p:cNvPr id="363" name="Google Shape;363;g24831cadf28_0_258"/>
          <p:cNvCxnSpPr>
            <a:stCxn id="352" idx="3"/>
            <a:endCxn id="354" idx="0"/>
          </p:cNvCxnSpPr>
          <p:nvPr/>
        </p:nvCxnSpPr>
        <p:spPr>
          <a:xfrm flipH="1">
            <a:off x="1309125" y="3543546"/>
            <a:ext cx="496500" cy="545700"/>
          </a:xfrm>
          <a:prstGeom prst="straightConnector1">
            <a:avLst/>
          </a:prstGeom>
          <a:noFill/>
          <a:ln cap="flat" cmpd="sng" w="9525">
            <a:solidFill>
              <a:schemeClr val="dk2"/>
            </a:solidFill>
            <a:prstDash val="solid"/>
            <a:round/>
            <a:headEnd len="sm" w="sm" type="none"/>
            <a:tailEnd len="med" w="med" type="triangle"/>
          </a:ln>
        </p:spPr>
      </p:cxnSp>
      <p:sp>
        <p:nvSpPr>
          <p:cNvPr id="364" name="Google Shape;364;g24831cadf28_0_258"/>
          <p:cNvSpPr txBox="1"/>
          <p:nvPr/>
        </p:nvSpPr>
        <p:spPr>
          <a:xfrm>
            <a:off x="2741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365" name="Google Shape;365;g24831cadf28_0_258"/>
          <p:cNvSpPr txBox="1"/>
          <p:nvPr/>
        </p:nvSpPr>
        <p:spPr>
          <a:xfrm>
            <a:off x="5900650" y="2607550"/>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366" name="Google Shape;366;g24831cadf28_0_258"/>
          <p:cNvSpPr txBox="1"/>
          <p:nvPr/>
        </p:nvSpPr>
        <p:spPr>
          <a:xfrm>
            <a:off x="75937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367" name="Google Shape;367;g24831cadf28_0_258"/>
          <p:cNvSpPr txBox="1"/>
          <p:nvPr/>
        </p:nvSpPr>
        <p:spPr>
          <a:xfrm>
            <a:off x="51685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368" name="Google Shape;368;g24831cadf28_0_258"/>
          <p:cNvSpPr txBox="1"/>
          <p:nvPr/>
        </p:nvSpPr>
        <p:spPr>
          <a:xfrm>
            <a:off x="3270500"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
        <p:nvSpPr>
          <p:cNvPr id="369" name="Google Shape;369;g24831cadf28_0_258"/>
          <p:cNvSpPr txBox="1"/>
          <p:nvPr/>
        </p:nvSpPr>
        <p:spPr>
          <a:xfrm>
            <a:off x="733275" y="3602725"/>
            <a:ext cx="496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7"/>
          <p:cNvSpPr/>
          <p:nvPr/>
        </p:nvSpPr>
        <p:spPr>
          <a:xfrm>
            <a:off x="367825" y="2061975"/>
            <a:ext cx="7488000" cy="21618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7"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Independencia condicional</a:t>
            </a:r>
            <a:endParaRPr b="1" i="0" sz="3600" u="none" cap="none" strike="noStrike">
              <a:solidFill>
                <a:srgbClr val="FFFFFF"/>
              </a:solidFill>
              <a:latin typeface="Helvetica Neue"/>
              <a:ea typeface="Helvetica Neue"/>
              <a:cs typeface="Helvetica Neue"/>
              <a:sym typeface="Helvetica Neue"/>
            </a:endParaRPr>
          </a:p>
        </p:txBody>
      </p:sp>
      <p:sp>
        <p:nvSpPr>
          <p:cNvPr id="376" name="Google Shape;376;p7"/>
          <p:cNvSpPr txBox="1"/>
          <p:nvPr/>
        </p:nvSpPr>
        <p:spPr>
          <a:xfrm>
            <a:off x="226318" y="1036236"/>
            <a:ext cx="89178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Cuando la ocurrencia (o no) de un suceso no influye en la probabilidad de que otro suceso ocurra, decimos que estos eventos son </a:t>
            </a:r>
            <a:r>
              <a:rPr b="1" i="0" lang="en" sz="1800" u="none" cap="none" strike="noStrike">
                <a:solidFill>
                  <a:srgbClr val="616161"/>
                </a:solidFill>
                <a:latin typeface="Proxima Nova"/>
                <a:ea typeface="Proxima Nova"/>
                <a:cs typeface="Proxima Nova"/>
                <a:sym typeface="Proxima Nova"/>
              </a:rPr>
              <a:t>independientes</a:t>
            </a:r>
            <a:r>
              <a:rPr b="0" i="0" lang="en" sz="1800" u="none" cap="none" strike="noStrike">
                <a:solidFill>
                  <a:srgbClr val="616161"/>
                </a:solidFill>
                <a:latin typeface="Proxima Nova"/>
                <a:ea typeface="Proxima Nova"/>
                <a:cs typeface="Proxima Nova"/>
                <a:sym typeface="Proxima Nova"/>
              </a:rPr>
              <a:t>.</a:t>
            </a:r>
            <a:endParaRPr b="0" i="0" sz="1600" u="none" cap="none" strike="noStrike">
              <a:solidFill>
                <a:srgbClr val="616161"/>
              </a:solidFill>
              <a:latin typeface="Proxima Nova"/>
              <a:ea typeface="Proxima Nova"/>
              <a:cs typeface="Proxima Nova"/>
              <a:sym typeface="Proxima Nova"/>
            </a:endParaRPr>
          </a:p>
        </p:txBody>
      </p:sp>
      <p:sp>
        <p:nvSpPr>
          <p:cNvPr id="377" name="Google Shape;377;p7"/>
          <p:cNvSpPr txBox="1"/>
          <p:nvPr/>
        </p:nvSpPr>
        <p:spPr>
          <a:xfrm>
            <a:off x="624800" y="2293200"/>
            <a:ext cx="7324800" cy="5571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Si P(A | B) = P(A) y P(B | A) = P(B), entonces A y B son independientes</a:t>
            </a:r>
            <a:endParaRPr b="0" i="0" sz="1600" u="none" cap="none" strike="noStrike">
              <a:solidFill>
                <a:srgbClr val="616161"/>
              </a:solidFill>
              <a:latin typeface="Proxima Nova"/>
              <a:ea typeface="Proxima Nova"/>
              <a:cs typeface="Proxima Nova"/>
              <a:sym typeface="Proxima Nova"/>
            </a:endParaRPr>
          </a:p>
        </p:txBody>
      </p:sp>
      <p:sp>
        <p:nvSpPr>
          <p:cNvPr id="378" name="Google Shape;378;p7"/>
          <p:cNvSpPr txBox="1"/>
          <p:nvPr/>
        </p:nvSpPr>
        <p:spPr>
          <a:xfrm>
            <a:off x="672623" y="3186150"/>
            <a:ext cx="6826200"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Cuando A y B son independientes, entonces P(A∩B) = P(A) x P(B) </a:t>
            </a:r>
            <a:endParaRPr b="0" i="0" sz="18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