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c9ba951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c9ba951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cosas que faltan en estas filminas: como afecan al orden de precedencia los operadores, explicacion de que es una relacion y que tipos hay, detallar bien claramente que elementos adhiere la logica de predicados (cuantif., const, relaciones, funciones) y universo de discurso. Denotar bien que se esta eneseñando logica proposicional y luedo de predicados o primer orden, explicar porque la logica propocisional es limitada en su expresion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6dd4c30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6dd4c30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15ef704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15ef704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6309ec97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6309ec97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6309ec971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6309ec971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309ec971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309ec971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6309ec971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6309ec97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6309ec971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6309ec971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50766631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50766631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50766631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50766631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50766631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50766631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50766631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50766631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507666319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507666319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1c3e232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11c3e232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50766631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50766631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50766631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650766631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Taller de Matemática Computacional TUDAI/TUARI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96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2025 Exactas - UNICEN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Estadística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Estadística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Describir datos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Representación y cálculo de medidas de resumen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Toma de decisiones objetivas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225" y="2347125"/>
            <a:ext cx="428625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Población</a:t>
            </a:r>
            <a:r>
              <a:rPr lang="es"/>
              <a:t>: Conjunto de datos total, acotados en un tiempo y espacio determinados, con alguna característica común, </a:t>
            </a:r>
            <a:r>
              <a:rPr b="1" lang="es"/>
              <a:t>observable o medible.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Generalmente no se tiene acceso a la población entera, por lo que se usa un subconjunto de la misma, llamada </a:t>
            </a:r>
            <a:r>
              <a:rPr b="1" lang="es"/>
              <a:t>M</a:t>
            </a:r>
            <a:r>
              <a:rPr b="1" lang="es"/>
              <a:t>uestra.</a:t>
            </a:r>
            <a:endParaRPr b="1"/>
          </a:p>
          <a:p>
            <a:pPr indent="0" lvl="0" marL="0" marR="4553771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/>
              <a:t>Cada elemento de la Muestra tiene las características de </a:t>
            </a:r>
            <a:r>
              <a:rPr i="1" lang="es"/>
              <a:t>interés</a:t>
            </a:r>
            <a:r>
              <a:rPr i="1" lang="es"/>
              <a:t> que queremos medir, evaluar, clasificar, analizar.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básicos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10354" l="0" r="0" t="0"/>
          <a:stretch/>
        </p:blipFill>
        <p:spPr>
          <a:xfrm>
            <a:off x="4716675" y="2904600"/>
            <a:ext cx="4340499" cy="21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básicos (cont.)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Variables</a:t>
            </a:r>
            <a:r>
              <a:rPr lang="es"/>
              <a:t>: Características que cambian de un elemento a otro del espacio muestral, por ej. edad, peso, altura, etc. Según su naturaleza, pueden ser: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Cualitativas</a:t>
            </a:r>
            <a:r>
              <a:rPr lang="es"/>
              <a:t>: No numéricas, si se pueden ordenar o no: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i="1" lang="es"/>
              <a:t>Ordinales,</a:t>
            </a:r>
            <a:r>
              <a:rPr lang="es"/>
              <a:t> </a:t>
            </a:r>
            <a:r>
              <a:rPr lang="es"/>
              <a:t>por ej.Grado de satisfacción, nivel educativo.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s"/>
              <a:t>Nominales,</a:t>
            </a:r>
            <a:r>
              <a:rPr lang="es"/>
              <a:t> por ej. nacionalidad, grupo sanguíneo, color de ojos.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Cuantitativas</a:t>
            </a:r>
            <a:r>
              <a:rPr lang="es"/>
              <a:t>: Valores numéricos, dependiendo de si son ℤ o ℝ: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i="1" lang="es"/>
              <a:t>Discretas</a:t>
            </a:r>
            <a:r>
              <a:rPr lang="es"/>
              <a:t>,</a:t>
            </a:r>
            <a:r>
              <a:rPr b="1" lang="es"/>
              <a:t> </a:t>
            </a:r>
            <a:r>
              <a:rPr lang="es"/>
              <a:t>por ej. cantidad de alumnos, cantidad de hijos.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s"/>
              <a:t>Continuas</a:t>
            </a:r>
            <a:r>
              <a:rPr lang="es"/>
              <a:t>, por ej. altura, peso, ingresos mensuales.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Se desea analizar un estudio estadístico sobre la edad, altura y peso de los alumnos de TUDAI. Para ello se hace una encuesta opcional a la entrada del aula de TMC, a la que un total de 50 alumnos respondieron.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• Población: </a:t>
            </a:r>
            <a:r>
              <a:rPr i="1" lang="es"/>
              <a:t>Todos los alumnos de TUDAI.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• Muestra: </a:t>
            </a:r>
            <a:r>
              <a:rPr i="1" lang="es"/>
              <a:t>Los 50 alumnos que respondieron la encuesta en el aula de TMC.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• Individuo: </a:t>
            </a:r>
            <a:r>
              <a:rPr i="1" lang="es"/>
              <a:t>Cada alumno.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• Variables: </a:t>
            </a:r>
            <a:r>
              <a:rPr i="1" lang="es"/>
              <a:t>Edad, altura y peso.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Organización de los datos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</a:t>
            </a:r>
            <a:r>
              <a:rPr lang="es"/>
              <a:t>epresentar los datos de manera general, usando </a:t>
            </a:r>
            <a:r>
              <a:rPr b="1" lang="es"/>
              <a:t>tablas</a:t>
            </a:r>
            <a:r>
              <a:rPr lang="es"/>
              <a:t> de </a:t>
            </a:r>
            <a:r>
              <a:rPr b="1" lang="es"/>
              <a:t>distribución de</a:t>
            </a:r>
            <a:r>
              <a:rPr lang="es"/>
              <a:t> </a:t>
            </a:r>
            <a:r>
              <a:rPr b="1" lang="es"/>
              <a:t>frecuencias</a:t>
            </a:r>
            <a:r>
              <a:rPr lang="es"/>
              <a:t>. Puede hacerse tanto con variables </a:t>
            </a:r>
            <a:r>
              <a:rPr i="1" lang="es"/>
              <a:t>cualitativas</a:t>
            </a:r>
            <a:r>
              <a:rPr lang="es"/>
              <a:t> y </a:t>
            </a:r>
            <a:r>
              <a:rPr i="1" lang="es"/>
              <a:t>cuantitativas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Frecuencia Absoluta f</a:t>
            </a:r>
            <a:r>
              <a:rPr b="1" baseline="-25000" lang="es"/>
              <a:t>i</a:t>
            </a:r>
            <a:r>
              <a:rPr lang="es"/>
              <a:t>: #veces que se repite un valor x</a:t>
            </a:r>
            <a:r>
              <a:rPr baseline="-25000" lang="es"/>
              <a:t>i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Frecuencia Acumulada Absoluta F</a:t>
            </a:r>
            <a:r>
              <a:rPr b="1" baseline="-25000" lang="es"/>
              <a:t>i</a:t>
            </a:r>
            <a:r>
              <a:rPr lang="es"/>
              <a:t>: #veces que el valor es menor a x</a:t>
            </a:r>
            <a:r>
              <a:rPr baseline="-25000" lang="es"/>
              <a:t>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Frec. Relativa</a:t>
            </a:r>
            <a:r>
              <a:rPr lang="es"/>
              <a:t>: es el cociente f</a:t>
            </a:r>
            <a:r>
              <a:rPr baseline="-25000" lang="es"/>
              <a:t>i</a:t>
            </a:r>
            <a:r>
              <a:rPr lang="es"/>
              <a:t>/N, donde N es el total de datos, toma valores entre 0 y 1. De forma análoga F</a:t>
            </a:r>
            <a:r>
              <a:rPr baseline="-25000" lang="es"/>
              <a:t>i</a:t>
            </a:r>
            <a:r>
              <a:rPr lang="es"/>
              <a:t>/N.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/>
              <a:t>Frec. Relativa Porcentual</a:t>
            </a:r>
            <a:r>
              <a:rPr lang="es"/>
              <a:t>: Se multiplica la Frec. relativa por 100 par tenerla en formato de porcentaje.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Representación de distribuciones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1170125"/>
            <a:ext cx="577291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Representación de distribuciones (cont.)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Variables Cuantitativas</a:t>
            </a:r>
            <a:r>
              <a:rPr lang="es"/>
              <a:t>: Se utilizan </a:t>
            </a:r>
            <a:r>
              <a:rPr b="1" lang="es"/>
              <a:t>histogramas</a:t>
            </a:r>
            <a:r>
              <a:rPr lang="es"/>
              <a:t>. Se agrupan los valores en intervalos. Las barras deben cubrir todo el intervalo de valores.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8374"/>
          <a:stretch/>
        </p:blipFill>
        <p:spPr>
          <a:xfrm>
            <a:off x="2893850" y="2105475"/>
            <a:ext cx="6146325" cy="29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2210675"/>
            <a:ext cx="24786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s"/>
              <a:t>Ej.</a:t>
            </a:r>
            <a:r>
              <a:rPr lang="es"/>
              <a:t> % de Alumnos &gt;30 años por carrera de la UNICEN.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resumen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Media     </a:t>
            </a:r>
            <a:r>
              <a:rPr lang="es"/>
              <a:t>: Se suman todos los valores y se divide por la cantidad.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/>
              <a:t>Mediana </a:t>
            </a:r>
            <a:r>
              <a:rPr b="1" i="1" lang="es"/>
              <a:t>M</a:t>
            </a:r>
            <a:r>
              <a:rPr lang="es"/>
              <a:t>: Punto medio de una distribución, la mitad de observaciones es mayor y la mitad es menor o igual. Se calcula de la siguiente forma: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Ordenar los valores de menor a mayor en una </a:t>
            </a:r>
            <a:r>
              <a:rPr i="1" lang="es" sz="1400"/>
              <a:t>lista</a:t>
            </a:r>
            <a:r>
              <a:rPr lang="es" sz="1400"/>
              <a:t>,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Si la cantidad de valores es impar, entonces </a:t>
            </a:r>
            <a:r>
              <a:rPr i="1" lang="es" sz="1400"/>
              <a:t>M</a:t>
            </a:r>
            <a:r>
              <a:rPr lang="es" sz="1400"/>
              <a:t> es el valor del medio de la </a:t>
            </a:r>
            <a:r>
              <a:rPr i="1" lang="es" sz="1400"/>
              <a:t>lista</a:t>
            </a:r>
            <a:r>
              <a:rPr lang="es" sz="1400"/>
              <a:t>,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Sino, </a:t>
            </a:r>
            <a:r>
              <a:rPr i="1" lang="es" sz="1400"/>
              <a:t>M</a:t>
            </a:r>
            <a:r>
              <a:rPr lang="es" sz="1400"/>
              <a:t> es igual al promedio de los dos valores centrales de la </a:t>
            </a:r>
            <a:r>
              <a:rPr i="1" lang="es" sz="1400"/>
              <a:t>lista</a:t>
            </a:r>
            <a:r>
              <a:rPr lang="es" sz="1400"/>
              <a:t>.</a:t>
            </a:r>
            <a:endParaRPr sz="1400"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563" y="1617838"/>
            <a:ext cx="17240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 rotWithShape="1">
          <a:blip r:embed="rId3">
            <a:alphaModFix/>
          </a:blip>
          <a:srcRect b="27200" l="9321" r="72507" t="29822"/>
          <a:stretch/>
        </p:blipFill>
        <p:spPr>
          <a:xfrm>
            <a:off x="1080441" y="1191471"/>
            <a:ext cx="259900" cy="3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resumen (cont.)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Nota</a:t>
            </a:r>
            <a:r>
              <a:rPr lang="es"/>
              <a:t>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</a:t>
            </a:r>
            <a:r>
              <a:rPr b="1" lang="es"/>
              <a:t>Media</a:t>
            </a:r>
            <a:r>
              <a:rPr lang="es"/>
              <a:t> es sensible a observaciones atípicas, la </a:t>
            </a:r>
            <a:r>
              <a:rPr b="1" lang="es"/>
              <a:t>Mediana</a:t>
            </a:r>
            <a:r>
              <a:rPr lang="es"/>
              <a:t> no.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</a:t>
            </a:r>
            <a:r>
              <a:rPr b="1" lang="es"/>
              <a:t>Media</a:t>
            </a:r>
            <a:r>
              <a:rPr lang="es"/>
              <a:t> está asociada al valor total, la </a:t>
            </a:r>
            <a:r>
              <a:rPr b="1" lang="es"/>
              <a:t>Mediana</a:t>
            </a:r>
            <a:r>
              <a:rPr lang="es"/>
              <a:t> no.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Moda</a:t>
            </a:r>
            <a:r>
              <a:rPr lang="es"/>
              <a:t>: es el valor que se </a:t>
            </a:r>
            <a:r>
              <a:rPr b="1" lang="es"/>
              <a:t>repite más veces</a:t>
            </a:r>
            <a:r>
              <a:rPr lang="es"/>
              <a:t>. Puede haber más de una. Si son 2 se dice </a:t>
            </a:r>
            <a:r>
              <a:rPr b="1" lang="es"/>
              <a:t>bimodal</a:t>
            </a:r>
            <a:r>
              <a:rPr lang="es"/>
              <a:t>. Cuando los datos están agrupados en intervalos se considera el intervalo de mayor frecuencia.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863" y="2358338"/>
            <a:ext cx="16287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resumen (cont.)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Cuartiles</a:t>
            </a:r>
            <a:r>
              <a:rPr lang="es"/>
              <a:t>: Son medidas que separan a los datos en partes iguales. Así como la </a:t>
            </a:r>
            <a:r>
              <a:rPr b="1" lang="es"/>
              <a:t>mediana</a:t>
            </a:r>
            <a:r>
              <a:rPr lang="es"/>
              <a:t> los divide en </a:t>
            </a:r>
            <a:r>
              <a:rPr b="1" lang="es"/>
              <a:t>dos partes iguales</a:t>
            </a:r>
            <a:r>
              <a:rPr lang="es"/>
              <a:t>, los </a:t>
            </a:r>
            <a:r>
              <a:rPr b="1" lang="es"/>
              <a:t>cuartiles</a:t>
            </a:r>
            <a:r>
              <a:rPr lang="es"/>
              <a:t> en </a:t>
            </a:r>
            <a:r>
              <a:rPr b="1" lang="es"/>
              <a:t>cuatro partes iguales</a:t>
            </a:r>
            <a:r>
              <a:rPr lang="es"/>
              <a:t>. Los </a:t>
            </a:r>
            <a:r>
              <a:rPr b="1" lang="es"/>
              <a:t>deciles en diez</a:t>
            </a:r>
            <a:r>
              <a:rPr lang="es"/>
              <a:t> y los </a:t>
            </a:r>
            <a:r>
              <a:rPr b="1" lang="es"/>
              <a:t>percentiles en 100</a:t>
            </a:r>
            <a:r>
              <a:rPr lang="es"/>
              <a:t>. Se calculan de manera análoga a la mediana.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Box-Plot</a:t>
            </a:r>
            <a:r>
              <a:rPr lang="es"/>
              <a:t> es una herramienta gráfica útil para </a:t>
            </a:r>
            <a:r>
              <a:rPr b="1" lang="es"/>
              <a:t>describir la distribución</a:t>
            </a:r>
            <a:r>
              <a:rPr lang="es"/>
              <a:t> de los datos. Refleja la </a:t>
            </a:r>
            <a:r>
              <a:rPr b="1" lang="es"/>
              <a:t>forma de la distribución</a:t>
            </a:r>
            <a:r>
              <a:rPr lang="es"/>
              <a:t>, acerca de su </a:t>
            </a:r>
            <a:r>
              <a:rPr b="1" lang="es"/>
              <a:t>simetría</a:t>
            </a:r>
            <a:r>
              <a:rPr lang="es"/>
              <a:t> y </a:t>
            </a:r>
            <a:r>
              <a:rPr b="1" lang="es"/>
              <a:t>sesgo</a:t>
            </a:r>
            <a:r>
              <a:rPr lang="es"/>
              <a:t>, sus </a:t>
            </a:r>
            <a:r>
              <a:rPr b="1" lang="es"/>
              <a:t>cuartiles</a:t>
            </a:r>
            <a:r>
              <a:rPr lang="es"/>
              <a:t>, y detectando la presencia de </a:t>
            </a:r>
            <a:r>
              <a:rPr b="1" lang="es"/>
              <a:t>valores extremos</a:t>
            </a:r>
            <a:r>
              <a:rPr lang="es"/>
              <a:t> y/o atípicos.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Medidas de resumen (cont.)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Box-Plot</a:t>
            </a:r>
            <a:r>
              <a:rPr lang="es"/>
              <a:t>: consiste en construir una caja, cuyos límites son el </a:t>
            </a:r>
            <a:r>
              <a:rPr b="1" lang="es"/>
              <a:t>Q1</a:t>
            </a:r>
            <a:r>
              <a:rPr lang="es"/>
              <a:t> y el </a:t>
            </a:r>
            <a:r>
              <a:rPr b="1" lang="es"/>
              <a:t>Q3</a:t>
            </a:r>
            <a:r>
              <a:rPr lang="es"/>
              <a:t>, luego se ubica la </a:t>
            </a:r>
            <a:r>
              <a:rPr b="1" lang="es"/>
              <a:t>mediana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Se considera a las líneas extremas que unen la caja al máximo y mínimo (o 5% y 95%, para contener en la representación al 90% central de los datos).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875" y="1181100"/>
            <a:ext cx="428625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Medidas de resumen (cont.)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42603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Box-Plot</a:t>
            </a:r>
            <a:r>
              <a:rPr lang="es"/>
              <a:t>: algunos ejemplos de uso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00" y="1732950"/>
            <a:ext cx="4006050" cy="22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600225" y="4004550"/>
            <a:ext cx="384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Acá podemos estudiar la distribución de los errores de estimación de diferentes modelos, y entender cuál es mejor que el resto.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525" y="1732950"/>
            <a:ext cx="3325124" cy="199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/>
        </p:nvSpPr>
        <p:spPr>
          <a:xfrm>
            <a:off x="4800425" y="4004550"/>
            <a:ext cx="384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Acá podemos estudiar cómo los sujetos sanos (NC) tienen menores valores de la medida de distancia que los sujetos con deterioro cognitivo leve (MCI), Alzheimer (AD) o esclerosis hipocampal (HSL y HSR)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resumen (cont.)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Varianza: </a:t>
            </a:r>
            <a:r>
              <a:rPr lang="es"/>
              <a:t>Promedio de los cuadrados de las desviaciones respecto de la media.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/>
              <a:t>Una medida de dispersión es una medida de cuán alejados están los datos del centro de la distribución.</a:t>
            </a:r>
            <a:endParaRPr b="1"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363" y="2790825"/>
            <a:ext cx="71532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Medidas de resumen (cont.)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Desvío Estándar</a:t>
            </a:r>
            <a:r>
              <a:rPr lang="es"/>
              <a:t>: La raíz cuadrada de la varianza. Suele ser más útil ya que tiene las mismas unidades que los datos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58" name="Google Shape;158;p28"/>
          <p:cNvGrpSpPr/>
          <p:nvPr/>
        </p:nvGrpSpPr>
        <p:grpSpPr>
          <a:xfrm>
            <a:off x="2280850" y="2533225"/>
            <a:ext cx="3562350" cy="1504950"/>
            <a:chOff x="2280850" y="2533225"/>
            <a:chExt cx="3562350" cy="1504950"/>
          </a:xfrm>
        </p:grpSpPr>
        <p:pic>
          <p:nvPicPr>
            <p:cNvPr id="159" name="Google Shape;15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0850" y="2533225"/>
              <a:ext cx="3562350" cy="1504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28"/>
            <p:cNvPicPr preferRelativeResize="0"/>
            <p:nvPr/>
          </p:nvPicPr>
          <p:blipFill rotWithShape="1">
            <a:blip r:embed="rId4">
              <a:alphaModFix/>
            </a:blip>
            <a:srcRect b="46395" l="40903" r="26958" t="0"/>
            <a:stretch/>
          </p:blipFill>
          <p:spPr>
            <a:xfrm>
              <a:off x="3442250" y="2867025"/>
              <a:ext cx="2298950" cy="1072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