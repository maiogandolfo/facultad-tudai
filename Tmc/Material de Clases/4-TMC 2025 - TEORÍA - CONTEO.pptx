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Proxima Nova"/>
      <p:regular r:id="rId44"/>
      <p:bold r:id="rId45"/>
      <p:italic r:id="rId46"/>
      <p:boldItalic r:id="rId47"/>
    </p:embeddedFont>
    <p:embeddedFont>
      <p:font typeface="Helvetica Neue"/>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2" roundtripDataSignature="AMtx7miGzfRl8lLdFUtJmf1GyfKN5Way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ProximaNova-regular.fntdata"/><Relationship Id="rId43" Type="http://schemas.openxmlformats.org/officeDocument/2006/relationships/slide" Target="slides/slide38.xml"/><Relationship Id="rId46" Type="http://schemas.openxmlformats.org/officeDocument/2006/relationships/font" Target="fonts/ProximaNova-italic.fntdata"/><Relationship Id="rId45" Type="http://schemas.openxmlformats.org/officeDocument/2006/relationships/font" Target="fonts/ProximaNov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HelveticaNeue-regular.fntdata"/><Relationship Id="rId47" Type="http://schemas.openxmlformats.org/officeDocument/2006/relationships/font" Target="fonts/ProximaNova-boldItalic.fntdata"/><Relationship Id="rId49"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boldItalic.fntdata"/><Relationship Id="rId50" Type="http://schemas.openxmlformats.org/officeDocument/2006/relationships/font" Target="fonts/HelveticaNeue-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4834e7d81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4834e7d81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4834e7d81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24834e7d81e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3" name="Google Shape;42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0" name="Google Shape;430;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4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4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4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4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4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4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4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4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nvSpPr>
        <p:spPr>
          <a:xfrm>
            <a:off x="0" y="4654500"/>
            <a:ext cx="9144000" cy="4890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Helvetica Neue"/>
                <a:ea typeface="Helvetica Neue"/>
                <a:cs typeface="Helvetica Neue"/>
                <a:sym typeface="Helvetica Neue"/>
              </a:rPr>
              <a:t>TUDAI - Fac.Cs.Exactas - UNICEN</a:t>
            </a:r>
            <a:endParaRPr b="0" i="0" sz="1400" u="none" cap="none" strike="noStrike">
              <a:solidFill>
                <a:srgbClr val="FFFFFF"/>
              </a:solidFill>
              <a:latin typeface="Helvetica Neue"/>
              <a:ea typeface="Helvetica Neue"/>
              <a:cs typeface="Helvetica Neue"/>
              <a:sym typeface="Helvetica Neue"/>
            </a:endParaRPr>
          </a:p>
        </p:txBody>
      </p:sp>
      <p:pic>
        <p:nvPicPr>
          <p:cNvPr id="55" name="Google Shape;55;p1"/>
          <p:cNvPicPr preferRelativeResize="0"/>
          <p:nvPr/>
        </p:nvPicPr>
        <p:blipFill rotWithShape="1">
          <a:blip r:embed="rId3">
            <a:alphaModFix/>
          </a:blip>
          <a:srcRect b="13187" l="2625" r="65390" t="15642"/>
          <a:stretch/>
        </p:blipFill>
        <p:spPr>
          <a:xfrm>
            <a:off x="4084563" y="3759650"/>
            <a:ext cx="974875" cy="894850"/>
          </a:xfrm>
          <a:prstGeom prst="rect">
            <a:avLst/>
          </a:prstGeom>
          <a:noFill/>
          <a:ln>
            <a:noFill/>
          </a:ln>
        </p:spPr>
      </p:pic>
      <p:sp>
        <p:nvSpPr>
          <p:cNvPr id="56" name="Google Shape;56;p1"/>
          <p:cNvSpPr txBox="1"/>
          <p:nvPr/>
        </p:nvSpPr>
        <p:spPr>
          <a:xfrm>
            <a:off x="0" y="622200"/>
            <a:ext cx="9144000" cy="141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600"/>
              <a:buFont typeface="Arial"/>
              <a:buNone/>
            </a:pPr>
            <a:r>
              <a:rPr b="0" i="0" lang="en" sz="3600" u="none" cap="none" strike="noStrike">
                <a:solidFill>
                  <a:srgbClr val="000000"/>
                </a:solidFill>
                <a:latin typeface="Helvetica Neue"/>
                <a:ea typeface="Helvetica Neue"/>
                <a:cs typeface="Helvetica Neue"/>
                <a:sym typeface="Helvetica Neue"/>
              </a:rPr>
              <a:t>TALLER DE MATEMÁTICA COMPUTACIONAL</a:t>
            </a:r>
            <a:endParaRPr b="0" i="0" sz="36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000000"/>
              </a:solidFill>
              <a:latin typeface="Helvetica Neue"/>
              <a:ea typeface="Helvetica Neue"/>
              <a:cs typeface="Helvetica Neue"/>
              <a:sym typeface="Helvetica Neue"/>
            </a:endParaRPr>
          </a:p>
        </p:txBody>
      </p:sp>
      <p:sp>
        <p:nvSpPr>
          <p:cNvPr id="57" name="Google Shape;57;p1"/>
          <p:cNvSpPr txBox="1"/>
          <p:nvPr/>
        </p:nvSpPr>
        <p:spPr>
          <a:xfrm>
            <a:off x="0" y="2374800"/>
            <a:ext cx="9144000" cy="730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Helvetica Neue"/>
                <a:ea typeface="Helvetica Neue"/>
                <a:cs typeface="Helvetica Neue"/>
                <a:sym typeface="Helvetica Neue"/>
              </a:rPr>
              <a:t>Unidad #4 - Conteo</a:t>
            </a:r>
            <a:endParaRPr b="0" i="0" sz="18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chemeClr val="dk1"/>
              </a:buClr>
              <a:buSzPts val="1100"/>
              <a:buFont typeface="Arial"/>
              <a:buNone/>
            </a:pPr>
            <a:r>
              <a:t/>
            </a:r>
            <a:endParaRPr b="0" i="0" sz="2400" u="none" cap="none" strike="noStrike">
              <a:solidFill>
                <a:srgbClr val="000000"/>
              </a:solidFill>
              <a:latin typeface="Helvetica Neue"/>
              <a:ea typeface="Helvetica Neue"/>
              <a:cs typeface="Helvetica Neue"/>
              <a:sym typeface="Helvetica Neue"/>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24834e7d81e_1_0"/>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5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Muchos conceptos que abordamos en la </a:t>
            </a:r>
            <a:r>
              <a:rPr b="1" i="0" lang="en" sz="1800" u="none" cap="none" strike="noStrike">
                <a:solidFill>
                  <a:srgbClr val="000000"/>
                </a:solidFill>
                <a:latin typeface="Helvetica Neue"/>
                <a:ea typeface="Helvetica Neue"/>
                <a:cs typeface="Helvetica Neue"/>
                <a:sym typeface="Helvetica Neue"/>
              </a:rPr>
              <a:t>programación</a:t>
            </a:r>
            <a:r>
              <a:rPr b="0" i="0" lang="en" sz="1800" u="none" cap="none" strike="noStrike">
                <a:solidFill>
                  <a:srgbClr val="000000"/>
                </a:solidFill>
                <a:latin typeface="Helvetica Neue"/>
                <a:ea typeface="Helvetica Neue"/>
                <a:cs typeface="Helvetica Neue"/>
                <a:sym typeface="Helvetica Neue"/>
              </a:rPr>
              <a:t> requieren nociones de conteo:</a:t>
            </a:r>
            <a:endParaRPr b="0" i="0" sz="1800" u="none" cap="none" strike="noStrike">
              <a:solidFill>
                <a:srgbClr val="000000"/>
              </a:solidFill>
              <a:latin typeface="Helvetica Neue"/>
              <a:ea typeface="Helvetica Neue"/>
              <a:cs typeface="Helvetica Neue"/>
              <a:sym typeface="Helvetica Neue"/>
            </a:endParaRPr>
          </a:p>
          <a:p>
            <a:pPr indent="-342900" lvl="1" marL="914400" marR="0" rtl="0" algn="l">
              <a:lnSpc>
                <a:spcPct val="15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Iterar sobre estructuras de datos de longitud variable</a:t>
            </a:r>
            <a:endParaRPr b="0" i="0" sz="1800" u="none" cap="none" strike="noStrike">
              <a:solidFill>
                <a:srgbClr val="000000"/>
              </a:solidFill>
              <a:latin typeface="Helvetica Neue"/>
              <a:ea typeface="Helvetica Neue"/>
              <a:cs typeface="Helvetica Neue"/>
              <a:sym typeface="Helvetica Neue"/>
            </a:endParaRPr>
          </a:p>
          <a:p>
            <a:pPr indent="-342900" lvl="1" marL="914400" marR="0" rtl="0" algn="l">
              <a:lnSpc>
                <a:spcPct val="15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Escribir de manera resumida operaciones con un número indefinido de términos.</a:t>
            </a:r>
            <a:endParaRPr b="0" i="0" sz="1800" u="none" cap="none" strike="noStrike">
              <a:solidFill>
                <a:srgbClr val="000000"/>
              </a:solidFill>
              <a:latin typeface="Helvetica Neue"/>
              <a:ea typeface="Helvetica Neue"/>
              <a:cs typeface="Helvetica Neue"/>
              <a:sym typeface="Helvetica Neue"/>
            </a:endParaRPr>
          </a:p>
          <a:p>
            <a:pPr indent="-342900" lvl="1" marL="914400" marR="0" rtl="0" algn="l">
              <a:lnSpc>
                <a:spcPct val="15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Determinar cuántos valores posibles puede tomar una cierta variable.</a:t>
            </a:r>
            <a:endParaRPr b="0"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5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Nos ayudan a generalizar en situaciones específicas de la algoritmia, tales como el </a:t>
            </a:r>
            <a:r>
              <a:rPr b="1" i="0" lang="en" sz="1800" u="none" cap="none" strike="noStrike">
                <a:solidFill>
                  <a:srgbClr val="000000"/>
                </a:solidFill>
                <a:latin typeface="Helvetica Neue"/>
                <a:ea typeface="Helvetica Neue"/>
                <a:cs typeface="Helvetica Neue"/>
                <a:sym typeface="Helvetica Neue"/>
              </a:rPr>
              <a:t>cálculo de costo computacional</a:t>
            </a:r>
            <a:endParaRPr b="1" i="0" sz="1800" u="none" cap="none" strike="noStrike">
              <a:solidFill>
                <a:srgbClr val="000000"/>
              </a:solidFill>
              <a:latin typeface="Helvetica Neue"/>
              <a:ea typeface="Helvetica Neue"/>
              <a:cs typeface="Helvetica Neue"/>
              <a:sym typeface="Helvetica Neue"/>
            </a:endParaRPr>
          </a:p>
        </p:txBody>
      </p:sp>
      <p:sp>
        <p:nvSpPr>
          <p:cNvPr id="63" name="Google Shape;63;g24834e7d81e_1_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¿Por qué conteo en TUDAI?</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0" st="0"/>
                                            </p:txEl>
                                          </p:spTgt>
                                        </p:tgtEl>
                                        <p:attrNameLst>
                                          <p:attrName>style.visibility</p:attrName>
                                        </p:attrNameLst>
                                      </p:cBhvr>
                                      <p:to>
                                        <p:strVal val="visible"/>
                                      </p:to>
                                    </p:set>
                                    <p:animEffect filter="fade" transition="in">
                                      <p:cBhvr>
                                        <p:cTn dur="500"/>
                                        <p:tgtEl>
                                          <p:spTgt spid="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1" st="1"/>
                                            </p:txEl>
                                          </p:spTgt>
                                        </p:tgtEl>
                                        <p:attrNameLst>
                                          <p:attrName>style.visibility</p:attrName>
                                        </p:attrNameLst>
                                      </p:cBhvr>
                                      <p:to>
                                        <p:strVal val="visible"/>
                                      </p:to>
                                    </p:set>
                                    <p:animEffect filter="fade" transition="in">
                                      <p:cBhvr>
                                        <p:cTn dur="500"/>
                                        <p:tgtEl>
                                          <p:spTgt spid="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2" st="2"/>
                                            </p:txEl>
                                          </p:spTgt>
                                        </p:tgtEl>
                                        <p:attrNameLst>
                                          <p:attrName>style.visibility</p:attrName>
                                        </p:attrNameLst>
                                      </p:cBhvr>
                                      <p:to>
                                        <p:strVal val="visible"/>
                                      </p:to>
                                    </p:set>
                                    <p:animEffect filter="fade" transition="in">
                                      <p:cBhvr>
                                        <p:cTn dur="500"/>
                                        <p:tgtEl>
                                          <p:spTgt spid="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3" st="3"/>
                                            </p:txEl>
                                          </p:spTgt>
                                        </p:tgtEl>
                                        <p:attrNameLst>
                                          <p:attrName>style.visibility</p:attrName>
                                        </p:attrNameLst>
                                      </p:cBhvr>
                                      <p:to>
                                        <p:strVal val="visible"/>
                                      </p:to>
                                    </p:set>
                                    <p:animEffect filter="fade" transition="in">
                                      <p:cBhvr>
                                        <p:cTn dur="500"/>
                                        <p:tgtEl>
                                          <p:spTgt spid="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
                                            <p:txEl>
                                              <p:pRg end="4" st="4"/>
                                            </p:txEl>
                                          </p:spTgt>
                                        </p:tgtEl>
                                        <p:attrNameLst>
                                          <p:attrName>style.visibility</p:attrName>
                                        </p:attrNameLst>
                                      </p:cBhvr>
                                      <p:to>
                                        <p:strVal val="visible"/>
                                      </p:to>
                                    </p:set>
                                    <p:animEffect filter="fade" transition="in">
                                      <p:cBhvr>
                                        <p:cTn dur="500"/>
                                        <p:tgtEl>
                                          <p:spTgt spid="6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24834e7d81e_1_5"/>
          <p:cNvSpPr txBox="1"/>
          <p:nvPr/>
        </p:nvSpPr>
        <p:spPr>
          <a:xfrm>
            <a:off x="-75" y="848375"/>
            <a:ext cx="9144000" cy="4295100"/>
          </a:xfrm>
          <a:prstGeom prst="rect">
            <a:avLst/>
          </a:prstGeom>
          <a:noFill/>
          <a:ln>
            <a:noFill/>
          </a:ln>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Arial"/>
              <a:buChar char="●"/>
            </a:pPr>
            <a:r>
              <a:rPr b="1" i="0" lang="en" sz="1800" u="none" cap="none" strike="noStrike">
                <a:solidFill>
                  <a:srgbClr val="000000"/>
                </a:solidFill>
                <a:latin typeface="Helvetica Neue"/>
                <a:ea typeface="Helvetica Neue"/>
                <a:cs typeface="Helvetica Neue"/>
                <a:sym typeface="Helvetica Neue"/>
              </a:rPr>
              <a:t>Generalizar situaciones</a:t>
            </a:r>
            <a:r>
              <a:rPr b="0" i="0" lang="en" sz="1800" u="none" cap="none" strike="noStrike">
                <a:solidFill>
                  <a:srgbClr val="000000"/>
                </a:solidFill>
                <a:latin typeface="Helvetica Neue"/>
                <a:ea typeface="Helvetica Neue"/>
                <a:cs typeface="Helvetica Neue"/>
                <a:sym typeface="Helvetica Neue"/>
              </a:rPr>
              <a:t>. Independientemente de conocer el número exacto de entradas o iteraciones, vamos a poder modelar casos en función de estos factores, de forma abstracta.</a:t>
            </a:r>
            <a:endParaRPr b="0" i="0" sz="18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Contar casos posibles</a:t>
            </a:r>
            <a:r>
              <a:rPr b="0" i="0" lang="en" sz="1800" u="none" cap="none" strike="noStrike">
                <a:solidFill>
                  <a:srgbClr val="000000"/>
                </a:solidFill>
                <a:latin typeface="Helvetica Neue"/>
                <a:ea typeface="Helvetica Neue"/>
                <a:cs typeface="Helvetica Neue"/>
                <a:sym typeface="Helvetica Neue"/>
              </a:rPr>
              <a:t>. Esto es muy útil cuando tenemos por ejemplo que determinar condicionalidades sobre una cierta contraseña.</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342900" lvl="0" marL="457200" marR="0" rtl="0" algn="l">
              <a:lnSpc>
                <a:spcPct val="100000"/>
              </a:lnSpc>
              <a:spcBef>
                <a:spcPts val="0"/>
              </a:spcBef>
              <a:spcAft>
                <a:spcPts val="0"/>
              </a:spcAft>
              <a:buClr>
                <a:srgbClr val="000000"/>
              </a:buClr>
              <a:buSzPts val="1800"/>
              <a:buFont typeface="Helvetica Neue"/>
              <a:buChar char="●"/>
            </a:pPr>
            <a:r>
              <a:rPr b="1" i="0" lang="en" sz="1800" u="none" cap="none" strike="noStrike">
                <a:solidFill>
                  <a:srgbClr val="000000"/>
                </a:solidFill>
                <a:latin typeface="Helvetica Neue"/>
                <a:ea typeface="Helvetica Neue"/>
                <a:cs typeface="Helvetica Neue"/>
                <a:sym typeface="Helvetica Neue"/>
              </a:rPr>
              <a:t>Comprender mejor las iteraciones. </a:t>
            </a:r>
            <a:r>
              <a:rPr b="0" i="0" lang="en" sz="1800" u="none" cap="none" strike="noStrike">
                <a:solidFill>
                  <a:srgbClr val="000000"/>
                </a:solidFill>
                <a:latin typeface="Helvetica Neue"/>
                <a:ea typeface="Helvetica Neue"/>
                <a:cs typeface="Helvetica Neue"/>
                <a:sym typeface="Helvetica Neue"/>
              </a:rPr>
              <a:t>Mediante sumatorias y productorias vamos a poder generalizar procesos de sumas y productos de varios términos.</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Helvetica Neue"/>
              <a:ea typeface="Helvetica Neue"/>
              <a:cs typeface="Helvetica Neue"/>
              <a:sym typeface="Helvetica Neue"/>
            </a:endParaRPr>
          </a:p>
        </p:txBody>
      </p:sp>
      <p:sp>
        <p:nvSpPr>
          <p:cNvPr id="69" name="Google Shape;69;g24834e7d81e_1_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¿Qué nos va a permitir saber conteo?</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0" st="0"/>
                                            </p:txEl>
                                          </p:spTgt>
                                        </p:tgtEl>
                                        <p:attrNameLst>
                                          <p:attrName>style.visibility</p:attrName>
                                        </p:attrNameLst>
                                      </p:cBhvr>
                                      <p:to>
                                        <p:strVal val="visible"/>
                                      </p:to>
                                    </p:set>
                                    <p:animEffect filter="fade" transition="in">
                                      <p:cBhvr>
                                        <p:cTn dur="500"/>
                                        <p:tgtEl>
                                          <p:spTgt spid="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1" st="1"/>
                                            </p:txEl>
                                          </p:spTgt>
                                        </p:tgtEl>
                                        <p:attrNameLst>
                                          <p:attrName>style.visibility</p:attrName>
                                        </p:attrNameLst>
                                      </p:cBhvr>
                                      <p:to>
                                        <p:strVal val="visible"/>
                                      </p:to>
                                    </p:set>
                                    <p:animEffect filter="fade" transition="in">
                                      <p:cBhvr>
                                        <p:cTn dur="500"/>
                                        <p:tgtEl>
                                          <p:spTgt spid="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2" st="2"/>
                                            </p:txEl>
                                          </p:spTgt>
                                        </p:tgtEl>
                                        <p:attrNameLst>
                                          <p:attrName>style.visibility</p:attrName>
                                        </p:attrNameLst>
                                      </p:cBhvr>
                                      <p:to>
                                        <p:strVal val="visible"/>
                                      </p:to>
                                    </p:set>
                                    <p:animEffect filter="fade" transition="in">
                                      <p:cBhvr>
                                        <p:cTn dur="500"/>
                                        <p:tgtEl>
                                          <p:spTgt spid="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3" st="3"/>
                                            </p:txEl>
                                          </p:spTgt>
                                        </p:tgtEl>
                                        <p:attrNameLst>
                                          <p:attrName>style.visibility</p:attrName>
                                        </p:attrNameLst>
                                      </p:cBhvr>
                                      <p:to>
                                        <p:strVal val="visible"/>
                                      </p:to>
                                    </p:set>
                                    <p:animEffect filter="fade" transition="in">
                                      <p:cBhvr>
                                        <p:cTn dur="500"/>
                                        <p:tgtEl>
                                          <p:spTgt spid="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4" st="4"/>
                                            </p:txEl>
                                          </p:spTgt>
                                        </p:tgtEl>
                                        <p:attrNameLst>
                                          <p:attrName>style.visibility</p:attrName>
                                        </p:attrNameLst>
                                      </p:cBhvr>
                                      <p:to>
                                        <p:strVal val="visible"/>
                                      </p:to>
                                    </p:set>
                                    <p:animEffect filter="fade" transition="in">
                                      <p:cBhvr>
                                        <p:cTn dur="500"/>
                                        <p:tgtEl>
                                          <p:spTgt spid="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
                                            <p:txEl>
                                              <p:pRg end="5" st="5"/>
                                            </p:txEl>
                                          </p:spTgt>
                                        </p:tgtEl>
                                        <p:attrNameLst>
                                          <p:attrName>style.visibility</p:attrName>
                                        </p:attrNameLst>
                                      </p:cBhvr>
                                      <p:to>
                                        <p:strVal val="visible"/>
                                      </p:to>
                                    </p:set>
                                    <p:animEffect filter="fade" transition="in">
                                      <p:cBhvr>
                                        <p:cTn dur="500"/>
                                        <p:tgtEl>
                                          <p:spTgt spid="6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
          <p:cNvSpPr txBox="1"/>
          <p:nvPr/>
        </p:nvSpPr>
        <p:spPr>
          <a:xfrm>
            <a:off x="311161" y="1104159"/>
            <a:ext cx="8314366" cy="1015632"/>
          </a:xfrm>
          <a:prstGeom prst="rect">
            <a:avLst/>
          </a:prstGeom>
          <a:noFill/>
          <a:ln>
            <a:noFill/>
          </a:ln>
        </p:spPr>
        <p:txBody>
          <a:bodyPr anchorCtr="0" anchor="ctr"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Las técnicas de conteo nos permiten contar combinaciones de elementos de uno o más conjuntos que cumplen con ciertos criterios.</a:t>
            </a:r>
            <a:endParaRPr b="0" i="0" sz="1800" u="none" cap="none" strike="noStrike">
              <a:solidFill>
                <a:srgbClr val="616161"/>
              </a:solidFill>
              <a:latin typeface="Proxima Nova"/>
              <a:ea typeface="Proxima Nova"/>
              <a:cs typeface="Proxima Nova"/>
              <a:sym typeface="Proxima Nova"/>
            </a:endParaRPr>
          </a:p>
        </p:txBody>
      </p:sp>
      <p:sp>
        <p:nvSpPr>
          <p:cNvPr id="75" name="Google Shape;75;p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269875"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Conteo</a:t>
            </a:r>
            <a:endParaRPr b="1" i="0" sz="3600" u="none" cap="none" strike="noStrike">
              <a:solidFill>
                <a:srgbClr val="FFFFFF"/>
              </a:solidFill>
              <a:latin typeface="Helvetica Neue"/>
              <a:ea typeface="Helvetica Neue"/>
              <a:cs typeface="Helvetica Neue"/>
              <a:sym typeface="Helvetica Neue"/>
            </a:endParaRPr>
          </a:p>
        </p:txBody>
      </p:sp>
      <p:sp>
        <p:nvSpPr>
          <p:cNvPr id="76" name="Google Shape;76;p2"/>
          <p:cNvSpPr/>
          <p:nvPr/>
        </p:nvSpPr>
        <p:spPr>
          <a:xfrm>
            <a:off x="311160" y="2240999"/>
            <a:ext cx="8314365" cy="171822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Es importante que identifiquemos bien:</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Qué </a:t>
            </a:r>
            <a:r>
              <a:rPr b="1" i="0" lang="en" sz="1800" u="none" cap="none" strike="noStrike">
                <a:solidFill>
                  <a:srgbClr val="616161"/>
                </a:solidFill>
                <a:latin typeface="Proxima Nova"/>
                <a:ea typeface="Proxima Nova"/>
                <a:cs typeface="Proxima Nova"/>
                <a:sym typeface="Proxima Nova"/>
              </a:rPr>
              <a:t>elementos</a:t>
            </a:r>
            <a:r>
              <a:rPr b="0" i="0" lang="en" sz="1800" u="none" cap="none" strike="noStrike">
                <a:solidFill>
                  <a:srgbClr val="616161"/>
                </a:solidFill>
                <a:latin typeface="Proxima Nova"/>
                <a:ea typeface="Proxima Nova"/>
                <a:cs typeface="Proxima Nova"/>
                <a:sym typeface="Proxima Nova"/>
              </a:rPr>
              <a:t> queremos combinar</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Si importa o no el </a:t>
            </a:r>
            <a:r>
              <a:rPr b="1" i="0" lang="en" sz="1800" u="none" cap="none" strike="noStrike">
                <a:solidFill>
                  <a:srgbClr val="616161"/>
                </a:solidFill>
                <a:latin typeface="Proxima Nova"/>
                <a:ea typeface="Proxima Nova"/>
                <a:cs typeface="Proxima Nova"/>
                <a:sym typeface="Proxima Nova"/>
              </a:rPr>
              <a:t>orden</a:t>
            </a:r>
            <a:r>
              <a:rPr b="0" i="0" lang="en" sz="1800" u="none" cap="none" strike="noStrike">
                <a:solidFill>
                  <a:srgbClr val="616161"/>
                </a:solidFill>
                <a:latin typeface="Proxima Nova"/>
                <a:ea typeface="Proxima Nova"/>
                <a:cs typeface="Proxima Nova"/>
                <a:sym typeface="Proxima Nova"/>
              </a:rPr>
              <a:t> de la combinación de elementos</a:t>
            </a:r>
            <a:endParaRPr b="0" i="0" sz="1400" u="none" cap="none" strike="noStrike">
              <a:solidFill>
                <a:srgbClr val="000000"/>
              </a:solidFill>
              <a:latin typeface="Arial"/>
              <a:ea typeface="Arial"/>
              <a:cs typeface="Arial"/>
              <a:sym typeface="Arial"/>
            </a:endParaRPr>
          </a:p>
          <a:p>
            <a:pPr indent="-342900" lvl="0" marL="457200" marR="0" rtl="0" algn="l">
              <a:lnSpc>
                <a:spcPct val="150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Si pueden o no </a:t>
            </a:r>
            <a:r>
              <a:rPr b="1" i="0" lang="en" sz="1800" u="none" cap="none" strike="noStrike">
                <a:solidFill>
                  <a:srgbClr val="616161"/>
                </a:solidFill>
                <a:latin typeface="Proxima Nova"/>
                <a:ea typeface="Proxima Nova"/>
                <a:cs typeface="Proxima Nova"/>
                <a:sym typeface="Proxima Nova"/>
              </a:rPr>
              <a:t>repetirse</a:t>
            </a:r>
            <a:r>
              <a:rPr b="0" i="0" lang="en" sz="1800" u="none" cap="none" strike="noStrike">
                <a:solidFill>
                  <a:srgbClr val="616161"/>
                </a:solidFill>
                <a:latin typeface="Proxima Nova"/>
                <a:ea typeface="Proxima Nova"/>
                <a:cs typeface="Proxima Nova"/>
                <a:sym typeface="Proxima Nova"/>
              </a:rPr>
              <a:t> los elementos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3"/>
          <p:cNvSpPr txBox="1"/>
          <p:nvPr/>
        </p:nvSpPr>
        <p:spPr>
          <a:xfrm>
            <a:off x="226318" y="1080175"/>
            <a:ext cx="8917682"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Si una operación puede hacerse de n formas, y cada una de ellas de m maneras distintas, se dice que se puede llevar a cabo de n x m formas distintas.</a:t>
            </a:r>
            <a:endParaRPr b="0" i="0" sz="1600" u="none" cap="none" strike="noStrike">
              <a:solidFill>
                <a:srgbClr val="616161"/>
              </a:solidFill>
              <a:latin typeface="Proxima Nova"/>
              <a:ea typeface="Proxima Nova"/>
              <a:cs typeface="Proxima Nova"/>
              <a:sym typeface="Proxima Nova"/>
            </a:endParaRPr>
          </a:p>
        </p:txBody>
      </p:sp>
      <p:sp>
        <p:nvSpPr>
          <p:cNvPr id="82" name="Google Shape;82;p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Principio del producto</a:t>
            </a:r>
            <a:endParaRPr b="1" i="0" sz="3600" u="none" cap="none" strike="noStrike">
              <a:solidFill>
                <a:srgbClr val="FFFFFF"/>
              </a:solidFill>
              <a:latin typeface="Helvetica Neue"/>
              <a:ea typeface="Helvetica Neue"/>
              <a:cs typeface="Helvetica Neue"/>
              <a:sym typeface="Helvetica Neue"/>
            </a:endParaRPr>
          </a:p>
        </p:txBody>
      </p:sp>
      <p:pic>
        <p:nvPicPr>
          <p:cNvPr id="83" name="Google Shape;83;p3"/>
          <p:cNvPicPr preferRelativeResize="0"/>
          <p:nvPr/>
        </p:nvPicPr>
        <p:blipFill rotWithShape="1">
          <a:blip r:embed="rId3">
            <a:alphaModFix/>
          </a:blip>
          <a:srcRect b="0" l="0" r="70051" t="0"/>
          <a:stretch/>
        </p:blipFill>
        <p:spPr>
          <a:xfrm>
            <a:off x="2174225" y="2152122"/>
            <a:ext cx="1436241" cy="2693725"/>
          </a:xfrm>
          <a:prstGeom prst="rect">
            <a:avLst/>
          </a:prstGeom>
          <a:noFill/>
          <a:ln>
            <a:noFill/>
          </a:ln>
        </p:spPr>
      </p:pic>
      <p:pic>
        <p:nvPicPr>
          <p:cNvPr id="84" name="Google Shape;84;p3"/>
          <p:cNvPicPr preferRelativeResize="0"/>
          <p:nvPr/>
        </p:nvPicPr>
        <p:blipFill rotWithShape="1">
          <a:blip r:embed="rId3">
            <a:alphaModFix/>
          </a:blip>
          <a:srcRect b="0" l="45478" r="0" t="0"/>
          <a:stretch/>
        </p:blipFill>
        <p:spPr>
          <a:xfrm>
            <a:off x="4355184" y="2152122"/>
            <a:ext cx="2614590" cy="2693725"/>
          </a:xfrm>
          <a:prstGeom prst="rect">
            <a:avLst/>
          </a:prstGeom>
          <a:noFill/>
          <a:ln>
            <a:noFill/>
          </a:ln>
        </p:spPr>
      </p:pic>
      <p:cxnSp>
        <p:nvCxnSpPr>
          <p:cNvPr id="85" name="Google Shape;85;p3"/>
          <p:cNvCxnSpPr/>
          <p:nvPr/>
        </p:nvCxnSpPr>
        <p:spPr>
          <a:xfrm>
            <a:off x="3723588" y="3478491"/>
            <a:ext cx="518474" cy="0"/>
          </a:xfrm>
          <a:prstGeom prst="straightConnector1">
            <a:avLst/>
          </a:prstGeom>
          <a:noFill/>
          <a:ln cap="flat" cmpd="sng" w="38100">
            <a:solidFill>
              <a:schemeClr val="dk1"/>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par>
                                <p:cTn fill="hold" nodeType="with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4"/>
          <p:cNvSpPr txBox="1"/>
          <p:nvPr/>
        </p:nvSpPr>
        <p:spPr>
          <a:xfrm>
            <a:off x="273378" y="916193"/>
            <a:ext cx="8201319" cy="1655557"/>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Una tienda vende </a:t>
            </a:r>
            <a:r>
              <a:rPr b="1" i="0" lang="en" sz="1600" u="none" cap="none" strike="noStrike">
                <a:solidFill>
                  <a:srgbClr val="616161"/>
                </a:solidFill>
                <a:latin typeface="Proxima Nova"/>
                <a:ea typeface="Proxima Nova"/>
                <a:cs typeface="Proxima Nova"/>
                <a:sym typeface="Proxima Nova"/>
              </a:rPr>
              <a:t>3 tipos de productos electrónicos </a:t>
            </a:r>
            <a:r>
              <a:rPr b="0" i="0" lang="en" sz="1600" u="none" cap="none" strike="noStrike">
                <a:solidFill>
                  <a:srgbClr val="616161"/>
                </a:solidFill>
                <a:latin typeface="Proxima Nova"/>
                <a:ea typeface="Proxima Nova"/>
                <a:cs typeface="Proxima Nova"/>
                <a:sym typeface="Proxima Nova"/>
              </a:rPr>
              <a:t>(laptops, tablets y celulares), cada uno de los cuales viene en </a:t>
            </a:r>
            <a:r>
              <a:rPr b="1" i="0" lang="en" sz="1600" u="none" cap="none" strike="noStrike">
                <a:solidFill>
                  <a:srgbClr val="616161"/>
                </a:solidFill>
                <a:latin typeface="Proxima Nova"/>
                <a:ea typeface="Proxima Nova"/>
                <a:cs typeface="Proxima Nova"/>
                <a:sym typeface="Proxima Nova"/>
              </a:rPr>
              <a:t>4 colores distintos </a:t>
            </a:r>
            <a:r>
              <a:rPr b="0" i="0" lang="en" sz="1600" u="none" cap="none" strike="noStrike">
                <a:solidFill>
                  <a:srgbClr val="616161"/>
                </a:solidFill>
                <a:latin typeface="Proxima Nova"/>
                <a:ea typeface="Proxima Nova"/>
                <a:cs typeface="Proxima Nova"/>
                <a:sym typeface="Proxima Nova"/>
              </a:rPr>
              <a:t>(blanco, negro, plateado y dorado) y de </a:t>
            </a:r>
            <a:r>
              <a:rPr b="1" i="0" lang="en" sz="1600" u="none" cap="none" strike="noStrike">
                <a:solidFill>
                  <a:srgbClr val="616161"/>
                </a:solidFill>
                <a:latin typeface="Proxima Nova"/>
                <a:ea typeface="Proxima Nova"/>
                <a:cs typeface="Proxima Nova"/>
                <a:sym typeface="Proxima Nova"/>
              </a:rPr>
              <a:t>dos marcas diferentes</a:t>
            </a:r>
            <a:r>
              <a:rPr b="0" i="0" lang="en" sz="1600" u="none" cap="none" strike="noStrike">
                <a:solidFill>
                  <a:srgbClr val="616161"/>
                </a:solidFill>
                <a:latin typeface="Proxima Nova"/>
                <a:ea typeface="Proxima Nova"/>
                <a:cs typeface="Proxima Nova"/>
                <a:sym typeface="Proxima Nova"/>
              </a:rPr>
              <a:t> (Samsung y lenovo). </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accent5"/>
                </a:solidFill>
                <a:latin typeface="Proxima Nova"/>
                <a:ea typeface="Proxima Nova"/>
                <a:cs typeface="Proxima Nova"/>
                <a:sym typeface="Proxima Nova"/>
              </a:rPr>
              <a:t>¿Cuántos productos diferentes vende la tienda?</a:t>
            </a:r>
            <a:endParaRPr b="1" i="0" sz="1600" u="none" cap="none" strike="noStrike">
              <a:solidFill>
                <a:schemeClr val="accent5"/>
              </a:solidFill>
              <a:latin typeface="Proxima Nova"/>
              <a:ea typeface="Proxima Nova"/>
              <a:cs typeface="Proxima Nova"/>
              <a:sym typeface="Proxima Nova"/>
            </a:endParaRPr>
          </a:p>
        </p:txBody>
      </p:sp>
      <p:sp>
        <p:nvSpPr>
          <p:cNvPr id="91" name="Google Shape;91;p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Principio del producto</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5"/>
          <p:cNvSpPr txBox="1"/>
          <p:nvPr/>
        </p:nvSpPr>
        <p:spPr>
          <a:xfrm>
            <a:off x="452412" y="1611982"/>
            <a:ext cx="4044174" cy="1121791"/>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Solución:</a:t>
            </a:r>
            <a:r>
              <a:rPr b="0" i="0" lang="en" sz="1600" u="none" cap="none" strike="noStrike">
                <a:solidFill>
                  <a:srgbClr val="616161"/>
                </a:solidFill>
                <a:latin typeface="Proxima Nova"/>
                <a:ea typeface="Proxima Nova"/>
                <a:cs typeface="Proxima Nova"/>
                <a:sym typeface="Proxima Nova"/>
              </a:rPr>
              <a:t> Tengamos en cuenta que</a:t>
            </a:r>
            <a:r>
              <a:rPr b="1" i="0" lang="en" sz="1600" u="none" cap="none" strike="noStrike">
                <a:solidFill>
                  <a:srgbClr val="616161"/>
                </a:solidFill>
                <a:latin typeface="Proxima Nova"/>
                <a:ea typeface="Proxima Nova"/>
                <a:cs typeface="Proxima Nova"/>
                <a:sym typeface="Proxima Nova"/>
              </a:rPr>
              <a:t> por cada uno</a:t>
            </a:r>
            <a:r>
              <a:rPr b="0" i="0" lang="en" sz="1600" u="none" cap="none" strike="noStrike">
                <a:solidFill>
                  <a:srgbClr val="616161"/>
                </a:solidFill>
                <a:latin typeface="Proxima Nova"/>
                <a:ea typeface="Proxima Nova"/>
                <a:cs typeface="Proxima Nova"/>
                <a:sym typeface="Proxima Nova"/>
              </a:rPr>
              <a:t> de los </a:t>
            </a:r>
            <a:r>
              <a:rPr b="1" i="0" lang="en" sz="1600" u="none" cap="none" strike="noStrike">
                <a:solidFill>
                  <a:srgbClr val="616161"/>
                </a:solidFill>
                <a:latin typeface="Proxima Nova"/>
                <a:ea typeface="Proxima Nova"/>
                <a:cs typeface="Proxima Nova"/>
                <a:sym typeface="Proxima Nova"/>
              </a:rPr>
              <a:t>3 productos </a:t>
            </a:r>
            <a:r>
              <a:rPr b="0" i="0" lang="en" sz="1600" u="none" cap="none" strike="noStrike">
                <a:solidFill>
                  <a:srgbClr val="616161"/>
                </a:solidFill>
                <a:latin typeface="Proxima Nova"/>
                <a:ea typeface="Proxima Nova"/>
                <a:cs typeface="Proxima Nova"/>
                <a:sym typeface="Proxima Nova"/>
              </a:rPr>
              <a:t>tenemos </a:t>
            </a:r>
            <a:r>
              <a:rPr b="1" i="0" lang="en" sz="1600" u="none" cap="none" strike="noStrike">
                <a:solidFill>
                  <a:srgbClr val="616161"/>
                </a:solidFill>
                <a:latin typeface="Proxima Nova"/>
                <a:ea typeface="Proxima Nova"/>
                <a:cs typeface="Proxima Nova"/>
                <a:sym typeface="Proxima Nova"/>
              </a:rPr>
              <a:t>4 colores</a:t>
            </a:r>
            <a:r>
              <a:rPr b="0" i="0" lang="en" sz="1600" u="none" cap="none" strike="noStrike">
                <a:solidFill>
                  <a:srgbClr val="616161"/>
                </a:solidFill>
                <a:latin typeface="Proxima Nova"/>
                <a:ea typeface="Proxima Nova"/>
                <a:cs typeface="Proxima Nova"/>
                <a:sym typeface="Proxima Nova"/>
              </a:rPr>
              <a:t> y </a:t>
            </a:r>
            <a:r>
              <a:rPr b="1" i="0" lang="en" sz="1600" u="none" cap="none" strike="noStrike">
                <a:solidFill>
                  <a:srgbClr val="616161"/>
                </a:solidFill>
                <a:latin typeface="Proxima Nova"/>
                <a:ea typeface="Proxima Nova"/>
                <a:cs typeface="Proxima Nova"/>
                <a:sym typeface="Proxima Nova"/>
              </a:rPr>
              <a:t>2 marcas</a:t>
            </a:r>
            <a:r>
              <a:rPr b="0" i="0" lang="en" sz="1600" u="none" cap="none" strike="noStrike">
                <a:solidFill>
                  <a:srgbClr val="616161"/>
                </a:solidFill>
                <a:latin typeface="Proxima Nova"/>
                <a:ea typeface="Proxima Nova"/>
                <a:cs typeface="Proxima Nova"/>
                <a:sym typeface="Proxima Nova"/>
              </a:rPr>
              <a:t> posibles. </a:t>
            </a:r>
            <a:endParaRPr b="0" i="0" sz="1600" u="none" cap="none" strike="noStrike">
              <a:solidFill>
                <a:srgbClr val="616161"/>
              </a:solidFill>
              <a:latin typeface="Proxima Nova"/>
              <a:ea typeface="Proxima Nova"/>
              <a:cs typeface="Proxima Nova"/>
              <a:sym typeface="Proxima Nova"/>
            </a:endParaRPr>
          </a:p>
        </p:txBody>
      </p:sp>
      <p:sp>
        <p:nvSpPr>
          <p:cNvPr id="97" name="Google Shape;97;p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Principio del producto</a:t>
            </a:r>
            <a:endParaRPr b="1" i="0" sz="3600" u="none" cap="none" strike="noStrike">
              <a:solidFill>
                <a:srgbClr val="FFFFFF"/>
              </a:solidFill>
              <a:latin typeface="Helvetica Neue"/>
              <a:ea typeface="Helvetica Neue"/>
              <a:cs typeface="Helvetica Neue"/>
              <a:sym typeface="Helvetica Neue"/>
            </a:endParaRPr>
          </a:p>
        </p:txBody>
      </p:sp>
      <p:pic>
        <p:nvPicPr>
          <p:cNvPr id="98" name="Google Shape;98;p5"/>
          <p:cNvPicPr preferRelativeResize="0"/>
          <p:nvPr/>
        </p:nvPicPr>
        <p:blipFill rotWithShape="1">
          <a:blip r:embed="rId3">
            <a:alphaModFix/>
          </a:blip>
          <a:srcRect b="0" l="0" r="0" t="0"/>
          <a:stretch/>
        </p:blipFill>
        <p:spPr>
          <a:xfrm>
            <a:off x="5426223" y="848375"/>
            <a:ext cx="3575099" cy="4200051"/>
          </a:xfrm>
          <a:prstGeom prst="rect">
            <a:avLst/>
          </a:prstGeom>
          <a:noFill/>
          <a:ln>
            <a:noFill/>
          </a:ln>
        </p:spPr>
      </p:pic>
      <p:sp>
        <p:nvSpPr>
          <p:cNvPr id="99" name="Google Shape;99;p5"/>
          <p:cNvSpPr txBox="1"/>
          <p:nvPr/>
        </p:nvSpPr>
        <p:spPr>
          <a:xfrm>
            <a:off x="452412" y="2895853"/>
            <a:ext cx="4044174" cy="1370955"/>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600"/>
              </a:spcBef>
              <a:spcAft>
                <a:spcPts val="0"/>
              </a:spcAft>
              <a:buClr>
                <a:srgbClr val="000000"/>
              </a:buClr>
              <a:buSzPts val="1600"/>
              <a:buFont typeface="Arial"/>
              <a:buNone/>
            </a:pPr>
            <a:r>
              <a:rPr b="0" i="0" lang="en" sz="1600" u="none" cap="none" strike="noStrike">
                <a:solidFill>
                  <a:srgbClr val="616161"/>
                </a:solidFill>
                <a:latin typeface="Proxima Nova"/>
                <a:ea typeface="Proxima Nova"/>
                <a:cs typeface="Proxima Nova"/>
                <a:sym typeface="Proxima Nova"/>
              </a:rPr>
              <a:t>Para calcular la cantidad de productos distintos hacemos: </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600"/>
              <a:buFont typeface="Arial"/>
              <a:buNone/>
            </a:pPr>
            <a:r>
              <a:rPr b="0" i="0" lang="en" sz="1600" u="none" cap="none" strike="noStrike">
                <a:solidFill>
                  <a:srgbClr val="616161"/>
                </a:solidFill>
                <a:latin typeface="Proxima Nova"/>
                <a:ea typeface="Proxima Nova"/>
                <a:cs typeface="Proxima Nova"/>
                <a:sym typeface="Proxima Nova"/>
              </a:rPr>
              <a:t>3 (productos) x 4 (colores) x 2 (marcas) = 24</a:t>
            </a:r>
            <a:endParaRPr b="0" i="0" sz="1600" u="none" cap="none" strike="noStrike">
              <a:solidFill>
                <a:srgbClr val="616161"/>
              </a:solidFill>
              <a:latin typeface="Proxima Nova"/>
              <a:ea typeface="Proxima Nova"/>
              <a:cs typeface="Proxima Nova"/>
              <a:sym typeface="Proxima Nov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Effect filter="fade" transition="in">
                                      <p:cBhvr>
                                        <p:cTn dur="1000"/>
                                        <p:tgtEl>
                                          <p:spTgt spid="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animEffect filter="fade" transition="in">
                                      <p:cBhvr>
                                        <p:cTn dur="1000"/>
                                        <p:tgtEl>
                                          <p:spTgt spid="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animEffect filter="fade" transition="in">
                                      <p:cBhvr>
                                        <p:cTn dur="1000"/>
                                        <p:tgtEl>
                                          <p:spTgt spid="9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Principio de la adición</a:t>
            </a:r>
            <a:endParaRPr b="1" i="0" sz="3600" u="none" cap="none" strike="noStrike">
              <a:solidFill>
                <a:srgbClr val="FFFFFF"/>
              </a:solidFill>
              <a:latin typeface="Helvetica Neue"/>
              <a:ea typeface="Helvetica Neue"/>
              <a:cs typeface="Helvetica Neue"/>
              <a:sym typeface="Helvetica Neue"/>
            </a:endParaRPr>
          </a:p>
        </p:txBody>
      </p:sp>
      <p:sp>
        <p:nvSpPr>
          <p:cNvPr id="105" name="Google Shape;105;p6"/>
          <p:cNvSpPr txBox="1"/>
          <p:nvPr/>
        </p:nvSpPr>
        <p:spPr>
          <a:xfrm>
            <a:off x="226318" y="1036236"/>
            <a:ext cx="8917682" cy="837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Si una operación puede hacerse de n o de m formas distintas, entonces se puede realizar de n + m maneras</a:t>
            </a:r>
            <a:endParaRPr b="0" i="0" sz="1600" u="none" cap="none" strike="noStrike">
              <a:solidFill>
                <a:srgbClr val="616161"/>
              </a:solidFill>
              <a:latin typeface="Proxima Nova"/>
              <a:ea typeface="Proxima Nova"/>
              <a:cs typeface="Proxima Nova"/>
              <a:sym typeface="Proxima Nov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7"/>
          <p:cNvSpPr txBox="1"/>
          <p:nvPr/>
        </p:nvSpPr>
        <p:spPr>
          <a:xfrm>
            <a:off x="273378" y="2747600"/>
            <a:ext cx="9144000" cy="123565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Solución:</a:t>
            </a:r>
            <a:r>
              <a:rPr b="0" i="0" lang="en" sz="1600" u="none" cap="none" strike="noStrike">
                <a:solidFill>
                  <a:srgbClr val="616161"/>
                </a:solidFill>
                <a:latin typeface="Proxima Nova"/>
                <a:ea typeface="Proxima Nova"/>
                <a:cs typeface="Proxima Nova"/>
                <a:sym typeface="Proxima Nova"/>
              </a:rPr>
              <a:t> Juan puede elegir un solo plato, que puede ser </a:t>
            </a:r>
            <a:r>
              <a:rPr b="0" i="0" lang="en" sz="1600" u="sng" cap="none" strike="noStrike">
                <a:solidFill>
                  <a:srgbClr val="616161"/>
                </a:solidFill>
                <a:latin typeface="Proxima Nova"/>
                <a:ea typeface="Proxima Nova"/>
                <a:cs typeface="Proxima Nova"/>
                <a:sym typeface="Proxima Nova"/>
              </a:rPr>
              <a:t>pasta </a:t>
            </a:r>
            <a:r>
              <a:rPr b="1" i="0" lang="en" sz="1600" u="sng" cap="none" strike="noStrike">
                <a:solidFill>
                  <a:srgbClr val="616161"/>
                </a:solidFill>
                <a:latin typeface="Proxima Nova"/>
                <a:ea typeface="Proxima Nova"/>
                <a:cs typeface="Proxima Nova"/>
                <a:sym typeface="Proxima Nova"/>
              </a:rPr>
              <a:t>o</a:t>
            </a:r>
            <a:r>
              <a:rPr b="0" i="0" lang="en" sz="1600" u="sng" cap="none" strike="noStrike">
                <a:solidFill>
                  <a:srgbClr val="616161"/>
                </a:solidFill>
                <a:latin typeface="Proxima Nova"/>
                <a:ea typeface="Proxima Nova"/>
                <a:cs typeface="Proxima Nova"/>
                <a:sym typeface="Proxima Nova"/>
              </a:rPr>
              <a:t> pizza</a:t>
            </a:r>
            <a:r>
              <a:rPr b="0" i="0" lang="en" sz="1600" u="none" cap="none" strike="noStrike">
                <a:solidFill>
                  <a:srgbClr val="616161"/>
                </a:solidFill>
                <a:latin typeface="Proxima Nova"/>
                <a:ea typeface="Proxima Nova"/>
                <a:cs typeface="Proxima Nova"/>
                <a:sym typeface="Proxima Nova"/>
              </a:rPr>
              <a:t>. </a:t>
            </a:r>
            <a:endParaRPr b="0" i="0" sz="1600" u="none" cap="none" strike="noStrike">
              <a:solidFill>
                <a:srgbClr val="616161"/>
              </a:solidFill>
              <a:latin typeface="Proxima Nova"/>
              <a:ea typeface="Proxima Nova"/>
              <a:cs typeface="Proxima Nova"/>
              <a:sym typeface="Proxima Nova"/>
            </a:endParaRPr>
          </a:p>
          <a:p>
            <a:pPr indent="0" lvl="0" marL="0" marR="0" rtl="0" algn="l">
              <a:lnSpc>
                <a:spcPct val="115000"/>
              </a:lnSpc>
              <a:spcBef>
                <a:spcPts val="1600"/>
              </a:spcBef>
              <a:spcAft>
                <a:spcPts val="0"/>
              </a:spcAft>
              <a:buClr>
                <a:schemeClr val="dk1"/>
              </a:buClr>
              <a:buSzPts val="1100"/>
              <a:buFont typeface="Arial"/>
              <a:buNone/>
            </a:pPr>
            <a:r>
              <a:rPr b="0" i="0" lang="en" sz="1600" u="none" cap="none" strike="noStrike">
                <a:solidFill>
                  <a:srgbClr val="616161"/>
                </a:solidFill>
                <a:latin typeface="Proxima Nova"/>
                <a:ea typeface="Proxima Nova"/>
                <a:cs typeface="Proxima Nova"/>
                <a:sym typeface="Proxima Nova"/>
              </a:rPr>
              <a:t>#platos posibles= #pastas </a:t>
            </a:r>
            <a:r>
              <a:rPr b="1" i="0" lang="en" sz="1600" u="none" cap="none" strike="noStrike">
                <a:solidFill>
                  <a:srgbClr val="616161"/>
                </a:solidFill>
                <a:latin typeface="Proxima Nova"/>
                <a:ea typeface="Proxima Nova"/>
                <a:cs typeface="Proxima Nova"/>
                <a:sym typeface="Proxima Nova"/>
              </a:rPr>
              <a:t>+</a:t>
            </a:r>
            <a:r>
              <a:rPr b="0" i="0" lang="en" sz="1600" u="none" cap="none" strike="noStrike">
                <a:solidFill>
                  <a:srgbClr val="616161"/>
                </a:solidFill>
                <a:latin typeface="Proxima Nova"/>
                <a:ea typeface="Proxima Nova"/>
                <a:cs typeface="Proxima Nova"/>
                <a:sym typeface="Proxima Nova"/>
              </a:rPr>
              <a:t> #pizzas</a:t>
            </a:r>
            <a:endParaRPr b="0" i="0" sz="1600" u="none" cap="none" strike="noStrike">
              <a:solidFill>
                <a:srgbClr val="616161"/>
              </a:solidFill>
              <a:latin typeface="Proxima Nova"/>
              <a:ea typeface="Proxima Nova"/>
              <a:cs typeface="Proxima Nova"/>
              <a:sym typeface="Proxima Nova"/>
            </a:endParaRPr>
          </a:p>
          <a:p>
            <a:pPr indent="0" lvl="0" marL="0" marR="0" rtl="0" algn="l">
              <a:lnSpc>
                <a:spcPct val="115000"/>
              </a:lnSpc>
              <a:spcBef>
                <a:spcPts val="1600"/>
              </a:spcBef>
              <a:spcAft>
                <a:spcPts val="0"/>
              </a:spcAft>
              <a:buClr>
                <a:schemeClr val="dk1"/>
              </a:buClr>
              <a:buSzPts val="1100"/>
              <a:buFont typeface="Arial"/>
              <a:buNone/>
            </a:pPr>
            <a:r>
              <a:rPr b="0" i="0" lang="en" sz="1600" u="none" cap="none" strike="noStrike">
                <a:solidFill>
                  <a:srgbClr val="616161"/>
                </a:solidFill>
                <a:latin typeface="Proxima Nova"/>
                <a:ea typeface="Proxima Nova"/>
                <a:cs typeface="Proxima Nova"/>
                <a:sym typeface="Proxima Nova"/>
              </a:rPr>
              <a:t>#platos posibles= 4 x 3 </a:t>
            </a:r>
            <a:r>
              <a:rPr b="1" i="0" lang="en" sz="1600" u="none" cap="none" strike="noStrike">
                <a:solidFill>
                  <a:srgbClr val="616161"/>
                </a:solidFill>
                <a:latin typeface="Proxima Nova"/>
                <a:ea typeface="Proxima Nova"/>
                <a:cs typeface="Proxima Nova"/>
                <a:sym typeface="Proxima Nova"/>
              </a:rPr>
              <a:t>+ </a:t>
            </a:r>
            <a:r>
              <a:rPr b="0" i="0" lang="en" sz="1600" u="none" cap="none" strike="noStrike">
                <a:solidFill>
                  <a:srgbClr val="616161"/>
                </a:solidFill>
                <a:latin typeface="Proxima Nova"/>
                <a:ea typeface="Proxima Nova"/>
                <a:cs typeface="Proxima Nova"/>
                <a:sym typeface="Proxima Nova"/>
              </a:rPr>
              <a:t>10= 22</a:t>
            </a:r>
            <a:endParaRPr b="1" i="0" sz="1600" u="none" cap="none" strike="noStrike">
              <a:solidFill>
                <a:srgbClr val="616161"/>
              </a:solidFill>
              <a:latin typeface="Proxima Nova"/>
              <a:ea typeface="Proxima Nova"/>
              <a:cs typeface="Proxima Nova"/>
              <a:sym typeface="Proxima Nova"/>
            </a:endParaRPr>
          </a:p>
        </p:txBody>
      </p:sp>
      <p:sp>
        <p:nvSpPr>
          <p:cNvPr id="111" name="Google Shape;111;p7"/>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Principio de la adición</a:t>
            </a:r>
            <a:endParaRPr b="1" i="0" sz="3600" u="none" cap="none" strike="noStrike">
              <a:solidFill>
                <a:srgbClr val="FFFFFF"/>
              </a:solidFill>
              <a:latin typeface="Helvetica Neue"/>
              <a:ea typeface="Helvetica Neue"/>
              <a:cs typeface="Helvetica Neue"/>
              <a:sym typeface="Helvetica Neue"/>
            </a:endParaRPr>
          </a:p>
        </p:txBody>
      </p:sp>
      <p:grpSp>
        <p:nvGrpSpPr>
          <p:cNvPr id="112" name="Google Shape;112;p7"/>
          <p:cNvGrpSpPr/>
          <p:nvPr/>
        </p:nvGrpSpPr>
        <p:grpSpPr>
          <a:xfrm>
            <a:off x="884931" y="4081862"/>
            <a:ext cx="2115525" cy="640500"/>
            <a:chOff x="592700" y="3365425"/>
            <a:chExt cx="2115525" cy="640500"/>
          </a:xfrm>
        </p:grpSpPr>
        <p:sp>
          <p:nvSpPr>
            <p:cNvPr id="113" name="Google Shape;113;p7"/>
            <p:cNvSpPr txBox="1"/>
            <p:nvPr/>
          </p:nvSpPr>
          <p:spPr>
            <a:xfrm>
              <a:off x="592700" y="3636625"/>
              <a:ext cx="1255800" cy="3693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Tipos de pasta</a:t>
              </a:r>
              <a:endParaRPr b="0" i="0" sz="1200" u="none" cap="none" strike="noStrike">
                <a:solidFill>
                  <a:srgbClr val="000000"/>
                </a:solidFill>
                <a:latin typeface="Arial"/>
                <a:ea typeface="Arial"/>
                <a:cs typeface="Arial"/>
                <a:sym typeface="Arial"/>
              </a:endParaRPr>
            </a:p>
          </p:txBody>
        </p:sp>
        <p:sp>
          <p:nvSpPr>
            <p:cNvPr id="114" name="Google Shape;114;p7"/>
            <p:cNvSpPr txBox="1"/>
            <p:nvPr/>
          </p:nvSpPr>
          <p:spPr>
            <a:xfrm>
              <a:off x="2005025" y="3636625"/>
              <a:ext cx="703200" cy="3693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Salsas</a:t>
              </a:r>
              <a:endParaRPr b="0" i="0" sz="1000" u="none" cap="none" strike="noStrike">
                <a:solidFill>
                  <a:srgbClr val="000000"/>
                </a:solidFill>
                <a:latin typeface="Arial"/>
                <a:ea typeface="Arial"/>
                <a:cs typeface="Arial"/>
                <a:sym typeface="Arial"/>
              </a:endParaRPr>
            </a:p>
          </p:txBody>
        </p:sp>
        <p:cxnSp>
          <p:nvCxnSpPr>
            <p:cNvPr id="115" name="Google Shape;115;p7"/>
            <p:cNvCxnSpPr>
              <a:endCxn id="114" idx="0"/>
            </p:cNvCxnSpPr>
            <p:nvPr/>
          </p:nvCxnSpPr>
          <p:spPr>
            <a:xfrm>
              <a:off x="2099525" y="3395425"/>
              <a:ext cx="257100" cy="241200"/>
            </a:xfrm>
            <a:prstGeom prst="straightConnector1">
              <a:avLst/>
            </a:prstGeom>
            <a:noFill/>
            <a:ln cap="flat" cmpd="sng" w="9525">
              <a:solidFill>
                <a:schemeClr val="dk2"/>
              </a:solidFill>
              <a:prstDash val="solid"/>
              <a:round/>
              <a:headEnd len="sm" w="sm" type="none"/>
              <a:tailEnd len="med" w="med" type="triangle"/>
            </a:ln>
          </p:spPr>
        </p:cxnSp>
        <p:cxnSp>
          <p:nvCxnSpPr>
            <p:cNvPr id="116" name="Google Shape;116;p7"/>
            <p:cNvCxnSpPr>
              <a:endCxn id="113" idx="0"/>
            </p:cNvCxnSpPr>
            <p:nvPr/>
          </p:nvCxnSpPr>
          <p:spPr>
            <a:xfrm flipH="1">
              <a:off x="1220600" y="3365425"/>
              <a:ext cx="507300" cy="271200"/>
            </a:xfrm>
            <a:prstGeom prst="straightConnector1">
              <a:avLst/>
            </a:prstGeom>
            <a:noFill/>
            <a:ln cap="flat" cmpd="sng" w="9525">
              <a:solidFill>
                <a:schemeClr val="dk2"/>
              </a:solidFill>
              <a:prstDash val="solid"/>
              <a:round/>
              <a:headEnd len="sm" w="sm" type="none"/>
              <a:tailEnd len="med" w="med" type="triangle"/>
            </a:ln>
          </p:spPr>
        </p:cxnSp>
      </p:grpSp>
      <p:sp>
        <p:nvSpPr>
          <p:cNvPr id="117" name="Google Shape;117;p7"/>
          <p:cNvSpPr txBox="1"/>
          <p:nvPr/>
        </p:nvSpPr>
        <p:spPr>
          <a:xfrm>
            <a:off x="273378" y="920296"/>
            <a:ext cx="8201319" cy="1655557"/>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Juan va a un restaurante y quiere elegir un plato de comida. En la carta hay 4 tipos distintos de pastas, y 10 variedades de pizza. Cada pasta viene con salsa, que puede ser filetto, bolognesa o Parisienne.</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chemeClr val="accent5"/>
                </a:solidFill>
                <a:latin typeface="Proxima Nova"/>
                <a:ea typeface="Proxima Nova"/>
                <a:cs typeface="Proxima Nova"/>
                <a:sym typeface="Proxima Nova"/>
              </a:rPr>
              <a:t>¿Entre cuántas opciones diferentes de platos puede elegir Juan?</a:t>
            </a:r>
            <a:endParaRPr b="1" i="0" sz="1600" u="none" cap="none" strike="noStrike">
              <a:solidFill>
                <a:schemeClr val="accent5"/>
              </a:solidFill>
              <a:latin typeface="Proxima Nova"/>
              <a:ea typeface="Proxima Nova"/>
              <a:cs typeface="Proxima Nova"/>
              <a:sym typeface="Proxima Nov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Effect filter="fade" transition="in">
                                      <p:cBhvr>
                                        <p:cTn dur="1000"/>
                                        <p:tgtEl>
                                          <p:spTgt spid="1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animEffect filter="fade" transition="in">
                                      <p:cBhvr>
                                        <p:cTn dur="1000"/>
                                        <p:tgtEl>
                                          <p:spTgt spid="1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animEffect filter="fade" transition="in">
                                      <p:cBhvr>
                                        <p:cTn dur="1000"/>
                                        <p:tgtEl>
                                          <p:spTgt spid="11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nvSpPr>
        <p:spPr>
          <a:xfrm>
            <a:off x="282803" y="1177546"/>
            <a:ext cx="8323869" cy="821733"/>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1800" u="none" cap="none" strike="noStrike">
                <a:solidFill>
                  <a:srgbClr val="616161"/>
                </a:solidFill>
                <a:latin typeface="Proxima Nova"/>
                <a:ea typeface="Proxima Nova"/>
                <a:cs typeface="Proxima Nova"/>
                <a:sym typeface="Proxima Nova"/>
              </a:rPr>
              <a:t>Número de </a:t>
            </a:r>
            <a:r>
              <a:rPr b="1" i="0" lang="en" sz="1800" u="none" cap="none" strike="noStrike">
                <a:solidFill>
                  <a:srgbClr val="616161"/>
                </a:solidFill>
                <a:latin typeface="Proxima Nova"/>
                <a:ea typeface="Proxima Nova"/>
                <a:cs typeface="Proxima Nova"/>
                <a:sym typeface="Proxima Nova"/>
              </a:rPr>
              <a:t>formas distintas </a:t>
            </a:r>
            <a:r>
              <a:rPr b="0" i="0" lang="en" sz="1800" u="none" cap="none" strike="noStrike">
                <a:solidFill>
                  <a:srgbClr val="616161"/>
                </a:solidFill>
                <a:latin typeface="Proxima Nova"/>
                <a:ea typeface="Proxima Nova"/>
                <a:cs typeface="Proxima Nova"/>
                <a:sym typeface="Proxima Nova"/>
              </a:rPr>
              <a:t>en que se puede </a:t>
            </a:r>
            <a:r>
              <a:rPr b="1" i="0" lang="en" sz="1800" u="none" cap="none" strike="noStrike">
                <a:solidFill>
                  <a:srgbClr val="616161"/>
                </a:solidFill>
                <a:latin typeface="Proxima Nova"/>
                <a:ea typeface="Proxima Nova"/>
                <a:cs typeface="Proxima Nova"/>
                <a:sym typeface="Proxima Nova"/>
              </a:rPr>
              <a:t>ordenar (</a:t>
            </a:r>
            <a:r>
              <a:rPr b="1" i="0" lang="en" sz="1800" u="sng" cap="none" strike="noStrike">
                <a:solidFill>
                  <a:srgbClr val="616161"/>
                </a:solidFill>
                <a:latin typeface="Proxima Nova"/>
                <a:ea typeface="Proxima Nova"/>
                <a:cs typeface="Proxima Nova"/>
                <a:sym typeface="Proxima Nova"/>
              </a:rPr>
              <a:t>permutar</a:t>
            </a:r>
            <a:r>
              <a:rPr b="1" i="0" lang="en" sz="1800" u="none" cap="none" strike="noStrike">
                <a:solidFill>
                  <a:srgbClr val="616161"/>
                </a:solidFill>
                <a:latin typeface="Proxima Nova"/>
                <a:ea typeface="Proxima Nova"/>
                <a:cs typeface="Proxima Nova"/>
                <a:sym typeface="Proxima Nova"/>
              </a:rPr>
              <a:t>) los elementos de un conjunto. </a:t>
            </a:r>
            <a:endParaRPr b="0" i="0" sz="1400" u="none" cap="none" strike="noStrike">
              <a:solidFill>
                <a:srgbClr val="000000"/>
              </a:solidFill>
              <a:latin typeface="Arial"/>
              <a:ea typeface="Arial"/>
              <a:cs typeface="Arial"/>
              <a:sym typeface="Arial"/>
            </a:endParaRPr>
          </a:p>
        </p:txBody>
      </p:sp>
      <p:sp>
        <p:nvSpPr>
          <p:cNvPr id="123" name="Google Shape;123;p8"/>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Permutación sin repetición</a:t>
            </a:r>
            <a:endParaRPr b="1" i="0" sz="3600" u="none" cap="none" strike="noStrike">
              <a:solidFill>
                <a:srgbClr val="FFFFFF"/>
              </a:solidFill>
              <a:latin typeface="Helvetica Neue"/>
              <a:ea typeface="Helvetica Neue"/>
              <a:cs typeface="Helvetica Neue"/>
              <a:sym typeface="Helvetica Neue"/>
            </a:endParaRPr>
          </a:p>
        </p:txBody>
      </p:sp>
      <p:sp>
        <p:nvSpPr>
          <p:cNvPr id="124" name="Google Shape;124;p8"/>
          <p:cNvSpPr/>
          <p:nvPr/>
        </p:nvSpPr>
        <p:spPr>
          <a:xfrm>
            <a:off x="282802" y="2234127"/>
            <a:ext cx="8323869" cy="155985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Generalmente lo usamos cuando queremos saber de cuántas maneras distintas se puede ordenar una serie de elementos. </a:t>
            </a: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160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Los elementos </a:t>
            </a:r>
            <a:r>
              <a:rPr b="1" i="0" lang="en" sz="1800" u="none" cap="none" strike="noStrike">
                <a:solidFill>
                  <a:srgbClr val="616161"/>
                </a:solidFill>
                <a:latin typeface="Proxima Nova"/>
                <a:ea typeface="Proxima Nova"/>
                <a:cs typeface="Proxima Nova"/>
                <a:sym typeface="Proxima Nova"/>
              </a:rPr>
              <a:t>no se repiten (sin repetición!)</a:t>
            </a:r>
            <a:endParaRPr b="0" i="0" sz="1400" u="none" cap="none" strike="noStrike">
              <a:solidFill>
                <a:srgbClr val="000000"/>
              </a:solidFill>
              <a:latin typeface="Arial"/>
              <a:ea typeface="Arial"/>
              <a:cs typeface="Arial"/>
              <a:sym typeface="Arial"/>
            </a:endParaRPr>
          </a:p>
          <a:p>
            <a:pPr indent="-342900" lvl="0" marL="457200" marR="0" rtl="0" algn="l">
              <a:lnSpc>
                <a:spcPct val="115000"/>
              </a:lnSpc>
              <a:spcBef>
                <a:spcPts val="0"/>
              </a:spcBef>
              <a:spcAft>
                <a:spcPts val="0"/>
              </a:spcAft>
              <a:buClr>
                <a:srgbClr val="616161"/>
              </a:buClr>
              <a:buSzPts val="1800"/>
              <a:buFont typeface="Proxima Nova"/>
              <a:buChar char="●"/>
            </a:pPr>
            <a:r>
              <a:rPr b="1" i="0" lang="en" sz="1800" u="none" cap="none" strike="noStrike">
                <a:solidFill>
                  <a:srgbClr val="616161"/>
                </a:solidFill>
                <a:latin typeface="Proxima Nova"/>
                <a:ea typeface="Proxima Nova"/>
                <a:cs typeface="Proxima Nova"/>
                <a:sym typeface="Proxima Nova"/>
              </a:rPr>
              <a:t>Importa el orden en el que se los elige </a:t>
            </a:r>
            <a:r>
              <a:rPr b="0" i="0" lang="en" sz="1800" u="none" cap="none" strike="noStrike">
                <a:solidFill>
                  <a:srgbClr val="616161"/>
                </a:solidFill>
                <a:latin typeface="Proxima Nova"/>
                <a:ea typeface="Proxima Nova"/>
                <a:cs typeface="Proxima Nova"/>
                <a:sym typeface="Proxima Nova"/>
              </a:rPr>
              <a:t>(porque una vez elegido, no vuelve)</a:t>
            </a:r>
            <a:endParaRPr b="1" i="0" sz="1800" u="none" cap="none" strike="noStrike">
              <a:solidFill>
                <a:srgbClr val="616161"/>
              </a:solidFill>
              <a:latin typeface="Proxima Nova"/>
              <a:ea typeface="Proxima Nova"/>
              <a:cs typeface="Proxima Nova"/>
              <a:sym typeface="Proxima Nov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9"/>
          <p:cNvSpPr txBox="1"/>
          <p:nvPr/>
        </p:nvSpPr>
        <p:spPr>
          <a:xfrm>
            <a:off x="226243" y="953218"/>
            <a:ext cx="8323868"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¿De cuántas formas puedo sentar 5 personas en una fila de 5 sillas?</a:t>
            </a:r>
            <a:endParaRPr b="0" i="0" sz="1600" u="none" cap="none" strike="noStrike">
              <a:solidFill>
                <a:srgbClr val="616161"/>
              </a:solidFill>
              <a:latin typeface="Proxima Nova"/>
              <a:ea typeface="Proxima Nova"/>
              <a:cs typeface="Proxima Nova"/>
              <a:sym typeface="Proxima Nova"/>
            </a:endParaRPr>
          </a:p>
        </p:txBody>
      </p:sp>
      <p:sp>
        <p:nvSpPr>
          <p:cNvPr id="130" name="Google Shape;130;p9"/>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Permutación sin repetición</a:t>
            </a:r>
            <a:endParaRPr b="1" i="0" sz="3600" u="none" cap="none" strike="noStrike">
              <a:solidFill>
                <a:srgbClr val="FFFFFF"/>
              </a:solidFill>
              <a:latin typeface="Helvetica Neue"/>
              <a:ea typeface="Helvetica Neue"/>
              <a:cs typeface="Helvetica Neue"/>
              <a:sym typeface="Helvetica Neue"/>
            </a:endParaRPr>
          </a:p>
        </p:txBody>
      </p:sp>
      <p:sp>
        <p:nvSpPr>
          <p:cNvPr id="131" name="Google Shape;131;p9"/>
          <p:cNvSpPr/>
          <p:nvPr/>
        </p:nvSpPr>
        <p:spPr>
          <a:xfrm>
            <a:off x="226243" y="1891489"/>
            <a:ext cx="8323868" cy="64812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Solución:</a:t>
            </a:r>
            <a:r>
              <a:rPr b="0" i="0" lang="en" sz="1600" u="none" cap="none" strike="noStrike">
                <a:solidFill>
                  <a:srgbClr val="616161"/>
                </a:solidFill>
                <a:latin typeface="Proxima Nova"/>
                <a:ea typeface="Proxima Nova"/>
                <a:cs typeface="Proxima Nova"/>
                <a:sym typeface="Proxima Nova"/>
              </a:rPr>
              <a:t> En la primer silla puedo sentar a cualquier persona, en la siguiente puedo sentar a cualquiera de las 4 personas restantes, y así sucesivamente.</a:t>
            </a:r>
            <a:endParaRPr b="0" i="0" sz="1400" u="none" cap="none" strike="noStrike">
              <a:solidFill>
                <a:srgbClr val="000000"/>
              </a:solidFill>
              <a:latin typeface="Arial"/>
              <a:ea typeface="Arial"/>
              <a:cs typeface="Arial"/>
              <a:sym typeface="Arial"/>
            </a:endParaRPr>
          </a:p>
        </p:txBody>
      </p:sp>
      <p:sp>
        <p:nvSpPr>
          <p:cNvPr id="132" name="Google Shape;132;p9"/>
          <p:cNvSpPr/>
          <p:nvPr/>
        </p:nvSpPr>
        <p:spPr>
          <a:xfrm>
            <a:off x="362931" y="2804912"/>
            <a:ext cx="8187179" cy="364972"/>
          </a:xfrm>
          <a:prstGeom prst="rect">
            <a:avLst/>
          </a:prstGeom>
          <a:noFill/>
          <a:ln>
            <a:noFill/>
          </a:ln>
        </p:spPr>
        <p:txBody>
          <a:bodyPr anchorCtr="0" anchor="t" bIns="45700" lIns="91425" spcFirstLastPara="1" rIns="91425" wrap="square" tIns="45700">
            <a:spAutoFit/>
          </a:bodyPr>
          <a:lstStyle/>
          <a:p>
            <a:pPr indent="457200" lvl="0" marL="0" marR="0" rtl="0" algn="l">
              <a:lnSpc>
                <a:spcPct val="115000"/>
              </a:lnSpc>
              <a:spcBef>
                <a:spcPts val="0"/>
              </a:spcBef>
              <a:spcAft>
                <a:spcPts val="0"/>
              </a:spcAft>
              <a:buClr>
                <a:srgbClr val="000000"/>
              </a:buClr>
              <a:buSzPts val="1600"/>
              <a:buFont typeface="Arial"/>
              <a:buNone/>
            </a:pPr>
            <a:r>
              <a:rPr b="0" i="0" lang="en" sz="1600" u="none" cap="none" strike="noStrike">
                <a:solidFill>
                  <a:srgbClr val="616161"/>
                </a:solidFill>
                <a:latin typeface="Proxima Nova"/>
                <a:ea typeface="Proxima Nova"/>
                <a:cs typeface="Proxima Nova"/>
                <a:sym typeface="Proxima Nova"/>
              </a:rPr>
              <a:t>#Permutaciones: </a:t>
            </a:r>
            <a:r>
              <a:rPr b="0" i="0" lang="en" sz="1600" u="sng" cap="none" strike="noStrike">
                <a:solidFill>
                  <a:srgbClr val="616161"/>
                </a:solidFill>
                <a:latin typeface="Proxima Nova"/>
                <a:ea typeface="Proxima Nova"/>
                <a:cs typeface="Proxima Nova"/>
                <a:sym typeface="Proxima Nova"/>
              </a:rPr>
              <a:t>5</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4</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3</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2</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1</a:t>
            </a:r>
            <a:r>
              <a:rPr b="0" i="0" lang="en" sz="1600" u="none" cap="none" strike="noStrike">
                <a:solidFill>
                  <a:srgbClr val="616161"/>
                </a:solidFill>
                <a:latin typeface="Proxima Nova"/>
                <a:ea typeface="Proxima Nova"/>
                <a:cs typeface="Proxima Nova"/>
                <a:sym typeface="Proxima Nova"/>
              </a:rPr>
              <a:t> = 5! </a:t>
            </a:r>
            <a:endParaRPr b="0" i="0" sz="1400" u="none" cap="none" strike="noStrike">
              <a:solidFill>
                <a:srgbClr val="000000"/>
              </a:solidFill>
              <a:latin typeface="Arial"/>
              <a:ea typeface="Arial"/>
              <a:cs typeface="Arial"/>
              <a:sym typeface="Arial"/>
            </a:endParaRPr>
          </a:p>
        </p:txBody>
      </p:sp>
      <p:sp>
        <p:nvSpPr>
          <p:cNvPr id="133" name="Google Shape;133;p9"/>
          <p:cNvSpPr/>
          <p:nvPr/>
        </p:nvSpPr>
        <p:spPr>
          <a:xfrm>
            <a:off x="1972765" y="3435181"/>
            <a:ext cx="6735453" cy="578620"/>
          </a:xfrm>
          <a:prstGeom prst="rect">
            <a:avLst/>
          </a:prstGeom>
          <a:noFill/>
          <a:ln>
            <a:noFill/>
          </a:ln>
        </p:spPr>
        <p:txBody>
          <a:bodyPr anchorCtr="0" anchor="t" bIns="45700" lIns="91425" spcFirstLastPara="1" rIns="91425" wrap="square" tIns="45700">
            <a:spAutoFit/>
          </a:bodyPr>
          <a:lstStyle/>
          <a:p>
            <a:pPr indent="7938" lvl="0" marL="0" marR="0" rtl="0" algn="r">
              <a:lnSpc>
                <a:spcPct val="115000"/>
              </a:lnSpc>
              <a:spcBef>
                <a:spcPts val="0"/>
              </a:spcBef>
              <a:spcAft>
                <a:spcPts val="0"/>
              </a:spcAft>
              <a:buClr>
                <a:srgbClr val="000000"/>
              </a:buClr>
              <a:buSzPts val="1400"/>
              <a:buFont typeface="Arial"/>
              <a:buNone/>
            </a:pPr>
            <a:r>
              <a:rPr b="1" i="0" lang="en" sz="1400" u="none" cap="none" strike="noStrike">
                <a:solidFill>
                  <a:schemeClr val="accent5"/>
                </a:solidFill>
                <a:latin typeface="Proxima Nova"/>
                <a:ea typeface="Proxima Nova"/>
                <a:cs typeface="Proxima Nova"/>
                <a:sym typeface="Proxima Nova"/>
              </a:rPr>
              <a:t>IMPORTANTE:</a:t>
            </a:r>
            <a:r>
              <a:rPr b="0" i="0" lang="en" sz="1400" u="none" cap="none" strike="noStrike">
                <a:solidFill>
                  <a:srgbClr val="616161"/>
                </a:solidFill>
                <a:latin typeface="Proxima Nova"/>
                <a:ea typeface="Proxima Nova"/>
                <a:cs typeface="Proxima Nova"/>
                <a:sym typeface="Proxima Nova"/>
              </a:rPr>
              <a:t> En este ejemplo los elementos no se repiten, una misma persona no puede ocupar dos lugares al mismo tiempo.</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0"/>
          <p:cNvSpPr txBox="1"/>
          <p:nvPr/>
        </p:nvSpPr>
        <p:spPr>
          <a:xfrm>
            <a:off x="226243" y="953218"/>
            <a:ext cx="8323868"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¿De cuántas formas puedo sentar 5 personas en una fila de 5 sillas?</a:t>
            </a:r>
            <a:endParaRPr b="0" i="0" sz="1600" u="none" cap="none" strike="noStrike">
              <a:solidFill>
                <a:srgbClr val="616161"/>
              </a:solidFill>
              <a:latin typeface="Proxima Nova"/>
              <a:ea typeface="Proxima Nova"/>
              <a:cs typeface="Proxima Nova"/>
              <a:sym typeface="Proxima Nova"/>
            </a:endParaRPr>
          </a:p>
        </p:txBody>
      </p:sp>
      <p:sp>
        <p:nvSpPr>
          <p:cNvPr id="139" name="Google Shape;139;p1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Permutación sin repetición</a:t>
            </a:r>
            <a:endParaRPr b="1" i="0" sz="3600" u="none" cap="none" strike="noStrike">
              <a:solidFill>
                <a:srgbClr val="FFFFFF"/>
              </a:solidFill>
              <a:latin typeface="Helvetica Neue"/>
              <a:ea typeface="Helvetica Neue"/>
              <a:cs typeface="Helvetica Neue"/>
              <a:sym typeface="Helvetica Neue"/>
            </a:endParaRPr>
          </a:p>
        </p:txBody>
      </p:sp>
      <p:sp>
        <p:nvSpPr>
          <p:cNvPr id="140" name="Google Shape;140;p10"/>
          <p:cNvSpPr/>
          <p:nvPr/>
        </p:nvSpPr>
        <p:spPr>
          <a:xfrm>
            <a:off x="226243" y="1891489"/>
            <a:ext cx="8323868" cy="64812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Solución:</a:t>
            </a:r>
            <a:r>
              <a:rPr b="0" i="0" lang="en" sz="1600" u="none" cap="none" strike="noStrike">
                <a:solidFill>
                  <a:srgbClr val="616161"/>
                </a:solidFill>
                <a:latin typeface="Proxima Nova"/>
                <a:ea typeface="Proxima Nova"/>
                <a:cs typeface="Proxima Nova"/>
                <a:sym typeface="Proxima Nova"/>
              </a:rPr>
              <a:t> En la primer silla puedo sentar a cualquier persona, en la siguiente puedo sentar a cualquiera de las 4 personas restantes, y así sucesivamente.</a:t>
            </a:r>
            <a:endParaRPr b="0" i="0" sz="1400" u="none" cap="none" strike="noStrike">
              <a:solidFill>
                <a:srgbClr val="000000"/>
              </a:solidFill>
              <a:latin typeface="Arial"/>
              <a:ea typeface="Arial"/>
              <a:cs typeface="Arial"/>
              <a:sym typeface="Arial"/>
            </a:endParaRPr>
          </a:p>
        </p:txBody>
      </p:sp>
      <p:sp>
        <p:nvSpPr>
          <p:cNvPr id="141" name="Google Shape;141;p10"/>
          <p:cNvSpPr/>
          <p:nvPr/>
        </p:nvSpPr>
        <p:spPr>
          <a:xfrm>
            <a:off x="362931" y="2804912"/>
            <a:ext cx="8187179" cy="364972"/>
          </a:xfrm>
          <a:prstGeom prst="rect">
            <a:avLst/>
          </a:prstGeom>
          <a:noFill/>
          <a:ln>
            <a:noFill/>
          </a:ln>
        </p:spPr>
        <p:txBody>
          <a:bodyPr anchorCtr="0" anchor="t" bIns="45700" lIns="91425" spcFirstLastPara="1" rIns="91425" wrap="square" tIns="45700">
            <a:spAutoFit/>
          </a:bodyPr>
          <a:lstStyle/>
          <a:p>
            <a:pPr indent="457200" lvl="0" marL="0" marR="0" rtl="0" algn="l">
              <a:lnSpc>
                <a:spcPct val="115000"/>
              </a:lnSpc>
              <a:spcBef>
                <a:spcPts val="0"/>
              </a:spcBef>
              <a:spcAft>
                <a:spcPts val="0"/>
              </a:spcAft>
              <a:buClr>
                <a:srgbClr val="000000"/>
              </a:buClr>
              <a:buSzPts val="1600"/>
              <a:buFont typeface="Arial"/>
              <a:buNone/>
            </a:pPr>
            <a:r>
              <a:rPr b="0" i="0" lang="en" sz="1600" u="none" cap="none" strike="noStrike">
                <a:solidFill>
                  <a:srgbClr val="616161"/>
                </a:solidFill>
                <a:latin typeface="Proxima Nova"/>
                <a:ea typeface="Proxima Nova"/>
                <a:cs typeface="Proxima Nova"/>
                <a:sym typeface="Proxima Nova"/>
              </a:rPr>
              <a:t>#Permutaciones: </a:t>
            </a:r>
            <a:r>
              <a:rPr b="0" i="0" lang="en" sz="1600" u="sng" cap="none" strike="noStrike">
                <a:solidFill>
                  <a:srgbClr val="616161"/>
                </a:solidFill>
                <a:latin typeface="Proxima Nova"/>
                <a:ea typeface="Proxima Nova"/>
                <a:cs typeface="Proxima Nova"/>
                <a:sym typeface="Proxima Nova"/>
              </a:rPr>
              <a:t>5</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4</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3</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2</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1</a:t>
            </a:r>
            <a:r>
              <a:rPr b="0" i="0" lang="en" sz="1600" u="none" cap="none" strike="noStrike">
                <a:solidFill>
                  <a:srgbClr val="616161"/>
                </a:solidFill>
                <a:latin typeface="Proxima Nova"/>
                <a:ea typeface="Proxima Nova"/>
                <a:cs typeface="Proxima Nova"/>
                <a:sym typeface="Proxima Nova"/>
              </a:rPr>
              <a:t> = 5! </a:t>
            </a:r>
            <a:endParaRPr b="0" i="0" sz="1400" u="none" cap="none" strike="noStrike">
              <a:solidFill>
                <a:srgbClr val="000000"/>
              </a:solidFill>
              <a:latin typeface="Arial"/>
              <a:ea typeface="Arial"/>
              <a:cs typeface="Arial"/>
              <a:sym typeface="Arial"/>
            </a:endParaRPr>
          </a:p>
        </p:txBody>
      </p:sp>
      <p:sp>
        <p:nvSpPr>
          <p:cNvPr id="142" name="Google Shape;142;p10"/>
          <p:cNvSpPr txBox="1"/>
          <p:nvPr/>
        </p:nvSpPr>
        <p:spPr>
          <a:xfrm>
            <a:off x="405432" y="3515721"/>
            <a:ext cx="1544902" cy="743763"/>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2000"/>
              <a:buFont typeface="Arial"/>
              <a:buNone/>
            </a:pPr>
            <a:r>
              <a:rPr b="1" i="0" lang="en" sz="2000" u="none" cap="none" strike="noStrike">
                <a:solidFill>
                  <a:schemeClr val="dk1"/>
                </a:solidFill>
                <a:latin typeface="Proxima Nova"/>
                <a:ea typeface="Proxima Nova"/>
                <a:cs typeface="Proxima Nova"/>
                <a:sym typeface="Proxima Nova"/>
              </a:rPr>
              <a:t>En general:</a:t>
            </a:r>
            <a:endParaRPr b="0" i="0" sz="2000" u="none" cap="none" strike="noStrike">
              <a:solidFill>
                <a:schemeClr val="dk1"/>
              </a:solidFill>
              <a:latin typeface="Proxima Nova"/>
              <a:ea typeface="Proxima Nova"/>
              <a:cs typeface="Proxima Nova"/>
              <a:sym typeface="Proxima Nova"/>
            </a:endParaRPr>
          </a:p>
        </p:txBody>
      </p:sp>
      <p:pic>
        <p:nvPicPr>
          <p:cNvPr id="143" name="Google Shape;143;p10"/>
          <p:cNvPicPr preferRelativeResize="0"/>
          <p:nvPr/>
        </p:nvPicPr>
        <p:blipFill rotWithShape="1">
          <a:blip r:embed="rId3">
            <a:alphaModFix/>
          </a:blip>
          <a:srcRect b="0" l="0" r="0" t="0"/>
          <a:stretch/>
        </p:blipFill>
        <p:spPr>
          <a:xfrm>
            <a:off x="2045825" y="3838548"/>
            <a:ext cx="5052349" cy="351734"/>
          </a:xfrm>
          <a:prstGeom prst="rect">
            <a:avLst/>
          </a:prstGeom>
          <a:noFill/>
          <a:ln>
            <a:noFill/>
          </a:ln>
        </p:spPr>
      </p:pic>
      <p:sp>
        <p:nvSpPr>
          <p:cNvPr id="144" name="Google Shape;144;p10"/>
          <p:cNvSpPr/>
          <p:nvPr/>
        </p:nvSpPr>
        <p:spPr>
          <a:xfrm>
            <a:off x="3837244" y="2732330"/>
            <a:ext cx="543774" cy="49771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45" name="Google Shape;145;p10"/>
          <p:cNvCxnSpPr/>
          <p:nvPr/>
        </p:nvCxnSpPr>
        <p:spPr>
          <a:xfrm flipH="1">
            <a:off x="2384386" y="3119377"/>
            <a:ext cx="1504708" cy="719171"/>
          </a:xfrm>
          <a:prstGeom prst="straightConnector1">
            <a:avLst/>
          </a:prstGeom>
          <a:noFill/>
          <a:ln cap="flat" cmpd="sng" w="28575">
            <a:solidFill>
              <a:schemeClr val="dk1"/>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animEffect filter="fade" transition="in">
                                      <p:cBhvr>
                                        <p:cTn dur="1000"/>
                                        <p:tgtEl>
                                          <p:spTgt spid="1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500"/>
                                        <p:tgtEl>
                                          <p:spTgt spid="144"/>
                                        </p:tgtEl>
                                      </p:cBhvr>
                                    </p:animEffect>
                                  </p:childTnLst>
                                </p:cTn>
                              </p:par>
                              <p:par>
                                <p:cTn fill="hold" nodeType="with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5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1"/>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Combinaciones</a:t>
            </a:r>
            <a:endParaRPr b="1" i="0" sz="3600" u="none" cap="none" strike="noStrike">
              <a:solidFill>
                <a:srgbClr val="FFFFFF"/>
              </a:solidFill>
              <a:latin typeface="Helvetica Neue"/>
              <a:ea typeface="Helvetica Neue"/>
              <a:cs typeface="Helvetica Neue"/>
              <a:sym typeface="Helvetica Neue"/>
            </a:endParaRPr>
          </a:p>
        </p:txBody>
      </p:sp>
      <p:pic>
        <p:nvPicPr>
          <p:cNvPr id="151" name="Google Shape;151;p11"/>
          <p:cNvPicPr preferRelativeResize="0"/>
          <p:nvPr/>
        </p:nvPicPr>
        <p:blipFill rotWithShape="1">
          <a:blip r:embed="rId3">
            <a:alphaModFix/>
          </a:blip>
          <a:srcRect b="0" l="0" r="0" t="0"/>
          <a:stretch/>
        </p:blipFill>
        <p:spPr>
          <a:xfrm>
            <a:off x="493694" y="1337221"/>
            <a:ext cx="3039801" cy="965016"/>
          </a:xfrm>
          <a:prstGeom prst="rect">
            <a:avLst/>
          </a:prstGeom>
          <a:noFill/>
          <a:ln>
            <a:noFill/>
          </a:ln>
        </p:spPr>
      </p:pic>
      <p:pic>
        <p:nvPicPr>
          <p:cNvPr id="152" name="Google Shape;152;p11"/>
          <p:cNvPicPr preferRelativeResize="0"/>
          <p:nvPr/>
        </p:nvPicPr>
        <p:blipFill rotWithShape="1">
          <a:blip r:embed="rId4">
            <a:alphaModFix/>
          </a:blip>
          <a:srcRect b="76641" l="0" r="0" t="0"/>
          <a:stretch/>
        </p:blipFill>
        <p:spPr>
          <a:xfrm>
            <a:off x="493695" y="3851742"/>
            <a:ext cx="3638231" cy="635023"/>
          </a:xfrm>
          <a:prstGeom prst="rect">
            <a:avLst/>
          </a:prstGeom>
          <a:noFill/>
          <a:ln>
            <a:noFill/>
          </a:ln>
        </p:spPr>
      </p:pic>
      <p:sp>
        <p:nvSpPr>
          <p:cNvPr id="153" name="Google Shape;153;p11"/>
          <p:cNvSpPr txBox="1"/>
          <p:nvPr/>
        </p:nvSpPr>
        <p:spPr>
          <a:xfrm>
            <a:off x="295154" y="2652768"/>
            <a:ext cx="4531489" cy="102691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Supongamos que </a:t>
            </a:r>
            <a:r>
              <a:rPr b="1" i="0" lang="en" sz="1800" u="none" cap="none" strike="noStrike">
                <a:solidFill>
                  <a:srgbClr val="616161"/>
                </a:solidFill>
                <a:latin typeface="Proxima Nova"/>
                <a:ea typeface="Proxima Nova"/>
                <a:cs typeface="Proxima Nova"/>
                <a:sym typeface="Proxima Nova"/>
              </a:rPr>
              <a:t>tenemos estos 5 elementos</a:t>
            </a:r>
            <a:r>
              <a:rPr b="0" i="0" lang="en" sz="1800" u="none" cap="none" strike="noStrike">
                <a:solidFill>
                  <a:srgbClr val="616161"/>
                </a:solidFill>
                <a:latin typeface="Proxima Nova"/>
                <a:ea typeface="Proxima Nova"/>
                <a:cs typeface="Proxima Nova"/>
                <a:sym typeface="Proxima Nova"/>
              </a:rPr>
              <a:t> y queremos tomar </a:t>
            </a:r>
            <a:r>
              <a:rPr b="1" i="0" lang="en" sz="1800" u="none" cap="none" strike="noStrike">
                <a:solidFill>
                  <a:srgbClr val="616161"/>
                </a:solidFill>
                <a:latin typeface="Proxima Nova"/>
                <a:ea typeface="Proxima Nova"/>
                <a:cs typeface="Proxima Nova"/>
                <a:sym typeface="Proxima Nova"/>
              </a:rPr>
              <a:t>grupos de 3</a:t>
            </a:r>
            <a:r>
              <a:rPr b="0" i="0" lang="en" sz="1800" u="none" cap="none" strike="noStrike">
                <a:solidFill>
                  <a:srgbClr val="616161"/>
                </a:solidFill>
                <a:latin typeface="Proxima Nova"/>
                <a:ea typeface="Proxima Nova"/>
                <a:cs typeface="Proxima Nova"/>
                <a:sym typeface="Proxima Nova"/>
              </a:rPr>
              <a:t>:</a:t>
            </a:r>
            <a:endParaRPr b="0" i="0" sz="1800" u="none" cap="none" strike="noStrike">
              <a:solidFill>
                <a:srgbClr val="616161"/>
              </a:solidFill>
              <a:latin typeface="Proxima Nova"/>
              <a:ea typeface="Proxima Nova"/>
              <a:cs typeface="Proxima Nova"/>
              <a:sym typeface="Proxima Nova"/>
            </a:endParaRPr>
          </a:p>
        </p:txBody>
      </p:sp>
      <p:sp>
        <p:nvSpPr>
          <p:cNvPr id="154" name="Google Shape;154;p11"/>
          <p:cNvSpPr/>
          <p:nvPr/>
        </p:nvSpPr>
        <p:spPr>
          <a:xfrm>
            <a:off x="3588152" y="2864734"/>
            <a:ext cx="543774" cy="49771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55" name="Google Shape;155;p11"/>
          <p:cNvSpPr/>
          <p:nvPr/>
        </p:nvSpPr>
        <p:spPr>
          <a:xfrm>
            <a:off x="4300113" y="3181974"/>
            <a:ext cx="543774" cy="497712"/>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56" name="Google Shape;156;p11"/>
          <p:cNvCxnSpPr>
            <a:stCxn id="154" idx="2"/>
          </p:cNvCxnSpPr>
          <p:nvPr/>
        </p:nvCxnSpPr>
        <p:spPr>
          <a:xfrm rot="10800000">
            <a:off x="966452" y="1718890"/>
            <a:ext cx="2621700" cy="1394700"/>
          </a:xfrm>
          <a:prstGeom prst="straightConnector1">
            <a:avLst/>
          </a:prstGeom>
          <a:noFill/>
          <a:ln cap="flat" cmpd="sng" w="28575">
            <a:solidFill>
              <a:schemeClr val="dk1"/>
            </a:solidFill>
            <a:prstDash val="solid"/>
            <a:round/>
            <a:headEnd len="sm" w="sm" type="none"/>
            <a:tailEnd len="med" w="med" type="stealth"/>
          </a:ln>
        </p:spPr>
      </p:cxnSp>
      <p:cxnSp>
        <p:nvCxnSpPr>
          <p:cNvPr id="157" name="Google Shape;157;p11"/>
          <p:cNvCxnSpPr>
            <a:stCxn id="155" idx="2"/>
          </p:cNvCxnSpPr>
          <p:nvPr/>
        </p:nvCxnSpPr>
        <p:spPr>
          <a:xfrm rot="10800000">
            <a:off x="798213" y="2302230"/>
            <a:ext cx="3501900" cy="1128600"/>
          </a:xfrm>
          <a:prstGeom prst="straightConnector1">
            <a:avLst/>
          </a:prstGeom>
          <a:noFill/>
          <a:ln cap="flat" cmpd="sng" w="28575">
            <a:solidFill>
              <a:srgbClr val="FF0000"/>
            </a:solidFill>
            <a:prstDash val="solid"/>
            <a:round/>
            <a:headEnd len="sm" w="sm" type="none"/>
            <a:tailEnd len="med" w="med" type="stealth"/>
          </a:ln>
        </p:spPr>
      </p:cxnSp>
      <p:pic>
        <p:nvPicPr>
          <p:cNvPr id="158" name="Google Shape;158;p11"/>
          <p:cNvPicPr preferRelativeResize="0"/>
          <p:nvPr/>
        </p:nvPicPr>
        <p:blipFill rotWithShape="1">
          <a:blip r:embed="rId5">
            <a:alphaModFix/>
          </a:blip>
          <a:srcRect b="0" l="29148" r="0" t="0"/>
          <a:stretch/>
        </p:blipFill>
        <p:spPr>
          <a:xfrm>
            <a:off x="3646025" y="1359630"/>
            <a:ext cx="4444678" cy="943165"/>
          </a:xfrm>
          <a:prstGeom prst="rect">
            <a:avLst/>
          </a:prstGeom>
          <a:noFill/>
          <a:ln>
            <a:noFill/>
          </a:ln>
        </p:spPr>
      </p:pic>
      <p:pic>
        <p:nvPicPr>
          <p:cNvPr descr="Variaciones, Permutaciones y Combinaciones con calculadora - YouTube" id="159" name="Google Shape;159;p11"/>
          <p:cNvPicPr preferRelativeResize="0"/>
          <p:nvPr/>
        </p:nvPicPr>
        <p:blipFill rotWithShape="1">
          <a:blip r:embed="rId6">
            <a:alphaModFix/>
          </a:blip>
          <a:srcRect b="0" l="0" r="0" t="0"/>
          <a:stretch/>
        </p:blipFill>
        <p:spPr>
          <a:xfrm>
            <a:off x="0" y="0"/>
            <a:ext cx="9144000" cy="5143500"/>
          </a:xfrm>
          <a:prstGeom prst="rect">
            <a:avLst/>
          </a:prstGeom>
          <a:noFill/>
          <a:ln>
            <a:noFill/>
          </a:ln>
        </p:spPr>
      </p:pic>
      <p:sp>
        <p:nvSpPr>
          <p:cNvPr id="160" name="Google Shape;160;p11"/>
          <p:cNvSpPr/>
          <p:nvPr/>
        </p:nvSpPr>
        <p:spPr>
          <a:xfrm>
            <a:off x="5665807" y="2432623"/>
            <a:ext cx="358815" cy="320080"/>
          </a:xfrm>
          <a:prstGeom prst="ellipse">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1" name="Google Shape;161;p11"/>
          <p:cNvSpPr txBox="1"/>
          <p:nvPr/>
        </p:nvSpPr>
        <p:spPr>
          <a:xfrm>
            <a:off x="312398" y="294312"/>
            <a:ext cx="4531489" cy="708369"/>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rgbClr val="FF0000"/>
                </a:solidFill>
                <a:latin typeface="Proxima Nova"/>
                <a:ea typeface="Proxima Nova"/>
                <a:cs typeface="Proxima Nova"/>
                <a:sym typeface="Proxima Nova"/>
              </a:rPr>
              <a:t>En la calculadora, </a:t>
            </a:r>
            <a:r>
              <a:rPr b="1" i="0" lang="en" sz="1800" u="none" cap="none" strike="noStrike">
                <a:solidFill>
                  <a:srgbClr val="FF0000"/>
                </a:solidFill>
                <a:latin typeface="Proxima Nova"/>
                <a:ea typeface="Proxima Nova"/>
                <a:cs typeface="Proxima Nova"/>
                <a:sym typeface="Proxima Nova"/>
              </a:rPr>
              <a:t>x!</a:t>
            </a:r>
            <a:r>
              <a:rPr b="0" i="0" lang="en" sz="1800" u="none" cap="none" strike="noStrike">
                <a:solidFill>
                  <a:srgbClr val="FF0000"/>
                </a:solidFill>
                <a:latin typeface="Proxima Nova"/>
                <a:ea typeface="Proxima Nova"/>
                <a:cs typeface="Proxima Nova"/>
                <a:sym typeface="Proxima Nova"/>
              </a:rPr>
              <a:t> es el </a:t>
            </a:r>
            <a:r>
              <a:rPr b="0" i="0" lang="en" sz="1800" u="sng" cap="none" strike="noStrike">
                <a:solidFill>
                  <a:srgbClr val="FF0000"/>
                </a:solidFill>
                <a:latin typeface="Proxima Nova"/>
                <a:ea typeface="Proxima Nova"/>
                <a:cs typeface="Proxima Nova"/>
                <a:sym typeface="Proxima Nova"/>
              </a:rPr>
              <a:t>factorial de x</a:t>
            </a:r>
            <a:endParaRPr b="0" i="0" sz="1800" u="none" cap="none" strike="noStrike">
              <a:solidFill>
                <a:srgbClr val="FF0000"/>
              </a:solidFill>
              <a:latin typeface="Proxima Nova"/>
              <a:ea typeface="Proxima Nova"/>
              <a:cs typeface="Proxima Nova"/>
              <a:sym typeface="Proxima Nova"/>
            </a:endParaRPr>
          </a:p>
        </p:txBody>
      </p:sp>
      <p:cxnSp>
        <p:nvCxnSpPr>
          <p:cNvPr id="162" name="Google Shape;162;p11"/>
          <p:cNvCxnSpPr/>
          <p:nvPr/>
        </p:nvCxnSpPr>
        <p:spPr>
          <a:xfrm>
            <a:off x="3646025" y="931762"/>
            <a:ext cx="2048719" cy="1558970"/>
          </a:xfrm>
          <a:prstGeom prst="straightConnector1">
            <a:avLst/>
          </a:prstGeom>
          <a:noFill/>
          <a:ln cap="flat" cmpd="sng" w="28575">
            <a:solidFill>
              <a:srgbClr val="FF0000"/>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txBox="1"/>
          <p:nvPr/>
        </p:nvSpPr>
        <p:spPr>
          <a:xfrm>
            <a:off x="235670" y="988698"/>
            <a:ext cx="8474698"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¿Y si ahora tengo que ubicar a las 5 personas en 3 sillas solamente? </a:t>
            </a:r>
            <a:endParaRPr b="0" i="0" sz="1600" u="none" cap="none" strike="noStrike">
              <a:solidFill>
                <a:srgbClr val="616161"/>
              </a:solidFill>
              <a:latin typeface="Proxima Nova"/>
              <a:ea typeface="Proxima Nova"/>
              <a:cs typeface="Proxima Nova"/>
              <a:sym typeface="Proxima Nova"/>
            </a:endParaRPr>
          </a:p>
        </p:txBody>
      </p:sp>
      <p:sp>
        <p:nvSpPr>
          <p:cNvPr id="168" name="Google Shape;168;p1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Permutación sin repetición</a:t>
            </a:r>
            <a:endParaRPr b="1" i="0" sz="3600" u="none" cap="none" strike="noStrike">
              <a:solidFill>
                <a:srgbClr val="FFFFFF"/>
              </a:solidFill>
              <a:latin typeface="Helvetica Neue"/>
              <a:ea typeface="Helvetica Neue"/>
              <a:cs typeface="Helvetica Neue"/>
              <a:sym typeface="Helvetica Neue"/>
            </a:endParaRPr>
          </a:p>
        </p:txBody>
      </p:sp>
      <p:sp>
        <p:nvSpPr>
          <p:cNvPr id="169" name="Google Shape;169;p12"/>
          <p:cNvSpPr txBox="1"/>
          <p:nvPr/>
        </p:nvSpPr>
        <p:spPr>
          <a:xfrm>
            <a:off x="235670" y="1661672"/>
            <a:ext cx="8474698" cy="136649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Solución: </a:t>
            </a:r>
            <a:r>
              <a:rPr b="0" i="0" lang="en" sz="1600" u="none" cap="none" strike="noStrike">
                <a:solidFill>
                  <a:srgbClr val="616161"/>
                </a:solidFill>
                <a:latin typeface="Proxima Nova"/>
                <a:ea typeface="Proxima Nova"/>
                <a:cs typeface="Proxima Nova"/>
                <a:sym typeface="Proxima Nova"/>
              </a:rPr>
              <a:t>En este caso, solo tenemos 3 lugares y 5 personas:</a:t>
            </a:r>
            <a:endParaRPr b="0" i="0" sz="1600" u="none" cap="none" strike="noStrike">
              <a:solidFill>
                <a:srgbClr val="616161"/>
              </a:solidFill>
              <a:latin typeface="Proxima Nova"/>
              <a:ea typeface="Proxima Nova"/>
              <a:cs typeface="Proxima Nova"/>
              <a:sym typeface="Proxima Nova"/>
            </a:endParaRPr>
          </a:p>
          <a:p>
            <a:pPr indent="0" lvl="0" marL="0" marR="0" rtl="0" algn="l">
              <a:lnSpc>
                <a:spcPct val="115000"/>
              </a:lnSpc>
              <a:spcBef>
                <a:spcPts val="1600"/>
              </a:spcBef>
              <a:spcAft>
                <a:spcPts val="1600"/>
              </a:spcAft>
              <a:buClr>
                <a:srgbClr val="000000"/>
              </a:buClr>
              <a:buSzPts val="1600"/>
              <a:buFont typeface="Arial"/>
              <a:buNone/>
            </a:pPr>
            <a:r>
              <a:rPr b="0" i="0" lang="en" sz="1600" u="none" cap="none" strike="noStrike">
                <a:solidFill>
                  <a:srgbClr val="616161"/>
                </a:solidFill>
                <a:latin typeface="Proxima Nova"/>
                <a:ea typeface="Proxima Nova"/>
                <a:cs typeface="Proxima Nova"/>
                <a:sym typeface="Proxima Nova"/>
              </a:rPr>
              <a:t>#Permutaciones: </a:t>
            </a:r>
            <a:r>
              <a:rPr b="0" i="0" lang="en" sz="1600" u="sng" cap="none" strike="noStrike">
                <a:solidFill>
                  <a:srgbClr val="616161"/>
                </a:solidFill>
                <a:latin typeface="Proxima Nova"/>
                <a:ea typeface="Proxima Nova"/>
                <a:cs typeface="Proxima Nova"/>
                <a:sym typeface="Proxima Nova"/>
              </a:rPr>
              <a:t>5</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4</a:t>
            </a:r>
            <a:r>
              <a:rPr b="0" i="0" lang="en" sz="1600" u="none" cap="none" strike="noStrike">
                <a:solidFill>
                  <a:srgbClr val="616161"/>
                </a:solidFill>
                <a:latin typeface="Proxima Nova"/>
                <a:ea typeface="Proxima Nova"/>
                <a:cs typeface="Proxima Nova"/>
                <a:sym typeface="Proxima Nova"/>
              </a:rPr>
              <a:t> x </a:t>
            </a:r>
            <a:r>
              <a:rPr b="0" i="0" lang="en" sz="1600" u="sng" cap="none" strike="noStrike">
                <a:solidFill>
                  <a:srgbClr val="616161"/>
                </a:solidFill>
                <a:latin typeface="Proxima Nova"/>
                <a:ea typeface="Proxima Nova"/>
                <a:cs typeface="Proxima Nova"/>
                <a:sym typeface="Proxima Nova"/>
              </a:rPr>
              <a:t>3</a:t>
            </a:r>
            <a:r>
              <a:rPr b="0" i="0" lang="en" sz="1600" u="none" cap="none" strike="noStrike">
                <a:solidFill>
                  <a:srgbClr val="616161"/>
                </a:solidFill>
                <a:latin typeface="Proxima Nova"/>
                <a:ea typeface="Proxima Nova"/>
                <a:cs typeface="Proxima Nova"/>
                <a:sym typeface="Proxima Nova"/>
              </a:rPr>
              <a:t> =5!/(5-3)! =60</a:t>
            </a:r>
            <a:endParaRPr b="0" i="0" sz="1800" u="none" cap="none" strike="noStrike">
              <a:solidFill>
                <a:srgbClr val="616161"/>
              </a:solidFill>
              <a:latin typeface="Proxima Nova"/>
              <a:ea typeface="Proxima Nova"/>
              <a:cs typeface="Proxima Nova"/>
              <a:sym typeface="Proxima Nova"/>
            </a:endParaRPr>
          </a:p>
        </p:txBody>
      </p:sp>
      <p:pic>
        <p:nvPicPr>
          <p:cNvPr id="170" name="Google Shape;170;p12"/>
          <p:cNvPicPr preferRelativeResize="0"/>
          <p:nvPr/>
        </p:nvPicPr>
        <p:blipFill rotWithShape="1">
          <a:blip r:embed="rId3">
            <a:alphaModFix/>
          </a:blip>
          <a:srcRect b="0" l="0" r="0" t="0"/>
          <a:stretch/>
        </p:blipFill>
        <p:spPr>
          <a:xfrm>
            <a:off x="4971326" y="3370403"/>
            <a:ext cx="3505200" cy="1225550"/>
          </a:xfrm>
          <a:prstGeom prst="rect">
            <a:avLst/>
          </a:prstGeom>
          <a:noFill/>
          <a:ln>
            <a:noFill/>
          </a:ln>
        </p:spPr>
      </p:pic>
      <p:sp>
        <p:nvSpPr>
          <p:cNvPr id="171" name="Google Shape;171;p12"/>
          <p:cNvSpPr txBox="1"/>
          <p:nvPr/>
        </p:nvSpPr>
        <p:spPr>
          <a:xfrm>
            <a:off x="3027098" y="3521669"/>
            <a:ext cx="1544902" cy="743763"/>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2000"/>
              <a:buFont typeface="Arial"/>
              <a:buNone/>
            </a:pPr>
            <a:r>
              <a:rPr b="1" i="0" lang="en" sz="2000" u="none" cap="none" strike="noStrike">
                <a:solidFill>
                  <a:schemeClr val="dk1"/>
                </a:solidFill>
                <a:latin typeface="Proxima Nova"/>
                <a:ea typeface="Proxima Nova"/>
                <a:cs typeface="Proxima Nova"/>
                <a:sym typeface="Proxima Nova"/>
              </a:rPr>
              <a:t>En general:</a:t>
            </a:r>
            <a:endParaRPr b="0" i="0" sz="2000" u="none" cap="none" strike="noStrike">
              <a:solidFill>
                <a:schemeClr val="dk1"/>
              </a:solidFill>
              <a:latin typeface="Proxima Nova"/>
              <a:ea typeface="Proxima Nova"/>
              <a:cs typeface="Proxima Nova"/>
              <a:sym typeface="Proxima Nova"/>
            </a:endParaRPr>
          </a:p>
        </p:txBody>
      </p:sp>
      <p:sp>
        <p:nvSpPr>
          <p:cNvPr id="172" name="Google Shape;172;p12"/>
          <p:cNvSpPr/>
          <p:nvPr/>
        </p:nvSpPr>
        <p:spPr>
          <a:xfrm>
            <a:off x="4028226" y="1163960"/>
            <a:ext cx="543774" cy="49771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3" name="Google Shape;173;p12"/>
          <p:cNvSpPr/>
          <p:nvPr/>
        </p:nvSpPr>
        <p:spPr>
          <a:xfrm>
            <a:off x="5318685" y="1168173"/>
            <a:ext cx="543774" cy="497712"/>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74" name="Google Shape;174;p12"/>
          <p:cNvCxnSpPr/>
          <p:nvPr/>
        </p:nvCxnSpPr>
        <p:spPr>
          <a:xfrm>
            <a:off x="4323144" y="1661672"/>
            <a:ext cx="792866" cy="2100100"/>
          </a:xfrm>
          <a:prstGeom prst="straightConnector1">
            <a:avLst/>
          </a:prstGeom>
          <a:noFill/>
          <a:ln cap="flat" cmpd="sng" w="28575">
            <a:solidFill>
              <a:schemeClr val="dk1"/>
            </a:solidFill>
            <a:prstDash val="solid"/>
            <a:round/>
            <a:headEnd len="sm" w="sm" type="none"/>
            <a:tailEnd len="med" w="med" type="stealth"/>
          </a:ln>
        </p:spPr>
      </p:cxnSp>
      <p:cxnSp>
        <p:nvCxnSpPr>
          <p:cNvPr id="175" name="Google Shape;175;p12"/>
          <p:cNvCxnSpPr/>
          <p:nvPr/>
        </p:nvCxnSpPr>
        <p:spPr>
          <a:xfrm>
            <a:off x="5613722" y="1661672"/>
            <a:ext cx="248737" cy="2146399"/>
          </a:xfrm>
          <a:prstGeom prst="straightConnector1">
            <a:avLst/>
          </a:prstGeom>
          <a:noFill/>
          <a:ln cap="flat" cmpd="sng" w="28575">
            <a:solidFill>
              <a:srgbClr val="FF0000"/>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Effect filter="fade" transition="in">
                                      <p:cBhvr>
                                        <p:cTn dur="1000"/>
                                        <p:tgtEl>
                                          <p:spTgt spid="1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animEffect filter="fade" transition="in">
                                      <p:cBhvr>
                                        <p:cTn dur="1000"/>
                                        <p:tgtEl>
                                          <p:spTgt spid="1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par>
                                <p:cTn fill="hold" nodeType="with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500"/>
                                        <p:tgtEl>
                                          <p:spTgt spid="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Combinaciones</a:t>
            </a:r>
            <a:endParaRPr b="1" i="0" sz="3600" u="none" cap="none" strike="noStrike">
              <a:solidFill>
                <a:srgbClr val="FFFFFF"/>
              </a:solidFill>
              <a:latin typeface="Helvetica Neue"/>
              <a:ea typeface="Helvetica Neue"/>
              <a:cs typeface="Helvetica Neue"/>
              <a:sym typeface="Helvetica Neue"/>
            </a:endParaRPr>
          </a:p>
        </p:txBody>
      </p:sp>
      <p:pic>
        <p:nvPicPr>
          <p:cNvPr id="181" name="Google Shape;181;p13"/>
          <p:cNvPicPr preferRelativeResize="0"/>
          <p:nvPr/>
        </p:nvPicPr>
        <p:blipFill rotWithShape="1">
          <a:blip r:embed="rId3">
            <a:alphaModFix/>
          </a:blip>
          <a:srcRect b="0" l="0" r="0" t="0"/>
          <a:stretch/>
        </p:blipFill>
        <p:spPr>
          <a:xfrm>
            <a:off x="493694" y="1337221"/>
            <a:ext cx="3039801" cy="965016"/>
          </a:xfrm>
          <a:prstGeom prst="rect">
            <a:avLst/>
          </a:prstGeom>
          <a:noFill/>
          <a:ln>
            <a:noFill/>
          </a:ln>
        </p:spPr>
      </p:pic>
      <p:pic>
        <p:nvPicPr>
          <p:cNvPr id="182" name="Google Shape;182;p13"/>
          <p:cNvPicPr preferRelativeResize="0"/>
          <p:nvPr/>
        </p:nvPicPr>
        <p:blipFill rotWithShape="1">
          <a:blip r:embed="rId4">
            <a:alphaModFix/>
          </a:blip>
          <a:srcRect b="76641" l="0" r="0" t="0"/>
          <a:stretch/>
        </p:blipFill>
        <p:spPr>
          <a:xfrm>
            <a:off x="493695" y="3851742"/>
            <a:ext cx="3638231" cy="635023"/>
          </a:xfrm>
          <a:prstGeom prst="rect">
            <a:avLst/>
          </a:prstGeom>
          <a:noFill/>
          <a:ln>
            <a:noFill/>
          </a:ln>
        </p:spPr>
      </p:pic>
      <p:sp>
        <p:nvSpPr>
          <p:cNvPr id="183" name="Google Shape;183;p13"/>
          <p:cNvSpPr txBox="1"/>
          <p:nvPr/>
        </p:nvSpPr>
        <p:spPr>
          <a:xfrm>
            <a:off x="295154" y="2652768"/>
            <a:ext cx="4531489" cy="102691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Supongamos que </a:t>
            </a:r>
            <a:r>
              <a:rPr b="1" i="0" lang="en" sz="1800" u="none" cap="none" strike="noStrike">
                <a:solidFill>
                  <a:srgbClr val="616161"/>
                </a:solidFill>
                <a:latin typeface="Proxima Nova"/>
                <a:ea typeface="Proxima Nova"/>
                <a:cs typeface="Proxima Nova"/>
                <a:sym typeface="Proxima Nova"/>
              </a:rPr>
              <a:t>tenemos estos 5 elementos</a:t>
            </a:r>
            <a:r>
              <a:rPr b="0" i="0" lang="en" sz="1800" u="none" cap="none" strike="noStrike">
                <a:solidFill>
                  <a:srgbClr val="616161"/>
                </a:solidFill>
                <a:latin typeface="Proxima Nova"/>
                <a:ea typeface="Proxima Nova"/>
                <a:cs typeface="Proxima Nova"/>
                <a:sym typeface="Proxima Nova"/>
              </a:rPr>
              <a:t> y queremos tomar </a:t>
            </a:r>
            <a:r>
              <a:rPr b="1" i="0" lang="en" sz="1800" u="none" cap="none" strike="noStrike">
                <a:solidFill>
                  <a:srgbClr val="616161"/>
                </a:solidFill>
                <a:latin typeface="Proxima Nova"/>
                <a:ea typeface="Proxima Nova"/>
                <a:cs typeface="Proxima Nova"/>
                <a:sym typeface="Proxima Nova"/>
              </a:rPr>
              <a:t>grupos de 3</a:t>
            </a:r>
            <a:r>
              <a:rPr b="0" i="0" lang="en" sz="1800" u="none" cap="none" strike="noStrike">
                <a:solidFill>
                  <a:srgbClr val="616161"/>
                </a:solidFill>
                <a:latin typeface="Proxima Nova"/>
                <a:ea typeface="Proxima Nova"/>
                <a:cs typeface="Proxima Nova"/>
                <a:sym typeface="Proxima Nova"/>
              </a:rPr>
              <a:t>:</a:t>
            </a:r>
            <a:endParaRPr b="0" i="0" sz="1800" u="none" cap="none" strike="noStrike">
              <a:solidFill>
                <a:srgbClr val="616161"/>
              </a:solidFill>
              <a:latin typeface="Proxima Nova"/>
              <a:ea typeface="Proxima Nova"/>
              <a:cs typeface="Proxima Nova"/>
              <a:sym typeface="Proxima Nova"/>
            </a:endParaRPr>
          </a:p>
        </p:txBody>
      </p:sp>
      <p:sp>
        <p:nvSpPr>
          <p:cNvPr id="184" name="Google Shape;184;p13"/>
          <p:cNvSpPr/>
          <p:nvPr/>
        </p:nvSpPr>
        <p:spPr>
          <a:xfrm>
            <a:off x="3588152" y="2864734"/>
            <a:ext cx="543774" cy="49771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5" name="Google Shape;185;p13"/>
          <p:cNvSpPr/>
          <p:nvPr/>
        </p:nvSpPr>
        <p:spPr>
          <a:xfrm>
            <a:off x="4300113" y="3181974"/>
            <a:ext cx="543774" cy="497712"/>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186" name="Google Shape;186;p13"/>
          <p:cNvCxnSpPr>
            <a:stCxn id="184" idx="2"/>
          </p:cNvCxnSpPr>
          <p:nvPr/>
        </p:nvCxnSpPr>
        <p:spPr>
          <a:xfrm rot="10800000">
            <a:off x="966452" y="1718890"/>
            <a:ext cx="2621700" cy="1394700"/>
          </a:xfrm>
          <a:prstGeom prst="straightConnector1">
            <a:avLst/>
          </a:prstGeom>
          <a:noFill/>
          <a:ln cap="flat" cmpd="sng" w="28575">
            <a:solidFill>
              <a:schemeClr val="dk1"/>
            </a:solidFill>
            <a:prstDash val="solid"/>
            <a:round/>
            <a:headEnd len="sm" w="sm" type="none"/>
            <a:tailEnd len="med" w="med" type="stealth"/>
          </a:ln>
        </p:spPr>
      </p:cxnSp>
      <p:cxnSp>
        <p:nvCxnSpPr>
          <p:cNvPr id="187" name="Google Shape;187;p13"/>
          <p:cNvCxnSpPr>
            <a:stCxn id="185" idx="2"/>
          </p:cNvCxnSpPr>
          <p:nvPr/>
        </p:nvCxnSpPr>
        <p:spPr>
          <a:xfrm rot="10800000">
            <a:off x="798213" y="2302230"/>
            <a:ext cx="3501900" cy="1128600"/>
          </a:xfrm>
          <a:prstGeom prst="straightConnector1">
            <a:avLst/>
          </a:prstGeom>
          <a:noFill/>
          <a:ln cap="flat" cmpd="sng" w="28575">
            <a:solidFill>
              <a:srgbClr val="FF0000"/>
            </a:solidFill>
            <a:prstDash val="solid"/>
            <a:round/>
            <a:headEnd len="sm" w="sm" type="none"/>
            <a:tailEnd len="med" w="med" type="stealth"/>
          </a:ln>
        </p:spPr>
      </p:cxnSp>
      <p:pic>
        <p:nvPicPr>
          <p:cNvPr id="188" name="Google Shape;188;p13"/>
          <p:cNvPicPr preferRelativeResize="0"/>
          <p:nvPr/>
        </p:nvPicPr>
        <p:blipFill rotWithShape="1">
          <a:blip r:embed="rId5">
            <a:alphaModFix/>
          </a:blip>
          <a:srcRect b="0" l="29148" r="0" t="0"/>
          <a:stretch/>
        </p:blipFill>
        <p:spPr>
          <a:xfrm>
            <a:off x="3646025" y="1359630"/>
            <a:ext cx="4444678" cy="943165"/>
          </a:xfrm>
          <a:prstGeom prst="rect">
            <a:avLst/>
          </a:prstGeom>
          <a:noFill/>
          <a:ln>
            <a:noFill/>
          </a:ln>
        </p:spPr>
      </p:pic>
      <p:pic>
        <p:nvPicPr>
          <p:cNvPr descr="Variaciones, Permutaciones y Combinaciones con calculadora - YouTube" id="189" name="Google Shape;189;p13"/>
          <p:cNvPicPr preferRelativeResize="0"/>
          <p:nvPr/>
        </p:nvPicPr>
        <p:blipFill rotWithShape="1">
          <a:blip r:embed="rId6">
            <a:alphaModFix/>
          </a:blip>
          <a:srcRect b="0" l="0" r="0" t="0"/>
          <a:stretch/>
        </p:blipFill>
        <p:spPr>
          <a:xfrm>
            <a:off x="0" y="0"/>
            <a:ext cx="9144000" cy="5143500"/>
          </a:xfrm>
          <a:prstGeom prst="rect">
            <a:avLst/>
          </a:prstGeom>
          <a:noFill/>
          <a:ln>
            <a:noFill/>
          </a:ln>
        </p:spPr>
      </p:pic>
      <p:sp>
        <p:nvSpPr>
          <p:cNvPr id="190" name="Google Shape;190;p13"/>
          <p:cNvSpPr/>
          <p:nvPr/>
        </p:nvSpPr>
        <p:spPr>
          <a:xfrm>
            <a:off x="6070922" y="2407534"/>
            <a:ext cx="358815" cy="320080"/>
          </a:xfrm>
          <a:prstGeom prst="ellipse">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1" name="Google Shape;191;p13"/>
          <p:cNvSpPr txBox="1"/>
          <p:nvPr/>
        </p:nvSpPr>
        <p:spPr>
          <a:xfrm>
            <a:off x="312398" y="135038"/>
            <a:ext cx="4531489" cy="102691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rgbClr val="FF0000"/>
                </a:solidFill>
                <a:latin typeface="Proxima Nova"/>
                <a:ea typeface="Proxima Nova"/>
                <a:cs typeface="Proxima Nova"/>
                <a:sym typeface="Proxima Nova"/>
              </a:rPr>
              <a:t>En la calculadora, </a:t>
            </a:r>
            <a:r>
              <a:rPr b="1" i="0" lang="en" sz="1800" u="none" cap="none" strike="noStrike">
                <a:solidFill>
                  <a:srgbClr val="FF0000"/>
                </a:solidFill>
                <a:latin typeface="Proxima Nova"/>
                <a:ea typeface="Proxima Nova"/>
                <a:cs typeface="Proxima Nova"/>
                <a:sym typeface="Proxima Nova"/>
              </a:rPr>
              <a:t>nPr</a:t>
            </a:r>
            <a:r>
              <a:rPr b="0" i="0" lang="en" sz="1800" u="none" cap="none" strike="noStrike">
                <a:solidFill>
                  <a:srgbClr val="FF0000"/>
                </a:solidFill>
                <a:latin typeface="Proxima Nova"/>
                <a:ea typeface="Proxima Nova"/>
                <a:cs typeface="Proxima Nova"/>
                <a:sym typeface="Proxima Nova"/>
              </a:rPr>
              <a:t> es el </a:t>
            </a:r>
            <a:r>
              <a:rPr b="0" i="0" lang="en" sz="1800" u="sng" cap="none" strike="noStrike">
                <a:solidFill>
                  <a:srgbClr val="FF0000"/>
                </a:solidFill>
                <a:latin typeface="Proxima Nova"/>
                <a:ea typeface="Proxima Nova"/>
                <a:cs typeface="Proxima Nova"/>
                <a:sym typeface="Proxima Nova"/>
              </a:rPr>
              <a:t>número de permutaciones de n en r</a:t>
            </a:r>
            <a:endParaRPr b="0" i="0" sz="1800" u="none" cap="none" strike="noStrike">
              <a:solidFill>
                <a:srgbClr val="FF0000"/>
              </a:solidFill>
              <a:latin typeface="Proxima Nova"/>
              <a:ea typeface="Proxima Nova"/>
              <a:cs typeface="Proxima Nova"/>
              <a:sym typeface="Proxima Nova"/>
            </a:endParaRPr>
          </a:p>
        </p:txBody>
      </p:sp>
      <p:cxnSp>
        <p:nvCxnSpPr>
          <p:cNvPr id="192" name="Google Shape;192;p13"/>
          <p:cNvCxnSpPr>
            <a:endCxn id="190" idx="2"/>
          </p:cNvCxnSpPr>
          <p:nvPr/>
        </p:nvCxnSpPr>
        <p:spPr>
          <a:xfrm>
            <a:off x="3031022" y="858774"/>
            <a:ext cx="3039900" cy="1708800"/>
          </a:xfrm>
          <a:prstGeom prst="straightConnector1">
            <a:avLst/>
          </a:prstGeom>
          <a:noFill/>
          <a:ln cap="flat" cmpd="sng" w="28575">
            <a:solidFill>
              <a:srgbClr val="FF0000"/>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par>
                                <p:cTn fill="hold" nodeType="with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4"/>
          <p:cNvSpPr txBox="1"/>
          <p:nvPr/>
        </p:nvSpPr>
        <p:spPr>
          <a:xfrm>
            <a:off x="301657" y="1109698"/>
            <a:ext cx="8305015" cy="1550651"/>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0" i="0" lang="en" sz="1800" u="none" cap="none" strike="noStrike">
                <a:solidFill>
                  <a:srgbClr val="616161"/>
                </a:solidFill>
                <a:latin typeface="Proxima Nova"/>
                <a:ea typeface="Proxima Nova"/>
                <a:cs typeface="Proxima Nova"/>
                <a:sym typeface="Proxima Nova"/>
              </a:rPr>
              <a:t>Si trabajos con </a:t>
            </a:r>
            <a:r>
              <a:rPr b="1" i="0" lang="en" sz="1800" u="none" cap="none" strike="noStrike">
                <a:solidFill>
                  <a:srgbClr val="616161"/>
                </a:solidFill>
                <a:latin typeface="Proxima Nova"/>
                <a:ea typeface="Proxima Nova"/>
                <a:cs typeface="Proxima Nova"/>
                <a:sym typeface="Proxima Nova"/>
              </a:rPr>
              <a:t>permutaciones</a:t>
            </a:r>
            <a:r>
              <a:rPr b="0" i="0" lang="en" sz="1800" u="none" cap="none" strike="noStrike">
                <a:solidFill>
                  <a:srgbClr val="616161"/>
                </a:solidFill>
                <a:latin typeface="Proxima Nova"/>
                <a:ea typeface="Proxima Nova"/>
                <a:cs typeface="Proxima Nova"/>
                <a:sym typeface="Proxima Nova"/>
              </a:rPr>
              <a:t> </a:t>
            </a:r>
            <a:r>
              <a:rPr b="1" i="0" lang="en" sz="1800" u="none" cap="none" strike="noStrike">
                <a:solidFill>
                  <a:srgbClr val="616161"/>
                </a:solidFill>
                <a:latin typeface="Proxima Nova"/>
                <a:ea typeface="Proxima Nova"/>
                <a:cs typeface="Proxima Nova"/>
                <a:sym typeface="Proxima Nova"/>
              </a:rPr>
              <a:t>con repetición</a:t>
            </a:r>
            <a:r>
              <a:rPr b="0" i="0" lang="en" sz="1800" u="none" cap="none" strike="noStrike">
                <a:solidFill>
                  <a:srgbClr val="616161"/>
                </a:solidFill>
                <a:latin typeface="Proxima Nova"/>
                <a:ea typeface="Proxima Nova"/>
                <a:cs typeface="Proxima Nova"/>
                <a:sym typeface="Proxima Nova"/>
              </a:rPr>
              <a:t>, en las combinaciones:</a:t>
            </a:r>
            <a:endParaRPr b="0" i="0" sz="1200" u="none" cap="none" strike="noStrike">
              <a:solidFill>
                <a:srgbClr val="202124"/>
              </a:solidFill>
              <a:highlight>
                <a:srgbClr val="FFFFFF"/>
              </a:highlight>
              <a:latin typeface="Arial"/>
              <a:ea typeface="Arial"/>
              <a:cs typeface="Arial"/>
              <a:sym typeface="Arial"/>
            </a:endParaRPr>
          </a:p>
          <a:p>
            <a:pPr indent="-342900" lvl="0" marL="457200" marR="0" rtl="0" algn="l">
              <a:lnSpc>
                <a:spcPct val="115000"/>
              </a:lnSpc>
              <a:spcBef>
                <a:spcPts val="160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Los elementos </a:t>
            </a:r>
            <a:r>
              <a:rPr b="1" i="0" lang="en" sz="1800" u="none" cap="none" strike="noStrike">
                <a:solidFill>
                  <a:srgbClr val="616161"/>
                </a:solidFill>
                <a:latin typeface="Proxima Nova"/>
                <a:ea typeface="Proxima Nova"/>
                <a:cs typeface="Proxima Nova"/>
                <a:sym typeface="Proxima Nova"/>
              </a:rPr>
              <a:t>se pueden repetir</a:t>
            </a:r>
            <a:endParaRPr b="1" i="0" sz="1800" u="none" cap="none" strike="noStrike">
              <a:solidFill>
                <a:srgbClr val="616161"/>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rgbClr val="616161"/>
              </a:buClr>
              <a:buSzPts val="1800"/>
              <a:buFont typeface="Proxima Nova"/>
              <a:buChar char="●"/>
            </a:pPr>
            <a:r>
              <a:rPr b="1" i="0" lang="en" sz="1800" u="none" cap="none" strike="noStrike">
                <a:solidFill>
                  <a:srgbClr val="616161"/>
                </a:solidFill>
                <a:latin typeface="Proxima Nova"/>
                <a:ea typeface="Proxima Nova"/>
                <a:cs typeface="Proxima Nova"/>
                <a:sym typeface="Proxima Nova"/>
              </a:rPr>
              <a:t>Importa el orden</a:t>
            </a:r>
            <a:endParaRPr b="1" i="0" sz="1200" u="none" cap="none" strike="noStrike">
              <a:solidFill>
                <a:srgbClr val="202124"/>
              </a:solidFill>
              <a:highlight>
                <a:srgbClr val="FFFFFF"/>
              </a:highlight>
              <a:latin typeface="Arial"/>
              <a:ea typeface="Arial"/>
              <a:cs typeface="Arial"/>
              <a:sym typeface="Arial"/>
            </a:endParaRPr>
          </a:p>
        </p:txBody>
      </p:sp>
      <p:sp>
        <p:nvSpPr>
          <p:cNvPr id="198" name="Google Shape;198;p1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Permutación con repetición</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nvSpPr>
        <p:spPr>
          <a:xfrm>
            <a:off x="254524" y="1019111"/>
            <a:ext cx="8201320" cy="956129"/>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Ejemplo: </a:t>
            </a:r>
            <a:r>
              <a:rPr b="0" i="0" lang="en" sz="1600" u="none" cap="none" strike="noStrike">
                <a:solidFill>
                  <a:srgbClr val="616161"/>
                </a:solidFill>
                <a:latin typeface="Proxima Nova"/>
                <a:ea typeface="Proxima Nova"/>
                <a:cs typeface="Proxima Nova"/>
                <a:sym typeface="Proxima Nova"/>
              </a:rPr>
              <a:t>¿Cuántos </a:t>
            </a:r>
            <a:r>
              <a:rPr b="1" i="0" lang="en" sz="1600" u="none" cap="none" strike="noStrike">
                <a:solidFill>
                  <a:srgbClr val="616161"/>
                </a:solidFill>
                <a:latin typeface="Proxima Nova"/>
                <a:ea typeface="Proxima Nova"/>
                <a:cs typeface="Proxima Nova"/>
                <a:sym typeface="Proxima Nova"/>
              </a:rPr>
              <a:t>números de 3 cifras </a:t>
            </a:r>
            <a:r>
              <a:rPr b="0" i="0" lang="en" sz="1600" u="none" cap="none" strike="noStrike">
                <a:solidFill>
                  <a:srgbClr val="616161"/>
                </a:solidFill>
                <a:latin typeface="Proxima Nova"/>
                <a:ea typeface="Proxima Nova"/>
                <a:cs typeface="Proxima Nova"/>
                <a:sym typeface="Proxima Nova"/>
              </a:rPr>
              <a:t>se pueden formar de manera que </a:t>
            </a:r>
            <a:r>
              <a:rPr b="1" i="0" lang="en" sz="1600" u="none" cap="none" strike="noStrike">
                <a:solidFill>
                  <a:srgbClr val="616161"/>
                </a:solidFill>
                <a:latin typeface="Proxima Nova"/>
                <a:ea typeface="Proxima Nova"/>
                <a:cs typeface="Proxima Nova"/>
                <a:sym typeface="Proxima Nova"/>
              </a:rPr>
              <a:t>todos los dígitos que los forman sean pares?</a:t>
            </a:r>
            <a:endParaRPr b="1" i="0" sz="1600" u="none" cap="none" strike="noStrike">
              <a:solidFill>
                <a:srgbClr val="616161"/>
              </a:solidFill>
              <a:latin typeface="Proxima Nova"/>
              <a:ea typeface="Proxima Nova"/>
              <a:cs typeface="Proxima Nova"/>
              <a:sym typeface="Proxima Nova"/>
            </a:endParaRPr>
          </a:p>
        </p:txBody>
      </p:sp>
      <p:sp>
        <p:nvSpPr>
          <p:cNvPr id="204" name="Google Shape;204;p1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85738"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Permutación con repetición</a:t>
            </a:r>
            <a:endParaRPr b="1" i="0" sz="3600" u="none" cap="none" strike="noStrike">
              <a:solidFill>
                <a:srgbClr val="FFFFFF"/>
              </a:solidFill>
              <a:latin typeface="Helvetica Neue"/>
              <a:ea typeface="Helvetica Neue"/>
              <a:cs typeface="Helvetica Neue"/>
              <a:sym typeface="Helvetica Neue"/>
            </a:endParaRPr>
          </a:p>
        </p:txBody>
      </p:sp>
      <p:sp>
        <p:nvSpPr>
          <p:cNvPr id="205" name="Google Shape;205;p15"/>
          <p:cNvSpPr txBox="1"/>
          <p:nvPr/>
        </p:nvSpPr>
        <p:spPr>
          <a:xfrm>
            <a:off x="254524" y="2954038"/>
            <a:ext cx="8201320"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Ejemplo 2:</a:t>
            </a:r>
            <a:r>
              <a:rPr b="0" i="0" lang="en" sz="1600" u="none" cap="none" strike="noStrike">
                <a:solidFill>
                  <a:srgbClr val="616161"/>
                </a:solidFill>
                <a:latin typeface="Proxima Nova"/>
                <a:ea typeface="Proxima Nova"/>
                <a:cs typeface="Proxima Nova"/>
                <a:sym typeface="Proxima Nova"/>
              </a:rPr>
              <a:t> ¿Cuántos de los números de 3 cifras anteriores </a:t>
            </a:r>
            <a:r>
              <a:rPr b="1" i="0" lang="en" sz="1600" u="none" cap="none" strike="noStrike">
                <a:solidFill>
                  <a:srgbClr val="616161"/>
                </a:solidFill>
                <a:latin typeface="Proxima Nova"/>
                <a:ea typeface="Proxima Nova"/>
                <a:cs typeface="Proxima Nova"/>
                <a:sym typeface="Proxima Nova"/>
              </a:rPr>
              <a:t>no empiezan con 0</a:t>
            </a:r>
            <a:r>
              <a:rPr b="0" i="0" lang="en" sz="1600" u="none" cap="none" strike="noStrike">
                <a:solidFill>
                  <a:srgbClr val="616161"/>
                </a:solidFill>
                <a:latin typeface="Proxima Nova"/>
                <a:ea typeface="Proxima Nova"/>
                <a:cs typeface="Proxima Nova"/>
                <a:sym typeface="Proxima Nova"/>
              </a:rPr>
              <a:t>? </a:t>
            </a:r>
            <a:endParaRPr b="0" i="0" sz="1600" u="none" cap="none" strike="noStrike">
              <a:solidFill>
                <a:srgbClr val="616161"/>
              </a:solidFill>
              <a:latin typeface="Proxima Nova"/>
              <a:ea typeface="Proxima Nova"/>
              <a:cs typeface="Proxima Nova"/>
              <a:sym typeface="Proxima Nova"/>
            </a:endParaRPr>
          </a:p>
        </p:txBody>
      </p:sp>
      <p:sp>
        <p:nvSpPr>
          <p:cNvPr id="206" name="Google Shape;206;p15"/>
          <p:cNvSpPr txBox="1"/>
          <p:nvPr/>
        </p:nvSpPr>
        <p:spPr>
          <a:xfrm>
            <a:off x="254524" y="1735777"/>
            <a:ext cx="8201320" cy="1239283"/>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Solución:</a:t>
            </a:r>
            <a:r>
              <a:rPr b="0" i="0" lang="en" sz="1600" u="none" cap="none" strike="noStrike">
                <a:solidFill>
                  <a:srgbClr val="616161"/>
                </a:solidFill>
                <a:latin typeface="Proxima Nova"/>
                <a:ea typeface="Proxima Nova"/>
                <a:cs typeface="Proxima Nova"/>
                <a:sym typeface="Proxima Nova"/>
              </a:rPr>
              <a:t> Como los tres dígitos que forman el número deben ser pares, tenemos cinco opciones para cada uno de ellos (0,2,4,6,8). Vamos a poder formar 5 x 5 x 5= 5</a:t>
            </a:r>
            <a:r>
              <a:rPr b="0" baseline="30000" i="0" lang="en" sz="1600" u="none" cap="none" strike="noStrike">
                <a:solidFill>
                  <a:srgbClr val="616161"/>
                </a:solidFill>
                <a:latin typeface="Proxima Nova"/>
                <a:ea typeface="Proxima Nova"/>
                <a:cs typeface="Proxima Nova"/>
                <a:sym typeface="Proxima Nova"/>
              </a:rPr>
              <a:t>3</a:t>
            </a:r>
            <a:r>
              <a:rPr b="0" i="0" lang="en" sz="1600" u="none" cap="none" strike="noStrike">
                <a:solidFill>
                  <a:srgbClr val="616161"/>
                </a:solidFill>
                <a:latin typeface="Proxima Nova"/>
                <a:ea typeface="Proxima Nova"/>
                <a:cs typeface="Proxima Nova"/>
                <a:sym typeface="Proxima Nova"/>
              </a:rPr>
              <a:t> =125 números distintos.</a:t>
            </a:r>
            <a:endParaRPr b="0" i="0" sz="1600" u="none" cap="none" strike="noStrike">
              <a:solidFill>
                <a:srgbClr val="616161"/>
              </a:solidFill>
              <a:latin typeface="Proxima Nova"/>
              <a:ea typeface="Proxima Nova"/>
              <a:cs typeface="Proxima Nova"/>
              <a:sym typeface="Proxima Nova"/>
            </a:endParaRPr>
          </a:p>
        </p:txBody>
      </p:sp>
      <p:sp>
        <p:nvSpPr>
          <p:cNvPr id="207" name="Google Shape;207;p15"/>
          <p:cNvSpPr txBox="1"/>
          <p:nvPr/>
        </p:nvSpPr>
        <p:spPr>
          <a:xfrm>
            <a:off x="254524" y="3364104"/>
            <a:ext cx="8201320" cy="144446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160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Solución: </a:t>
            </a:r>
            <a:r>
              <a:rPr b="0" i="0" lang="en" sz="1600" u="none" cap="none" strike="noStrike">
                <a:solidFill>
                  <a:srgbClr val="616161"/>
                </a:solidFill>
                <a:latin typeface="Proxima Nova"/>
                <a:ea typeface="Proxima Nova"/>
                <a:cs typeface="Proxima Nova"/>
                <a:sym typeface="Proxima Nova"/>
              </a:rPr>
              <a:t>Ahora que no pueden empezar con 0, tenemos cuatro opciones para el primer dígito (2,4,6,8) y cinco para los dos restantes. Vamos a poder formar 4 x 5 x 5=100 números distintos.</a:t>
            </a:r>
            <a:endParaRPr b="0" i="0" sz="1600" u="none" cap="none" strike="noStrike">
              <a:solidFill>
                <a:srgbClr val="616161"/>
              </a:solidFill>
              <a:latin typeface="Proxima Nova"/>
              <a:ea typeface="Proxima Nova"/>
              <a:cs typeface="Proxima Nova"/>
              <a:sym typeface="Proxima Nov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1000"/>
                                        <p:tgtEl>
                                          <p:spTgt spid="2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animEffect filter="fade" transition="in">
                                      <p:cBhvr>
                                        <p:cTn dur="1000"/>
                                        <p:tgtEl>
                                          <p:spTgt spid="20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6"/>
          <p:cNvSpPr txBox="1"/>
          <p:nvPr/>
        </p:nvSpPr>
        <p:spPr>
          <a:xfrm>
            <a:off x="283579" y="933674"/>
            <a:ext cx="8223813" cy="2658390"/>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700"/>
              <a:buFont typeface="Arial"/>
              <a:buNone/>
            </a:pPr>
            <a:r>
              <a:rPr b="0" i="0" lang="en" sz="1700" u="none" cap="none" strike="noStrike">
                <a:solidFill>
                  <a:srgbClr val="616161"/>
                </a:solidFill>
                <a:latin typeface="Proxima Nova"/>
                <a:ea typeface="Proxima Nova"/>
                <a:cs typeface="Proxima Nova"/>
                <a:sym typeface="Proxima Nova"/>
              </a:rPr>
              <a:t>Son permutaciones en las que ordenamos los elementos </a:t>
            </a:r>
            <a:r>
              <a:rPr b="1" i="0" lang="en" sz="1700" u="none" cap="none" strike="noStrike">
                <a:solidFill>
                  <a:srgbClr val="616161"/>
                </a:solidFill>
                <a:latin typeface="Proxima Nova"/>
                <a:ea typeface="Proxima Nova"/>
                <a:cs typeface="Proxima Nova"/>
                <a:sym typeface="Proxima Nova"/>
              </a:rPr>
              <a:t>en círculos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600"/>
              </a:spcBef>
              <a:spcAft>
                <a:spcPts val="0"/>
              </a:spcAft>
              <a:buClr>
                <a:srgbClr val="000000"/>
              </a:buClr>
              <a:buSzPts val="1700"/>
              <a:buFont typeface="Arial"/>
              <a:buNone/>
            </a:pPr>
            <a:r>
              <a:rPr b="1" i="0" lang="en" sz="1700" u="none" cap="none" strike="noStrike">
                <a:solidFill>
                  <a:srgbClr val="616161"/>
                </a:solidFill>
                <a:latin typeface="Proxima Nova"/>
                <a:ea typeface="Proxima Nova"/>
                <a:cs typeface="Proxima Nova"/>
                <a:sym typeface="Proxima Nova"/>
              </a:rPr>
              <a:t>🡪 </a:t>
            </a:r>
            <a:r>
              <a:rPr b="0" i="0" lang="en" sz="1700" u="none" cap="none" strike="noStrike">
                <a:solidFill>
                  <a:srgbClr val="616161"/>
                </a:solidFill>
                <a:latin typeface="Proxima Nova"/>
                <a:ea typeface="Proxima Nova"/>
                <a:cs typeface="Proxima Nova"/>
                <a:sym typeface="Proxima Nova"/>
              </a:rPr>
              <a:t>Nos interesa el </a:t>
            </a:r>
            <a:r>
              <a:rPr b="1" i="0" lang="en" sz="1700" u="none" cap="none" strike="noStrike">
                <a:solidFill>
                  <a:srgbClr val="616161"/>
                </a:solidFill>
                <a:latin typeface="Proxima Nova"/>
                <a:ea typeface="Proxima Nova"/>
                <a:cs typeface="Proxima Nova"/>
                <a:sym typeface="Proxima Nova"/>
              </a:rPr>
              <a:t>orden relativo de los elementos</a:t>
            </a:r>
            <a:r>
              <a:rPr b="0" i="0" lang="en" sz="1700" u="none" cap="none" strike="noStrike">
                <a:solidFill>
                  <a:srgbClr val="616161"/>
                </a:solidFill>
                <a:latin typeface="Proxima Nova"/>
                <a:ea typeface="Proxima Nova"/>
                <a:cs typeface="Proxima Nova"/>
                <a:sym typeface="Proxima Nova"/>
              </a:rPr>
              <a:t> (quién está antes/después de quién) y </a:t>
            </a:r>
            <a:r>
              <a:rPr b="1" i="0" lang="en" sz="1700" u="sng" cap="none" strike="noStrike">
                <a:solidFill>
                  <a:srgbClr val="616161"/>
                </a:solidFill>
                <a:latin typeface="Proxima Nova"/>
                <a:ea typeface="Proxima Nova"/>
                <a:cs typeface="Proxima Nova"/>
                <a:sym typeface="Proxima Nova"/>
              </a:rPr>
              <a:t>no su ubicación</a:t>
            </a:r>
            <a:r>
              <a:rPr b="0" i="0" lang="en" sz="1700" u="none" cap="none" strike="noStrike">
                <a:solidFill>
                  <a:srgbClr val="616161"/>
                </a:solidFill>
                <a:latin typeface="Proxima Nova"/>
                <a:ea typeface="Proxima Nova"/>
                <a:cs typeface="Proxima Nova"/>
                <a:sym typeface="Proxima Nova"/>
              </a:rPr>
              <a:t> (las posiciones en el círculo no están indexadas).</a:t>
            </a:r>
            <a:endParaRPr b="0" i="0" sz="1700" u="none" cap="none" strike="noStrike">
              <a:solidFill>
                <a:srgbClr val="616161"/>
              </a:solidFill>
              <a:latin typeface="Proxima Nova"/>
              <a:ea typeface="Proxima Nova"/>
              <a:cs typeface="Proxima Nova"/>
              <a:sym typeface="Proxima Nova"/>
            </a:endParaRPr>
          </a:p>
          <a:p>
            <a:pPr indent="-342900" lvl="0" marL="457200" marR="0" rtl="0" algn="l">
              <a:lnSpc>
                <a:spcPct val="115000"/>
              </a:lnSpc>
              <a:spcBef>
                <a:spcPts val="160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Los elementos no se repiten</a:t>
            </a:r>
            <a:endParaRPr b="0" i="0" sz="1800" u="none" cap="none" strike="noStrike">
              <a:solidFill>
                <a:srgbClr val="616161"/>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Importa el orden relativo</a:t>
            </a:r>
            <a:endParaRPr b="0" i="0" sz="1800" u="none" cap="none" strike="noStrike">
              <a:solidFill>
                <a:srgbClr val="616161"/>
              </a:solidFill>
              <a:latin typeface="Proxima Nova"/>
              <a:ea typeface="Proxima Nova"/>
              <a:cs typeface="Proxima Nova"/>
              <a:sym typeface="Proxima Nova"/>
            </a:endParaRPr>
          </a:p>
          <a:p>
            <a:pPr indent="-342900" lvl="0" marL="457200" marR="0" rtl="0" algn="l">
              <a:lnSpc>
                <a:spcPct val="115000"/>
              </a:lnSpc>
              <a:spcBef>
                <a:spcPts val="0"/>
              </a:spcBef>
              <a:spcAft>
                <a:spcPts val="0"/>
              </a:spcAft>
              <a:buClr>
                <a:srgbClr val="616161"/>
              </a:buClr>
              <a:buSzPts val="1800"/>
              <a:buFont typeface="Proxima Nova"/>
              <a:buChar char="●"/>
            </a:pPr>
            <a:r>
              <a:rPr b="0" i="0" lang="en" sz="1800" u="none" cap="none" strike="noStrike">
                <a:solidFill>
                  <a:srgbClr val="616161"/>
                </a:solidFill>
                <a:latin typeface="Proxima Nova"/>
                <a:ea typeface="Proxima Nova"/>
                <a:cs typeface="Proxima Nova"/>
                <a:sym typeface="Proxima Nova"/>
              </a:rPr>
              <a:t>Los elementos se ordenan en círculo</a:t>
            </a:r>
            <a:endParaRPr b="0" i="0" sz="1800" u="none" cap="none" strike="noStrike">
              <a:solidFill>
                <a:srgbClr val="616161"/>
              </a:solidFill>
              <a:latin typeface="Proxima Nova"/>
              <a:ea typeface="Proxima Nova"/>
              <a:cs typeface="Proxima Nova"/>
              <a:sym typeface="Proxima Nova"/>
            </a:endParaRPr>
          </a:p>
        </p:txBody>
      </p:sp>
      <p:sp>
        <p:nvSpPr>
          <p:cNvPr id="213" name="Google Shape;213;p1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Permutación circular</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7"/>
          <p:cNvSpPr txBox="1"/>
          <p:nvPr/>
        </p:nvSpPr>
        <p:spPr>
          <a:xfrm>
            <a:off x="272005" y="1043903"/>
            <a:ext cx="8362709" cy="750945"/>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Ejemplo: </a:t>
            </a:r>
            <a:r>
              <a:rPr b="0" i="0" lang="en" sz="1600" u="none" cap="none" strike="noStrike">
                <a:solidFill>
                  <a:srgbClr val="616161"/>
                </a:solidFill>
                <a:latin typeface="Proxima Nova"/>
                <a:ea typeface="Proxima Nova"/>
                <a:cs typeface="Proxima Nova"/>
                <a:sym typeface="Proxima Nova"/>
              </a:rPr>
              <a:t>¿De cuántas formas se pueden sentar Paula, Juan, María y Carla alrededor de una mesa circular?</a:t>
            </a:r>
            <a:endParaRPr b="0" i="0" sz="1600" u="none" cap="none" strike="noStrike">
              <a:solidFill>
                <a:srgbClr val="616161"/>
              </a:solidFill>
              <a:latin typeface="Proxima Nova"/>
              <a:ea typeface="Proxima Nova"/>
              <a:cs typeface="Proxima Nova"/>
              <a:sym typeface="Proxima Nova"/>
            </a:endParaRPr>
          </a:p>
        </p:txBody>
      </p:sp>
      <p:sp>
        <p:nvSpPr>
          <p:cNvPr id="219" name="Google Shape;219;p17"/>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Permutación circular</a:t>
            </a:r>
            <a:endParaRPr b="1" i="0" sz="3600" u="none" cap="none" strike="noStrike">
              <a:solidFill>
                <a:srgbClr val="FFFFFF"/>
              </a:solidFill>
              <a:latin typeface="Helvetica Neue"/>
              <a:ea typeface="Helvetica Neue"/>
              <a:cs typeface="Helvetica Neue"/>
              <a:sym typeface="Helvetica Neue"/>
            </a:endParaRPr>
          </a:p>
        </p:txBody>
      </p:sp>
      <p:pic>
        <p:nvPicPr>
          <p:cNvPr id="220" name="Google Shape;220;p17"/>
          <p:cNvPicPr preferRelativeResize="0"/>
          <p:nvPr/>
        </p:nvPicPr>
        <p:blipFill rotWithShape="1">
          <a:blip r:embed="rId3">
            <a:alphaModFix/>
          </a:blip>
          <a:srcRect b="0" l="0" r="0" t="0"/>
          <a:stretch/>
        </p:blipFill>
        <p:spPr>
          <a:xfrm>
            <a:off x="152400" y="2909151"/>
            <a:ext cx="8839202" cy="1907472"/>
          </a:xfrm>
          <a:prstGeom prst="rect">
            <a:avLst/>
          </a:prstGeom>
          <a:noFill/>
          <a:ln>
            <a:noFill/>
          </a:ln>
        </p:spPr>
      </p:pic>
      <p:sp>
        <p:nvSpPr>
          <p:cNvPr id="221" name="Google Shape;221;p17"/>
          <p:cNvSpPr txBox="1"/>
          <p:nvPr/>
        </p:nvSpPr>
        <p:spPr>
          <a:xfrm>
            <a:off x="272005" y="1565752"/>
            <a:ext cx="8362709" cy="144446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1600"/>
              </a:spcAft>
              <a:buClr>
                <a:srgbClr val="000000"/>
              </a:buClr>
              <a:buSzPts val="1600"/>
              <a:buFont typeface="Arial"/>
              <a:buNone/>
            </a:pPr>
            <a:r>
              <a:rPr b="1" i="0" lang="en" sz="1600" u="none" cap="none" strike="noStrike">
                <a:solidFill>
                  <a:schemeClr val="accent5"/>
                </a:solidFill>
                <a:latin typeface="Proxima Nova"/>
                <a:ea typeface="Proxima Nova"/>
                <a:cs typeface="Proxima Nova"/>
                <a:sym typeface="Proxima Nova"/>
              </a:rPr>
              <a:t>Importante!</a:t>
            </a:r>
            <a:r>
              <a:rPr b="1" i="0" lang="en" sz="1600" u="none" cap="none" strike="noStrike">
                <a:solidFill>
                  <a:srgbClr val="616161"/>
                </a:solidFill>
                <a:latin typeface="Proxima Nova"/>
                <a:ea typeface="Proxima Nova"/>
                <a:cs typeface="Proxima Nova"/>
                <a:sym typeface="Proxima Nova"/>
              </a:rPr>
              <a:t> </a:t>
            </a:r>
            <a:r>
              <a:rPr b="0" i="0" lang="en" sz="1600" u="none" cap="none" strike="noStrike">
                <a:solidFill>
                  <a:srgbClr val="616161"/>
                </a:solidFill>
                <a:latin typeface="Proxima Nova"/>
                <a:ea typeface="Proxima Nova"/>
                <a:cs typeface="Proxima Nova"/>
                <a:sym typeface="Proxima Nova"/>
              </a:rPr>
              <a:t>Las siguientes permutaciones son todas iguales entre sí, porque la posición relativa de los amigos es la misma para todos los casos, así que hay que considerar solamente una de estas por caso!</a:t>
            </a:r>
            <a:endParaRPr b="0" i="0" sz="1600" u="none" cap="none" strike="noStrike">
              <a:solidFill>
                <a:srgbClr val="616161"/>
              </a:solidFill>
              <a:latin typeface="Proxima Nova"/>
              <a:ea typeface="Proxima Nova"/>
              <a:cs typeface="Proxima Nova"/>
              <a:sym typeface="Proxima Nov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1000"/>
                                        <p:tgtEl>
                                          <p:spTgt spid="2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8"/>
          <p:cNvSpPr txBox="1"/>
          <p:nvPr/>
        </p:nvSpPr>
        <p:spPr>
          <a:xfrm>
            <a:off x="208269" y="1078023"/>
            <a:ext cx="8229675" cy="298745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Solución: </a:t>
            </a:r>
            <a:r>
              <a:rPr b="0" i="0" lang="en" sz="1600" u="none" cap="none" strike="noStrike">
                <a:solidFill>
                  <a:srgbClr val="616161"/>
                </a:solidFill>
                <a:latin typeface="Proxima Nova"/>
                <a:ea typeface="Proxima Nova"/>
                <a:cs typeface="Proxima Nova"/>
                <a:sym typeface="Proxima Nova"/>
              </a:rPr>
              <a:t>Lo que hacemos es “fijar” uno de los amigos, y contar de cuántas formas se pueden ordenar los otros tres amigos restantes. </a:t>
            </a:r>
            <a:endParaRPr b="0" i="0" sz="1600" u="none" cap="none" strike="noStrike">
              <a:solidFill>
                <a:srgbClr val="616161"/>
              </a:solidFill>
              <a:latin typeface="Proxima Nova"/>
              <a:ea typeface="Proxima Nova"/>
              <a:cs typeface="Proxima Nova"/>
              <a:sym typeface="Proxima Nova"/>
            </a:endParaRPr>
          </a:p>
          <a:p>
            <a:pPr indent="0" lvl="0" marL="0" marR="0" rtl="0" algn="l">
              <a:lnSpc>
                <a:spcPct val="115000"/>
              </a:lnSpc>
              <a:spcBef>
                <a:spcPts val="1600"/>
              </a:spcBef>
              <a:spcAft>
                <a:spcPts val="0"/>
              </a:spcAft>
              <a:buClr>
                <a:srgbClr val="000000"/>
              </a:buClr>
              <a:buSzPts val="1600"/>
              <a:buFont typeface="Arial"/>
              <a:buNone/>
            </a:pPr>
            <a:r>
              <a:rPr b="0" i="0" lang="en" sz="1600" u="none" cap="none" strike="noStrike">
                <a:solidFill>
                  <a:srgbClr val="616161"/>
                </a:solidFill>
                <a:latin typeface="Proxima Nova"/>
                <a:ea typeface="Proxima Nova"/>
                <a:cs typeface="Proxima Nova"/>
                <a:sym typeface="Proxima Nova"/>
              </a:rPr>
              <a:t>Por ejemplo: Si “fijamos” a Carla, nos queda ordenar a Juan, Paula y María en los 3 lugares restantes.</a:t>
            </a:r>
            <a:endParaRPr b="0" i="0" sz="1600" u="none" cap="none" strike="noStrike">
              <a:solidFill>
                <a:srgbClr val="616161"/>
              </a:solidFill>
              <a:latin typeface="Proxima Nova"/>
              <a:ea typeface="Proxima Nova"/>
              <a:cs typeface="Proxima Nova"/>
              <a:sym typeface="Proxima Nova"/>
            </a:endParaRPr>
          </a:p>
          <a:p>
            <a:pPr indent="-330200" lvl="0" marL="457200" marR="0" rtl="0" algn="l">
              <a:lnSpc>
                <a:spcPct val="115000"/>
              </a:lnSpc>
              <a:spcBef>
                <a:spcPts val="1600"/>
              </a:spcBef>
              <a:spcAft>
                <a:spcPts val="0"/>
              </a:spcAft>
              <a:buClr>
                <a:srgbClr val="616161"/>
              </a:buClr>
              <a:buSzPts val="1600"/>
              <a:buFont typeface="Proxima Nova"/>
              <a:buChar char="●"/>
            </a:pPr>
            <a:r>
              <a:rPr b="0" i="0" lang="en" sz="1600" u="none" cap="none" strike="noStrike">
                <a:solidFill>
                  <a:srgbClr val="616161"/>
                </a:solidFill>
                <a:latin typeface="Proxima Nova"/>
                <a:ea typeface="Proxima Nova"/>
                <a:cs typeface="Proxima Nova"/>
                <a:sym typeface="Proxima Nova"/>
              </a:rPr>
              <a:t>Los elementos no se repiten</a:t>
            </a:r>
            <a:endParaRPr b="0" i="0" sz="1600" u="none" cap="none" strike="noStrike">
              <a:solidFill>
                <a:srgbClr val="616161"/>
              </a:solidFill>
              <a:latin typeface="Proxima Nova"/>
              <a:ea typeface="Proxima Nova"/>
              <a:cs typeface="Proxima Nova"/>
              <a:sym typeface="Proxima Nova"/>
            </a:endParaRPr>
          </a:p>
          <a:p>
            <a:pPr indent="-330200" lvl="0" marL="457200" marR="0" rtl="0" algn="l">
              <a:lnSpc>
                <a:spcPct val="115000"/>
              </a:lnSpc>
              <a:spcBef>
                <a:spcPts val="0"/>
              </a:spcBef>
              <a:spcAft>
                <a:spcPts val="0"/>
              </a:spcAft>
              <a:buClr>
                <a:srgbClr val="616161"/>
              </a:buClr>
              <a:buSzPts val="1600"/>
              <a:buFont typeface="Proxima Nova"/>
              <a:buChar char="●"/>
            </a:pPr>
            <a:r>
              <a:rPr b="0" i="0" lang="en" sz="1600" u="none" cap="none" strike="noStrike">
                <a:solidFill>
                  <a:srgbClr val="616161"/>
                </a:solidFill>
                <a:latin typeface="Proxima Nova"/>
                <a:ea typeface="Proxima Nova"/>
                <a:cs typeface="Proxima Nova"/>
                <a:sym typeface="Proxima Nova"/>
              </a:rPr>
              <a:t>Ahora </a:t>
            </a:r>
            <a:r>
              <a:rPr b="1" i="0" lang="en" sz="1600" u="none" cap="none" strike="noStrike">
                <a:solidFill>
                  <a:srgbClr val="616161"/>
                </a:solidFill>
                <a:latin typeface="Proxima Nova"/>
                <a:ea typeface="Proxima Nova"/>
                <a:cs typeface="Proxima Nova"/>
                <a:sym typeface="Proxima Nova"/>
              </a:rPr>
              <a:t>sí</a:t>
            </a:r>
            <a:r>
              <a:rPr b="0" i="0" lang="en" sz="1600" u="none" cap="none" strike="noStrike">
                <a:solidFill>
                  <a:srgbClr val="616161"/>
                </a:solidFill>
                <a:latin typeface="Proxima Nova"/>
                <a:ea typeface="Proxima Nova"/>
                <a:cs typeface="Proxima Nova"/>
                <a:sym typeface="Proxima Nova"/>
              </a:rPr>
              <a:t> nos importa el orden</a:t>
            </a:r>
            <a:endParaRPr b="0" i="0" sz="1600" u="none" cap="none" strike="noStrike">
              <a:solidFill>
                <a:srgbClr val="616161"/>
              </a:solidFill>
              <a:latin typeface="Proxima Nova"/>
              <a:ea typeface="Proxima Nova"/>
              <a:cs typeface="Proxima Nova"/>
              <a:sym typeface="Proxima Nova"/>
            </a:endParaRPr>
          </a:p>
          <a:p>
            <a:pPr indent="0" lvl="0" marL="0" marR="0" rtl="0" algn="l">
              <a:lnSpc>
                <a:spcPct val="115000"/>
              </a:lnSpc>
              <a:spcBef>
                <a:spcPts val="1600"/>
              </a:spcBef>
              <a:spcAft>
                <a:spcPts val="1600"/>
              </a:spcAft>
              <a:buClr>
                <a:srgbClr val="000000"/>
              </a:buClr>
              <a:buSzPts val="1600"/>
              <a:buFont typeface="Arial"/>
              <a:buNone/>
            </a:pPr>
            <a:r>
              <a:rPr b="0" i="0" lang="en" sz="1600" u="none" cap="none" strike="noStrike">
                <a:solidFill>
                  <a:srgbClr val="616161"/>
                </a:solidFill>
                <a:latin typeface="Proxima Nova"/>
                <a:ea typeface="Proxima Nova"/>
                <a:cs typeface="Proxima Nova"/>
                <a:sym typeface="Proxima Nova"/>
              </a:rPr>
              <a:t>Nos quedan 3x2x1 = 3! Formas distintas de ordenarlos.</a:t>
            </a:r>
            <a:endParaRPr b="0" i="0" sz="1600" u="none" cap="none" strike="noStrike">
              <a:solidFill>
                <a:srgbClr val="616161"/>
              </a:solidFill>
              <a:latin typeface="Proxima Nova"/>
              <a:ea typeface="Proxima Nova"/>
              <a:cs typeface="Proxima Nova"/>
              <a:sym typeface="Proxima Nova"/>
            </a:endParaRPr>
          </a:p>
        </p:txBody>
      </p:sp>
      <p:sp>
        <p:nvSpPr>
          <p:cNvPr id="227" name="Google Shape;227;p18"/>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Permutación circular</a:t>
            </a:r>
            <a:endParaRPr b="1" i="0" sz="3600" u="none" cap="none" strike="noStrike">
              <a:solidFill>
                <a:srgbClr val="FFFFFF"/>
              </a:solidFill>
              <a:latin typeface="Helvetica Neue"/>
              <a:ea typeface="Helvetica Neue"/>
              <a:cs typeface="Helvetica Neue"/>
              <a:sym typeface="Helvetica Neue"/>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9"/>
          <p:cNvSpPr txBox="1"/>
          <p:nvPr/>
        </p:nvSpPr>
        <p:spPr>
          <a:xfrm>
            <a:off x="277792" y="1029824"/>
            <a:ext cx="8294700" cy="1622700"/>
          </a:xfrm>
          <a:prstGeom prst="rect">
            <a:avLst/>
          </a:prstGeom>
          <a:noFill/>
          <a:ln>
            <a:noFill/>
          </a:ln>
        </p:spPr>
        <p:txBody>
          <a:bodyPr anchorCtr="0" anchor="ctr" bIns="91425" lIns="91425" spcFirstLastPara="1" rIns="91425" wrap="square" tIns="91425">
            <a:spAutoFit/>
          </a:bodyPr>
          <a:lstStyle/>
          <a:p>
            <a:pPr indent="-285750" lvl="0" marL="285750" marR="0" rtl="0" algn="l">
              <a:lnSpc>
                <a:spcPct val="115000"/>
              </a:lnSpc>
              <a:spcBef>
                <a:spcPts val="1600"/>
              </a:spcBef>
              <a:spcAft>
                <a:spcPts val="0"/>
              </a:spcAft>
              <a:buClr>
                <a:srgbClr val="000000"/>
              </a:buClr>
              <a:buSzPts val="1800"/>
              <a:buFont typeface="Arial"/>
              <a:buChar char="•"/>
            </a:pPr>
            <a:r>
              <a:rPr b="0" i="0" lang="en" sz="1800" u="none" cap="none" strike="noStrike">
                <a:solidFill>
                  <a:srgbClr val="616161"/>
                </a:solidFill>
                <a:latin typeface="Proxima Nova"/>
                <a:ea typeface="Proxima Nova"/>
                <a:cs typeface="Proxima Nova"/>
                <a:sym typeface="Proxima Nova"/>
              </a:rPr>
              <a:t>Una </a:t>
            </a:r>
            <a:r>
              <a:rPr b="0" i="0" lang="en" sz="1800" u="sng" cap="none" strike="noStrike">
                <a:solidFill>
                  <a:srgbClr val="616161"/>
                </a:solidFill>
                <a:latin typeface="Proxima Nova"/>
                <a:ea typeface="Proxima Nova"/>
                <a:cs typeface="Proxima Nova"/>
                <a:sym typeface="Proxima Nova"/>
              </a:rPr>
              <a:t>combinación</a:t>
            </a:r>
            <a:r>
              <a:rPr b="0" i="0" lang="en" sz="1800" u="none" cap="none" strike="noStrike">
                <a:solidFill>
                  <a:srgbClr val="616161"/>
                </a:solidFill>
                <a:latin typeface="Proxima Nova"/>
                <a:ea typeface="Proxima Nova"/>
                <a:cs typeface="Proxima Nova"/>
                <a:sym typeface="Proxima Nova"/>
              </a:rPr>
              <a:t> es un </a:t>
            </a:r>
            <a:r>
              <a:rPr b="1" i="0" lang="en" sz="1800" u="none" cap="none" strike="noStrike">
                <a:solidFill>
                  <a:srgbClr val="616161"/>
                </a:solidFill>
                <a:latin typeface="Proxima Nova"/>
                <a:ea typeface="Proxima Nova"/>
                <a:cs typeface="Proxima Nova"/>
                <a:sym typeface="Proxima Nova"/>
              </a:rPr>
              <a:t>subconjunto</a:t>
            </a:r>
            <a:r>
              <a:rPr b="0" i="0" lang="en" sz="1800" u="none" cap="none" strike="noStrike">
                <a:solidFill>
                  <a:srgbClr val="616161"/>
                </a:solidFill>
                <a:latin typeface="Proxima Nova"/>
                <a:ea typeface="Proxima Nova"/>
                <a:cs typeface="Proxima Nova"/>
                <a:sym typeface="Proxima Nova"/>
              </a:rPr>
              <a:t> de elementos tomados de otro conjunto, en donde </a:t>
            </a:r>
            <a:r>
              <a:rPr b="1" i="0" lang="en" sz="1800" u="none" cap="none" strike="noStrike">
                <a:solidFill>
                  <a:srgbClr val="616161"/>
                </a:solidFill>
                <a:latin typeface="Proxima Nova"/>
                <a:ea typeface="Proxima Nova"/>
                <a:cs typeface="Proxima Nova"/>
                <a:sym typeface="Proxima Nova"/>
              </a:rPr>
              <a:t>el orden de sus elementos no importa</a:t>
            </a:r>
            <a:r>
              <a:rPr b="0" i="0" lang="en" sz="1800" u="none" cap="none" strike="noStrike">
                <a:solidFill>
                  <a:srgbClr val="616161"/>
                </a:solidFill>
                <a:latin typeface="Proxima Nova"/>
                <a:ea typeface="Proxima Nova"/>
                <a:cs typeface="Proxima Nova"/>
                <a:sym typeface="Proxima Nova"/>
              </a:rPr>
              <a:t>. </a:t>
            </a:r>
            <a:endParaRPr b="0" i="0" sz="1400" u="none" cap="none" strike="noStrike">
              <a:solidFill>
                <a:srgbClr val="000000"/>
              </a:solidFill>
              <a:latin typeface="Arial"/>
              <a:ea typeface="Arial"/>
              <a:cs typeface="Arial"/>
              <a:sym typeface="Arial"/>
            </a:endParaRPr>
          </a:p>
          <a:p>
            <a:pPr indent="-285750" lvl="0" marL="285750" marR="0" rtl="0" algn="l">
              <a:lnSpc>
                <a:spcPct val="115000"/>
              </a:lnSpc>
              <a:spcBef>
                <a:spcPts val="1600"/>
              </a:spcBef>
              <a:spcAft>
                <a:spcPts val="0"/>
              </a:spcAft>
              <a:buClr>
                <a:srgbClr val="000000"/>
              </a:buClr>
              <a:buSzPts val="1800"/>
              <a:buFont typeface="Arial"/>
              <a:buChar char="•"/>
            </a:pPr>
            <a:r>
              <a:rPr b="0" i="0" lang="en" sz="1800" u="none" cap="none" strike="noStrike">
                <a:solidFill>
                  <a:srgbClr val="616161"/>
                </a:solidFill>
                <a:latin typeface="Proxima Nova"/>
                <a:ea typeface="Proxima Nova"/>
                <a:cs typeface="Proxima Nova"/>
                <a:sym typeface="Proxima Nova"/>
              </a:rPr>
              <a:t>El número de subconjuntos de k elementos tomados a partir de un conjunto con n elementos se calcula usando </a:t>
            </a:r>
            <a:r>
              <a:rPr b="1" i="0" lang="en" sz="1800" u="none" cap="none" strike="noStrike">
                <a:solidFill>
                  <a:srgbClr val="616161"/>
                </a:solidFill>
                <a:latin typeface="Proxima Nova"/>
                <a:ea typeface="Proxima Nova"/>
                <a:cs typeface="Proxima Nova"/>
                <a:sym typeface="Proxima Nova"/>
              </a:rPr>
              <a:t>el </a:t>
            </a:r>
            <a:r>
              <a:rPr b="1" i="0" lang="en" sz="1800" u="sng" cap="none" strike="noStrike">
                <a:solidFill>
                  <a:srgbClr val="616161"/>
                </a:solidFill>
                <a:latin typeface="Proxima Nova"/>
                <a:ea typeface="Proxima Nova"/>
                <a:cs typeface="Proxima Nova"/>
                <a:sym typeface="Proxima Nova"/>
              </a:rPr>
              <a:t>número combinatorio de n en k</a:t>
            </a:r>
            <a:r>
              <a:rPr b="1" i="0" lang="en" sz="1800" u="none" cap="none" strike="noStrike">
                <a:solidFill>
                  <a:srgbClr val="616161"/>
                </a:solidFill>
                <a:latin typeface="Proxima Nova"/>
                <a:ea typeface="Proxima Nova"/>
                <a:cs typeface="Proxima Nova"/>
                <a:sym typeface="Proxima Nova"/>
              </a:rPr>
              <a:t>:</a:t>
            </a:r>
            <a:endParaRPr b="0" i="0" sz="1800" u="none" cap="none" strike="noStrike">
              <a:solidFill>
                <a:srgbClr val="616161"/>
              </a:solidFill>
              <a:latin typeface="Proxima Nova"/>
              <a:ea typeface="Proxima Nova"/>
              <a:cs typeface="Proxima Nova"/>
              <a:sym typeface="Proxima Nova"/>
            </a:endParaRPr>
          </a:p>
        </p:txBody>
      </p:sp>
      <p:sp>
        <p:nvSpPr>
          <p:cNvPr id="233" name="Google Shape;233;p19"/>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Combinaciones</a:t>
            </a:r>
            <a:endParaRPr b="1" i="0" sz="3600" u="none" cap="none" strike="noStrike">
              <a:solidFill>
                <a:srgbClr val="FFFFFF"/>
              </a:solidFill>
              <a:latin typeface="Helvetica Neue"/>
              <a:ea typeface="Helvetica Neue"/>
              <a:cs typeface="Helvetica Neue"/>
              <a:sym typeface="Helvetica Neue"/>
            </a:endParaRPr>
          </a:p>
        </p:txBody>
      </p:sp>
      <p:pic>
        <p:nvPicPr>
          <p:cNvPr id="234" name="Google Shape;234;p19"/>
          <p:cNvPicPr preferRelativeResize="0"/>
          <p:nvPr/>
        </p:nvPicPr>
        <p:blipFill rotWithShape="1">
          <a:blip r:embed="rId3">
            <a:alphaModFix/>
          </a:blip>
          <a:srcRect b="0" l="0" r="0" t="0"/>
          <a:stretch/>
        </p:blipFill>
        <p:spPr>
          <a:xfrm>
            <a:off x="3052099" y="2831320"/>
            <a:ext cx="3039800" cy="965016"/>
          </a:xfrm>
          <a:prstGeom prst="rect">
            <a:avLst/>
          </a:prstGeom>
          <a:noFill/>
          <a:ln>
            <a:noFill/>
          </a:ln>
        </p:spPr>
      </p:pic>
      <p:sp>
        <p:nvSpPr>
          <p:cNvPr id="235" name="Google Shape;235;p19"/>
          <p:cNvSpPr txBox="1"/>
          <p:nvPr/>
        </p:nvSpPr>
        <p:spPr>
          <a:xfrm>
            <a:off x="473600" y="4052450"/>
            <a:ext cx="8380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Tomo todas las permutaciones de n en k, pero quiero conjuntos, para los cuales no me importa el orden interno de los elementos. Por ende tengo que eliminar todos los casos repetidos, que son k! casos.</a:t>
            </a:r>
            <a:r>
              <a:rPr lang="en" sz="1800">
                <a:solidFill>
                  <a:schemeClr val="dk2"/>
                </a:solidFill>
              </a:rPr>
              <a:t> </a:t>
            </a:r>
            <a:endParaRPr sz="1800">
              <a:solidFill>
                <a:schemeClr val="dk2"/>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Combinaciones</a:t>
            </a:r>
            <a:endParaRPr b="1" i="0" sz="3600" u="none" cap="none" strike="noStrike">
              <a:solidFill>
                <a:srgbClr val="FFFFFF"/>
              </a:solidFill>
              <a:latin typeface="Helvetica Neue"/>
              <a:ea typeface="Helvetica Neue"/>
              <a:cs typeface="Helvetica Neue"/>
              <a:sym typeface="Helvetica Neue"/>
            </a:endParaRPr>
          </a:p>
        </p:txBody>
      </p:sp>
      <p:pic>
        <p:nvPicPr>
          <p:cNvPr id="241" name="Google Shape;241;p20"/>
          <p:cNvPicPr preferRelativeResize="0"/>
          <p:nvPr/>
        </p:nvPicPr>
        <p:blipFill rotWithShape="1">
          <a:blip r:embed="rId3">
            <a:alphaModFix/>
          </a:blip>
          <a:srcRect b="0" l="0" r="0" t="0"/>
          <a:stretch/>
        </p:blipFill>
        <p:spPr>
          <a:xfrm>
            <a:off x="493694" y="1337221"/>
            <a:ext cx="3039801" cy="965016"/>
          </a:xfrm>
          <a:prstGeom prst="rect">
            <a:avLst/>
          </a:prstGeom>
          <a:noFill/>
          <a:ln>
            <a:noFill/>
          </a:ln>
        </p:spPr>
      </p:pic>
      <p:pic>
        <p:nvPicPr>
          <p:cNvPr id="242" name="Google Shape;242;p20"/>
          <p:cNvPicPr preferRelativeResize="0"/>
          <p:nvPr/>
        </p:nvPicPr>
        <p:blipFill rotWithShape="1">
          <a:blip r:embed="rId4">
            <a:alphaModFix/>
          </a:blip>
          <a:srcRect b="0" l="0" r="0" t="27973"/>
          <a:stretch/>
        </p:blipFill>
        <p:spPr>
          <a:xfrm>
            <a:off x="5345083" y="2413319"/>
            <a:ext cx="3172114" cy="1707265"/>
          </a:xfrm>
          <a:prstGeom prst="rect">
            <a:avLst/>
          </a:prstGeom>
          <a:noFill/>
          <a:ln>
            <a:noFill/>
          </a:ln>
        </p:spPr>
      </p:pic>
      <p:pic>
        <p:nvPicPr>
          <p:cNvPr id="243" name="Google Shape;243;p20"/>
          <p:cNvPicPr preferRelativeResize="0"/>
          <p:nvPr/>
        </p:nvPicPr>
        <p:blipFill rotWithShape="1">
          <a:blip r:embed="rId4">
            <a:alphaModFix/>
          </a:blip>
          <a:srcRect b="76641" l="0" r="0" t="0"/>
          <a:stretch/>
        </p:blipFill>
        <p:spPr>
          <a:xfrm>
            <a:off x="493695" y="3851742"/>
            <a:ext cx="3638231" cy="635023"/>
          </a:xfrm>
          <a:prstGeom prst="rect">
            <a:avLst/>
          </a:prstGeom>
          <a:noFill/>
          <a:ln>
            <a:noFill/>
          </a:ln>
        </p:spPr>
      </p:pic>
      <p:sp>
        <p:nvSpPr>
          <p:cNvPr id="244" name="Google Shape;244;p20"/>
          <p:cNvSpPr txBox="1"/>
          <p:nvPr/>
        </p:nvSpPr>
        <p:spPr>
          <a:xfrm>
            <a:off x="295154" y="2652768"/>
            <a:ext cx="4531489" cy="102691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Supongamos que </a:t>
            </a:r>
            <a:r>
              <a:rPr b="1" i="0" lang="en" sz="1800" u="none" cap="none" strike="noStrike">
                <a:solidFill>
                  <a:srgbClr val="616161"/>
                </a:solidFill>
                <a:latin typeface="Proxima Nova"/>
                <a:ea typeface="Proxima Nova"/>
                <a:cs typeface="Proxima Nova"/>
                <a:sym typeface="Proxima Nova"/>
              </a:rPr>
              <a:t>tenemos estos 5 elementos</a:t>
            </a:r>
            <a:r>
              <a:rPr b="0" i="0" lang="en" sz="1800" u="none" cap="none" strike="noStrike">
                <a:solidFill>
                  <a:srgbClr val="616161"/>
                </a:solidFill>
                <a:latin typeface="Proxima Nova"/>
                <a:ea typeface="Proxima Nova"/>
                <a:cs typeface="Proxima Nova"/>
                <a:sym typeface="Proxima Nova"/>
              </a:rPr>
              <a:t> y queremos tomar </a:t>
            </a:r>
            <a:r>
              <a:rPr b="1" i="0" lang="en" sz="1800" u="none" cap="none" strike="noStrike">
                <a:solidFill>
                  <a:srgbClr val="616161"/>
                </a:solidFill>
                <a:latin typeface="Proxima Nova"/>
                <a:ea typeface="Proxima Nova"/>
                <a:cs typeface="Proxima Nova"/>
                <a:sym typeface="Proxima Nova"/>
              </a:rPr>
              <a:t>grupos de 3</a:t>
            </a:r>
            <a:r>
              <a:rPr b="0" i="0" lang="en" sz="1800" u="none" cap="none" strike="noStrike">
                <a:solidFill>
                  <a:srgbClr val="616161"/>
                </a:solidFill>
                <a:latin typeface="Proxima Nova"/>
                <a:ea typeface="Proxima Nova"/>
                <a:cs typeface="Proxima Nova"/>
                <a:sym typeface="Proxima Nova"/>
              </a:rPr>
              <a:t>:</a:t>
            </a:r>
            <a:endParaRPr b="0" i="0" sz="1800" u="none" cap="none" strike="noStrike">
              <a:solidFill>
                <a:srgbClr val="616161"/>
              </a:solidFill>
              <a:latin typeface="Proxima Nova"/>
              <a:ea typeface="Proxima Nova"/>
              <a:cs typeface="Proxima Nova"/>
              <a:sym typeface="Proxima Nova"/>
            </a:endParaRPr>
          </a:p>
        </p:txBody>
      </p:sp>
      <p:sp>
        <p:nvSpPr>
          <p:cNvPr id="245" name="Google Shape;245;p20"/>
          <p:cNvSpPr/>
          <p:nvPr/>
        </p:nvSpPr>
        <p:spPr>
          <a:xfrm rot="-5400000">
            <a:off x="6729189" y="506825"/>
            <a:ext cx="335666" cy="3330527"/>
          </a:xfrm>
          <a:prstGeom prst="rightBrace">
            <a:avLst>
              <a:gd fmla="val 75575" name="adj1"/>
              <a:gd fmla="val 50000" name="adj2"/>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46" name="Google Shape;246;p20"/>
          <p:cNvSpPr txBox="1"/>
          <p:nvPr/>
        </p:nvSpPr>
        <p:spPr>
          <a:xfrm>
            <a:off x="5103092" y="1020821"/>
            <a:ext cx="3587860" cy="956129"/>
          </a:xfrm>
          <a:prstGeom prst="rect">
            <a:avLst/>
          </a:prstGeom>
          <a:noFill/>
          <a:ln>
            <a:noFill/>
          </a:ln>
        </p:spPr>
        <p:txBody>
          <a:bodyPr anchorCtr="0" anchor="ctr" bIns="91425" lIns="91425" spcFirstLastPara="1" rIns="91425" wrap="square" tIns="91425">
            <a:spAutoFit/>
          </a:bodyPr>
          <a:lstStyle/>
          <a:p>
            <a:pPr indent="0" lvl="0" marL="0" marR="0" rtl="0" algn="ctr">
              <a:lnSpc>
                <a:spcPct val="115000"/>
              </a:lnSpc>
              <a:spcBef>
                <a:spcPts val="1600"/>
              </a:spcBef>
              <a:spcAft>
                <a:spcPts val="0"/>
              </a:spcAft>
              <a:buClr>
                <a:srgbClr val="000000"/>
              </a:buClr>
              <a:buSzPts val="1600"/>
              <a:buFont typeface="Arial"/>
              <a:buNone/>
            </a:pPr>
            <a:r>
              <a:rPr b="0" i="0" lang="en" sz="1600" u="none" cap="none" strike="noStrike">
                <a:solidFill>
                  <a:srgbClr val="616161"/>
                </a:solidFill>
                <a:latin typeface="Proxima Nova"/>
                <a:ea typeface="Proxima Nova"/>
                <a:cs typeface="Proxima Nova"/>
                <a:sym typeface="Proxima Nova"/>
              </a:rPr>
              <a:t>En </a:t>
            </a:r>
            <a:r>
              <a:rPr b="1" i="0" lang="en" sz="1600" u="none" cap="none" strike="noStrike">
                <a:solidFill>
                  <a:srgbClr val="FF0000"/>
                </a:solidFill>
                <a:latin typeface="Proxima Nova"/>
                <a:ea typeface="Proxima Nova"/>
                <a:cs typeface="Proxima Nova"/>
                <a:sym typeface="Proxima Nova"/>
              </a:rPr>
              <a:t>rojo</a:t>
            </a:r>
            <a:r>
              <a:rPr b="0" i="0" lang="en" sz="1600" u="none" cap="none" strike="noStrike">
                <a:solidFill>
                  <a:srgbClr val="616161"/>
                </a:solidFill>
                <a:latin typeface="Proxima Nova"/>
                <a:ea typeface="Proxima Nova"/>
                <a:cs typeface="Proxima Nova"/>
                <a:sym typeface="Proxima Nova"/>
              </a:rPr>
              <a:t> identificamos los elementos que elegimos del </a:t>
            </a:r>
            <a:r>
              <a:rPr b="1" i="0" lang="en" sz="1600" u="none" cap="none" strike="noStrike">
                <a:solidFill>
                  <a:schemeClr val="dk1"/>
                </a:solidFill>
                <a:latin typeface="Proxima Nova"/>
                <a:ea typeface="Proxima Nova"/>
                <a:cs typeface="Proxima Nova"/>
                <a:sym typeface="Proxima Nova"/>
              </a:rPr>
              <a:t>conjunto total</a:t>
            </a:r>
            <a:endParaRPr b="1" i="0" sz="1600" u="none" cap="none" strike="noStrike">
              <a:solidFill>
                <a:schemeClr val="dk1"/>
              </a:solidFill>
              <a:latin typeface="Proxima Nova"/>
              <a:ea typeface="Proxima Nova"/>
              <a:cs typeface="Proxima Nova"/>
              <a:sym typeface="Proxima Nova"/>
            </a:endParaRPr>
          </a:p>
        </p:txBody>
      </p:sp>
      <p:sp>
        <p:nvSpPr>
          <p:cNvPr id="247" name="Google Shape;247;p20"/>
          <p:cNvSpPr txBox="1"/>
          <p:nvPr/>
        </p:nvSpPr>
        <p:spPr>
          <a:xfrm>
            <a:off x="5137210" y="4002217"/>
            <a:ext cx="3587860" cy="672974"/>
          </a:xfrm>
          <a:prstGeom prst="rect">
            <a:avLst/>
          </a:prstGeom>
          <a:noFill/>
          <a:ln>
            <a:noFill/>
          </a:ln>
        </p:spPr>
        <p:txBody>
          <a:bodyPr anchorCtr="0" anchor="ctr" bIns="91425" lIns="91425" spcFirstLastPara="1" rIns="91425" wrap="square" tIns="91425">
            <a:spAutoFit/>
          </a:bodyPr>
          <a:lstStyle/>
          <a:p>
            <a:pPr indent="0" lvl="0" marL="0" marR="0" rtl="0" algn="ctr">
              <a:lnSpc>
                <a:spcPct val="115000"/>
              </a:lnSpc>
              <a:spcBef>
                <a:spcPts val="1600"/>
              </a:spcBef>
              <a:spcAft>
                <a:spcPts val="0"/>
              </a:spcAft>
              <a:buClr>
                <a:srgbClr val="000000"/>
              </a:buClr>
              <a:buSzPts val="1600"/>
              <a:buFont typeface="Arial"/>
              <a:buNone/>
            </a:pPr>
            <a:r>
              <a:rPr b="1" i="0" lang="en" sz="1600" u="none" cap="none" strike="noStrike">
                <a:solidFill>
                  <a:srgbClr val="616161"/>
                </a:solidFill>
                <a:latin typeface="Proxima Nova"/>
                <a:ea typeface="Proxima Nova"/>
                <a:cs typeface="Proxima Nova"/>
                <a:sym typeface="Proxima Nova"/>
              </a:rPr>
              <a:t>Total = </a:t>
            </a:r>
            <a:r>
              <a:rPr b="1" i="0" lang="en" sz="1600" u="none" cap="none" strike="noStrike">
                <a:solidFill>
                  <a:srgbClr val="FF0000"/>
                </a:solidFill>
                <a:latin typeface="Proxima Nova"/>
                <a:ea typeface="Proxima Nova"/>
                <a:cs typeface="Proxima Nova"/>
                <a:sym typeface="Proxima Nova"/>
              </a:rPr>
              <a:t>10 combinaciones</a:t>
            </a:r>
            <a:endParaRPr b="1" i="0" sz="1600" u="none" cap="none" strike="noStrike">
              <a:solidFill>
                <a:srgbClr val="FF0000"/>
              </a:solidFill>
              <a:latin typeface="Proxima Nova"/>
              <a:ea typeface="Proxima Nova"/>
              <a:cs typeface="Proxima Nova"/>
              <a:sym typeface="Proxima Nova"/>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6"/>
                                        </p:tgtEl>
                                        <p:attrNameLst>
                                          <p:attrName>style.visibility</p:attrName>
                                        </p:attrNameLst>
                                      </p:cBhvr>
                                      <p:to>
                                        <p:strVal val="visible"/>
                                      </p:to>
                                    </p:set>
                                    <p:animEffect filter="fade" transition="in">
                                      <p:cBhvr>
                                        <p:cTn dur="500"/>
                                        <p:tgtEl>
                                          <p:spTgt spid="246"/>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1"/>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Combinaciones</a:t>
            </a:r>
            <a:endParaRPr b="1" i="0" sz="3600" u="none" cap="none" strike="noStrike">
              <a:solidFill>
                <a:srgbClr val="FFFFFF"/>
              </a:solidFill>
              <a:latin typeface="Helvetica Neue"/>
              <a:ea typeface="Helvetica Neue"/>
              <a:cs typeface="Helvetica Neue"/>
              <a:sym typeface="Helvetica Neue"/>
            </a:endParaRPr>
          </a:p>
        </p:txBody>
      </p:sp>
      <p:pic>
        <p:nvPicPr>
          <p:cNvPr id="253" name="Google Shape;253;p21"/>
          <p:cNvPicPr preferRelativeResize="0"/>
          <p:nvPr/>
        </p:nvPicPr>
        <p:blipFill rotWithShape="1">
          <a:blip r:embed="rId3">
            <a:alphaModFix/>
          </a:blip>
          <a:srcRect b="0" l="0" r="0" t="0"/>
          <a:stretch/>
        </p:blipFill>
        <p:spPr>
          <a:xfrm>
            <a:off x="493694" y="1337221"/>
            <a:ext cx="3039801" cy="965016"/>
          </a:xfrm>
          <a:prstGeom prst="rect">
            <a:avLst/>
          </a:prstGeom>
          <a:noFill/>
          <a:ln>
            <a:noFill/>
          </a:ln>
        </p:spPr>
      </p:pic>
      <p:pic>
        <p:nvPicPr>
          <p:cNvPr id="254" name="Google Shape;254;p21"/>
          <p:cNvPicPr preferRelativeResize="0"/>
          <p:nvPr/>
        </p:nvPicPr>
        <p:blipFill rotWithShape="1">
          <a:blip r:embed="rId4">
            <a:alphaModFix/>
          </a:blip>
          <a:srcRect b="76641" l="0" r="0" t="0"/>
          <a:stretch/>
        </p:blipFill>
        <p:spPr>
          <a:xfrm>
            <a:off x="493695" y="3851742"/>
            <a:ext cx="3638231" cy="635023"/>
          </a:xfrm>
          <a:prstGeom prst="rect">
            <a:avLst/>
          </a:prstGeom>
          <a:noFill/>
          <a:ln>
            <a:noFill/>
          </a:ln>
        </p:spPr>
      </p:pic>
      <p:sp>
        <p:nvSpPr>
          <p:cNvPr id="255" name="Google Shape;255;p21"/>
          <p:cNvSpPr txBox="1"/>
          <p:nvPr/>
        </p:nvSpPr>
        <p:spPr>
          <a:xfrm>
            <a:off x="295154" y="2652768"/>
            <a:ext cx="4531489" cy="102691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Supongamos que </a:t>
            </a:r>
            <a:r>
              <a:rPr b="1" i="0" lang="en" sz="1800" u="none" cap="none" strike="noStrike">
                <a:solidFill>
                  <a:srgbClr val="616161"/>
                </a:solidFill>
                <a:latin typeface="Proxima Nova"/>
                <a:ea typeface="Proxima Nova"/>
                <a:cs typeface="Proxima Nova"/>
                <a:sym typeface="Proxima Nova"/>
              </a:rPr>
              <a:t>tenemos estos 5 elementos</a:t>
            </a:r>
            <a:r>
              <a:rPr b="0" i="0" lang="en" sz="1800" u="none" cap="none" strike="noStrike">
                <a:solidFill>
                  <a:srgbClr val="616161"/>
                </a:solidFill>
                <a:latin typeface="Proxima Nova"/>
                <a:ea typeface="Proxima Nova"/>
                <a:cs typeface="Proxima Nova"/>
                <a:sym typeface="Proxima Nova"/>
              </a:rPr>
              <a:t> y queremos tomar </a:t>
            </a:r>
            <a:r>
              <a:rPr b="1" i="0" lang="en" sz="1800" u="none" cap="none" strike="noStrike">
                <a:solidFill>
                  <a:srgbClr val="616161"/>
                </a:solidFill>
                <a:latin typeface="Proxima Nova"/>
                <a:ea typeface="Proxima Nova"/>
                <a:cs typeface="Proxima Nova"/>
                <a:sym typeface="Proxima Nova"/>
              </a:rPr>
              <a:t>grupos de 3</a:t>
            </a:r>
            <a:r>
              <a:rPr b="0" i="0" lang="en" sz="1800" u="none" cap="none" strike="noStrike">
                <a:solidFill>
                  <a:srgbClr val="616161"/>
                </a:solidFill>
                <a:latin typeface="Proxima Nova"/>
                <a:ea typeface="Proxima Nova"/>
                <a:cs typeface="Proxima Nova"/>
                <a:sym typeface="Proxima Nova"/>
              </a:rPr>
              <a:t>:</a:t>
            </a:r>
            <a:endParaRPr b="0" i="0" sz="1800" u="none" cap="none" strike="noStrike">
              <a:solidFill>
                <a:srgbClr val="616161"/>
              </a:solidFill>
              <a:latin typeface="Proxima Nova"/>
              <a:ea typeface="Proxima Nova"/>
              <a:cs typeface="Proxima Nova"/>
              <a:sym typeface="Proxima Nova"/>
            </a:endParaRPr>
          </a:p>
        </p:txBody>
      </p:sp>
      <p:sp>
        <p:nvSpPr>
          <p:cNvPr id="256" name="Google Shape;256;p21"/>
          <p:cNvSpPr/>
          <p:nvPr/>
        </p:nvSpPr>
        <p:spPr>
          <a:xfrm>
            <a:off x="3588152" y="2864734"/>
            <a:ext cx="543774" cy="49771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7" name="Google Shape;257;p21"/>
          <p:cNvSpPr/>
          <p:nvPr/>
        </p:nvSpPr>
        <p:spPr>
          <a:xfrm>
            <a:off x="4300113" y="3181974"/>
            <a:ext cx="543774" cy="497712"/>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258" name="Google Shape;258;p21"/>
          <p:cNvCxnSpPr>
            <a:stCxn id="256" idx="2"/>
          </p:cNvCxnSpPr>
          <p:nvPr/>
        </p:nvCxnSpPr>
        <p:spPr>
          <a:xfrm rot="10800000">
            <a:off x="966452" y="1718890"/>
            <a:ext cx="2621700" cy="1394700"/>
          </a:xfrm>
          <a:prstGeom prst="straightConnector1">
            <a:avLst/>
          </a:prstGeom>
          <a:noFill/>
          <a:ln cap="flat" cmpd="sng" w="28575">
            <a:solidFill>
              <a:schemeClr val="dk1"/>
            </a:solidFill>
            <a:prstDash val="solid"/>
            <a:round/>
            <a:headEnd len="sm" w="sm" type="none"/>
            <a:tailEnd len="med" w="med" type="stealth"/>
          </a:ln>
        </p:spPr>
      </p:cxnSp>
      <p:cxnSp>
        <p:nvCxnSpPr>
          <p:cNvPr id="259" name="Google Shape;259;p21"/>
          <p:cNvCxnSpPr>
            <a:stCxn id="257" idx="2"/>
          </p:cNvCxnSpPr>
          <p:nvPr/>
        </p:nvCxnSpPr>
        <p:spPr>
          <a:xfrm rot="10800000">
            <a:off x="798213" y="2302230"/>
            <a:ext cx="3501900" cy="1128600"/>
          </a:xfrm>
          <a:prstGeom prst="straightConnector1">
            <a:avLst/>
          </a:prstGeom>
          <a:noFill/>
          <a:ln cap="flat" cmpd="sng" w="28575">
            <a:solidFill>
              <a:srgbClr val="FF0000"/>
            </a:solidFill>
            <a:prstDash val="solid"/>
            <a:round/>
            <a:headEnd len="sm" w="sm" type="none"/>
            <a:tailEnd len="med" w="med" type="stealth"/>
          </a:ln>
        </p:spPr>
      </p:cxnSp>
      <p:pic>
        <p:nvPicPr>
          <p:cNvPr id="260" name="Google Shape;260;p21"/>
          <p:cNvPicPr preferRelativeResize="0"/>
          <p:nvPr/>
        </p:nvPicPr>
        <p:blipFill rotWithShape="1">
          <a:blip r:embed="rId5">
            <a:alphaModFix/>
          </a:blip>
          <a:srcRect b="0" l="29148" r="0" t="0"/>
          <a:stretch/>
        </p:blipFill>
        <p:spPr>
          <a:xfrm>
            <a:off x="3646025" y="1359630"/>
            <a:ext cx="4444678" cy="9431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par>
                                <p:cTn fill="hold" nodeType="with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Combinaciones</a:t>
            </a:r>
            <a:endParaRPr b="1" i="0" sz="3600" u="none" cap="none" strike="noStrike">
              <a:solidFill>
                <a:srgbClr val="FFFFFF"/>
              </a:solidFill>
              <a:latin typeface="Helvetica Neue"/>
              <a:ea typeface="Helvetica Neue"/>
              <a:cs typeface="Helvetica Neue"/>
              <a:sym typeface="Helvetica Neue"/>
            </a:endParaRPr>
          </a:p>
        </p:txBody>
      </p:sp>
      <p:pic>
        <p:nvPicPr>
          <p:cNvPr id="266" name="Google Shape;266;p22"/>
          <p:cNvPicPr preferRelativeResize="0"/>
          <p:nvPr/>
        </p:nvPicPr>
        <p:blipFill rotWithShape="1">
          <a:blip r:embed="rId3">
            <a:alphaModFix/>
          </a:blip>
          <a:srcRect b="0" l="0" r="0" t="0"/>
          <a:stretch/>
        </p:blipFill>
        <p:spPr>
          <a:xfrm>
            <a:off x="493694" y="1337221"/>
            <a:ext cx="3039801" cy="965016"/>
          </a:xfrm>
          <a:prstGeom prst="rect">
            <a:avLst/>
          </a:prstGeom>
          <a:noFill/>
          <a:ln>
            <a:noFill/>
          </a:ln>
        </p:spPr>
      </p:pic>
      <p:pic>
        <p:nvPicPr>
          <p:cNvPr id="267" name="Google Shape;267;p22"/>
          <p:cNvPicPr preferRelativeResize="0"/>
          <p:nvPr/>
        </p:nvPicPr>
        <p:blipFill rotWithShape="1">
          <a:blip r:embed="rId4">
            <a:alphaModFix/>
          </a:blip>
          <a:srcRect b="76641" l="0" r="0" t="0"/>
          <a:stretch/>
        </p:blipFill>
        <p:spPr>
          <a:xfrm>
            <a:off x="493695" y="3851742"/>
            <a:ext cx="3638231" cy="635023"/>
          </a:xfrm>
          <a:prstGeom prst="rect">
            <a:avLst/>
          </a:prstGeom>
          <a:noFill/>
          <a:ln>
            <a:noFill/>
          </a:ln>
        </p:spPr>
      </p:pic>
      <p:sp>
        <p:nvSpPr>
          <p:cNvPr id="268" name="Google Shape;268;p22"/>
          <p:cNvSpPr txBox="1"/>
          <p:nvPr/>
        </p:nvSpPr>
        <p:spPr>
          <a:xfrm>
            <a:off x="295154" y="2652768"/>
            <a:ext cx="4531489" cy="102691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rgbClr val="616161"/>
                </a:solidFill>
                <a:latin typeface="Proxima Nova"/>
                <a:ea typeface="Proxima Nova"/>
                <a:cs typeface="Proxima Nova"/>
                <a:sym typeface="Proxima Nova"/>
              </a:rPr>
              <a:t>Supongamos que </a:t>
            </a:r>
            <a:r>
              <a:rPr b="1" i="0" lang="en" sz="1800" u="none" cap="none" strike="noStrike">
                <a:solidFill>
                  <a:srgbClr val="616161"/>
                </a:solidFill>
                <a:latin typeface="Proxima Nova"/>
                <a:ea typeface="Proxima Nova"/>
                <a:cs typeface="Proxima Nova"/>
                <a:sym typeface="Proxima Nova"/>
              </a:rPr>
              <a:t>tenemos estos 5 elementos</a:t>
            </a:r>
            <a:r>
              <a:rPr b="0" i="0" lang="en" sz="1800" u="none" cap="none" strike="noStrike">
                <a:solidFill>
                  <a:srgbClr val="616161"/>
                </a:solidFill>
                <a:latin typeface="Proxima Nova"/>
                <a:ea typeface="Proxima Nova"/>
                <a:cs typeface="Proxima Nova"/>
                <a:sym typeface="Proxima Nova"/>
              </a:rPr>
              <a:t> y queremos tomar </a:t>
            </a:r>
            <a:r>
              <a:rPr b="1" i="0" lang="en" sz="1800" u="none" cap="none" strike="noStrike">
                <a:solidFill>
                  <a:srgbClr val="616161"/>
                </a:solidFill>
                <a:latin typeface="Proxima Nova"/>
                <a:ea typeface="Proxima Nova"/>
                <a:cs typeface="Proxima Nova"/>
                <a:sym typeface="Proxima Nova"/>
              </a:rPr>
              <a:t>grupos de 3</a:t>
            </a:r>
            <a:r>
              <a:rPr b="0" i="0" lang="en" sz="1800" u="none" cap="none" strike="noStrike">
                <a:solidFill>
                  <a:srgbClr val="616161"/>
                </a:solidFill>
                <a:latin typeface="Proxima Nova"/>
                <a:ea typeface="Proxima Nova"/>
                <a:cs typeface="Proxima Nova"/>
                <a:sym typeface="Proxima Nova"/>
              </a:rPr>
              <a:t>:</a:t>
            </a:r>
            <a:endParaRPr b="0" i="0" sz="1800" u="none" cap="none" strike="noStrike">
              <a:solidFill>
                <a:srgbClr val="616161"/>
              </a:solidFill>
              <a:latin typeface="Proxima Nova"/>
              <a:ea typeface="Proxima Nova"/>
              <a:cs typeface="Proxima Nova"/>
              <a:sym typeface="Proxima Nova"/>
            </a:endParaRPr>
          </a:p>
        </p:txBody>
      </p:sp>
      <p:sp>
        <p:nvSpPr>
          <p:cNvPr id="269" name="Google Shape;269;p22"/>
          <p:cNvSpPr/>
          <p:nvPr/>
        </p:nvSpPr>
        <p:spPr>
          <a:xfrm>
            <a:off x="3588152" y="2864734"/>
            <a:ext cx="543774" cy="49771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0" name="Google Shape;270;p22"/>
          <p:cNvSpPr/>
          <p:nvPr/>
        </p:nvSpPr>
        <p:spPr>
          <a:xfrm>
            <a:off x="4300113" y="3181974"/>
            <a:ext cx="543774" cy="497712"/>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271" name="Google Shape;271;p22"/>
          <p:cNvCxnSpPr>
            <a:stCxn id="269" idx="2"/>
          </p:cNvCxnSpPr>
          <p:nvPr/>
        </p:nvCxnSpPr>
        <p:spPr>
          <a:xfrm rot="10800000">
            <a:off x="966452" y="1718890"/>
            <a:ext cx="2621700" cy="1394700"/>
          </a:xfrm>
          <a:prstGeom prst="straightConnector1">
            <a:avLst/>
          </a:prstGeom>
          <a:noFill/>
          <a:ln cap="flat" cmpd="sng" w="28575">
            <a:solidFill>
              <a:schemeClr val="dk1"/>
            </a:solidFill>
            <a:prstDash val="solid"/>
            <a:round/>
            <a:headEnd len="sm" w="sm" type="none"/>
            <a:tailEnd len="med" w="med" type="stealth"/>
          </a:ln>
        </p:spPr>
      </p:cxnSp>
      <p:cxnSp>
        <p:nvCxnSpPr>
          <p:cNvPr id="272" name="Google Shape;272;p22"/>
          <p:cNvCxnSpPr>
            <a:stCxn id="270" idx="2"/>
          </p:cNvCxnSpPr>
          <p:nvPr/>
        </p:nvCxnSpPr>
        <p:spPr>
          <a:xfrm rot="10800000">
            <a:off x="798213" y="2302230"/>
            <a:ext cx="3501900" cy="1128600"/>
          </a:xfrm>
          <a:prstGeom prst="straightConnector1">
            <a:avLst/>
          </a:prstGeom>
          <a:noFill/>
          <a:ln cap="flat" cmpd="sng" w="28575">
            <a:solidFill>
              <a:srgbClr val="FF0000"/>
            </a:solidFill>
            <a:prstDash val="solid"/>
            <a:round/>
            <a:headEnd len="sm" w="sm" type="none"/>
            <a:tailEnd len="med" w="med" type="stealth"/>
          </a:ln>
        </p:spPr>
      </p:cxnSp>
      <p:pic>
        <p:nvPicPr>
          <p:cNvPr id="273" name="Google Shape;273;p22"/>
          <p:cNvPicPr preferRelativeResize="0"/>
          <p:nvPr/>
        </p:nvPicPr>
        <p:blipFill rotWithShape="1">
          <a:blip r:embed="rId5">
            <a:alphaModFix/>
          </a:blip>
          <a:srcRect b="0" l="29148" r="0" t="0"/>
          <a:stretch/>
        </p:blipFill>
        <p:spPr>
          <a:xfrm>
            <a:off x="3646025" y="1359630"/>
            <a:ext cx="4444678" cy="943165"/>
          </a:xfrm>
          <a:prstGeom prst="rect">
            <a:avLst/>
          </a:prstGeom>
          <a:noFill/>
          <a:ln>
            <a:noFill/>
          </a:ln>
        </p:spPr>
      </p:pic>
      <p:pic>
        <p:nvPicPr>
          <p:cNvPr descr="Variaciones, Permutaciones y Combinaciones con calculadora - YouTube" id="274" name="Google Shape;274;p22"/>
          <p:cNvPicPr preferRelativeResize="0"/>
          <p:nvPr/>
        </p:nvPicPr>
        <p:blipFill rotWithShape="1">
          <a:blip r:embed="rId6">
            <a:alphaModFix/>
          </a:blip>
          <a:srcRect b="0" l="0" r="0" t="0"/>
          <a:stretch/>
        </p:blipFill>
        <p:spPr>
          <a:xfrm>
            <a:off x="0" y="0"/>
            <a:ext cx="9144000" cy="5143500"/>
          </a:xfrm>
          <a:prstGeom prst="rect">
            <a:avLst/>
          </a:prstGeom>
          <a:noFill/>
          <a:ln>
            <a:noFill/>
          </a:ln>
        </p:spPr>
      </p:pic>
      <p:sp>
        <p:nvSpPr>
          <p:cNvPr id="275" name="Google Shape;275;p22"/>
          <p:cNvSpPr/>
          <p:nvPr/>
        </p:nvSpPr>
        <p:spPr>
          <a:xfrm>
            <a:off x="5769980" y="2302237"/>
            <a:ext cx="960698" cy="811353"/>
          </a:xfrm>
          <a:prstGeom prst="ellipse">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76" name="Google Shape;276;p22"/>
          <p:cNvSpPr txBox="1"/>
          <p:nvPr/>
        </p:nvSpPr>
        <p:spPr>
          <a:xfrm>
            <a:off x="312398" y="135038"/>
            <a:ext cx="4531489" cy="1026918"/>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rgbClr val="000000"/>
              </a:buClr>
              <a:buSzPts val="1800"/>
              <a:buFont typeface="Arial"/>
              <a:buNone/>
            </a:pPr>
            <a:r>
              <a:rPr b="0" i="0" lang="en" sz="1800" u="none" cap="none" strike="noStrike">
                <a:solidFill>
                  <a:srgbClr val="FF0000"/>
                </a:solidFill>
                <a:latin typeface="Proxima Nova"/>
                <a:ea typeface="Proxima Nova"/>
                <a:cs typeface="Proxima Nova"/>
                <a:sym typeface="Proxima Nova"/>
              </a:rPr>
              <a:t>En la calculadora, </a:t>
            </a:r>
            <a:r>
              <a:rPr b="1" i="0" lang="en" sz="1800" u="none" cap="none" strike="noStrike">
                <a:solidFill>
                  <a:srgbClr val="FF0000"/>
                </a:solidFill>
                <a:latin typeface="Proxima Nova"/>
                <a:ea typeface="Proxima Nova"/>
                <a:cs typeface="Proxima Nova"/>
                <a:sym typeface="Proxima Nova"/>
              </a:rPr>
              <a:t>nCr</a:t>
            </a:r>
            <a:r>
              <a:rPr b="0" i="0" lang="en" sz="1800" u="none" cap="none" strike="noStrike">
                <a:solidFill>
                  <a:srgbClr val="FF0000"/>
                </a:solidFill>
                <a:latin typeface="Proxima Nova"/>
                <a:ea typeface="Proxima Nova"/>
                <a:cs typeface="Proxima Nova"/>
                <a:sym typeface="Proxima Nova"/>
              </a:rPr>
              <a:t> es el </a:t>
            </a:r>
            <a:r>
              <a:rPr b="0" i="0" lang="en" sz="1800" u="sng" cap="none" strike="noStrike">
                <a:solidFill>
                  <a:srgbClr val="FF0000"/>
                </a:solidFill>
                <a:latin typeface="Proxima Nova"/>
                <a:ea typeface="Proxima Nova"/>
                <a:cs typeface="Proxima Nova"/>
                <a:sym typeface="Proxima Nova"/>
              </a:rPr>
              <a:t>número combinatorio de n en r</a:t>
            </a:r>
            <a:r>
              <a:rPr b="0" i="0" lang="en" sz="1800" u="none" cap="none" strike="noStrike">
                <a:solidFill>
                  <a:srgbClr val="FF0000"/>
                </a:solidFill>
                <a:latin typeface="Proxima Nova"/>
                <a:ea typeface="Proxima Nova"/>
                <a:cs typeface="Proxima Nova"/>
                <a:sym typeface="Proxima Nova"/>
              </a:rPr>
              <a:t> (en vez de k, r)</a:t>
            </a:r>
            <a:endParaRPr b="0" i="0" sz="1800" u="none" cap="none" strike="noStrike">
              <a:solidFill>
                <a:srgbClr val="FF0000"/>
              </a:solidFill>
              <a:latin typeface="Proxima Nova"/>
              <a:ea typeface="Proxima Nova"/>
              <a:cs typeface="Proxima Nova"/>
              <a:sym typeface="Proxima Nova"/>
            </a:endParaRPr>
          </a:p>
        </p:txBody>
      </p:sp>
      <p:cxnSp>
        <p:nvCxnSpPr>
          <p:cNvPr id="277" name="Google Shape;277;p22"/>
          <p:cNvCxnSpPr/>
          <p:nvPr/>
        </p:nvCxnSpPr>
        <p:spPr>
          <a:xfrm>
            <a:off x="4006287" y="1203767"/>
            <a:ext cx="1763693" cy="1367983"/>
          </a:xfrm>
          <a:prstGeom prst="straightConnector1">
            <a:avLst/>
          </a:prstGeom>
          <a:noFill/>
          <a:ln cap="flat" cmpd="sng" w="28575">
            <a:solidFill>
              <a:srgbClr val="FF0000"/>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3"/>
          <p:cNvSpPr txBox="1"/>
          <p:nvPr/>
        </p:nvSpPr>
        <p:spPr>
          <a:xfrm>
            <a:off x="260430" y="955788"/>
            <a:ext cx="8351136" cy="1239283"/>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 </a:t>
            </a:r>
            <a:r>
              <a:rPr b="0" i="0" lang="en" sz="1600" u="none" cap="none" strike="noStrike">
                <a:solidFill>
                  <a:srgbClr val="616161"/>
                </a:solidFill>
                <a:latin typeface="Proxima Nova"/>
                <a:ea typeface="Proxima Nova"/>
                <a:cs typeface="Proxima Nova"/>
                <a:sym typeface="Proxima Nova"/>
              </a:rPr>
              <a:t>Tengo 10 amigos a los que quiero regalarles una copia de mi libro, pero solamente tengo 3 ejemplares. ¿De cuántas formas puedo repartirlos, de manera que ninguno de ellos reciba más de un ejemplar? </a:t>
            </a:r>
            <a:endParaRPr b="0" i="0" sz="1600" u="none" cap="none" strike="noStrike">
              <a:solidFill>
                <a:srgbClr val="616161"/>
              </a:solidFill>
              <a:latin typeface="Proxima Nova"/>
              <a:ea typeface="Proxima Nova"/>
              <a:cs typeface="Proxima Nova"/>
              <a:sym typeface="Proxima Nova"/>
            </a:endParaRPr>
          </a:p>
        </p:txBody>
      </p:sp>
      <p:sp>
        <p:nvSpPr>
          <p:cNvPr id="283" name="Google Shape;283;p2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Combinaciones</a:t>
            </a:r>
            <a:endParaRPr b="1" i="0" sz="3600" u="none" cap="none" strike="noStrike">
              <a:solidFill>
                <a:srgbClr val="FFFFFF"/>
              </a:solidFill>
              <a:latin typeface="Helvetica Neue"/>
              <a:ea typeface="Helvetica Neue"/>
              <a:cs typeface="Helvetica Neue"/>
              <a:sym typeface="Helvetica Neue"/>
            </a:endParaRPr>
          </a:p>
        </p:txBody>
      </p:sp>
      <p:sp>
        <p:nvSpPr>
          <p:cNvPr id="284" name="Google Shape;284;p23"/>
          <p:cNvSpPr txBox="1"/>
          <p:nvPr/>
        </p:nvSpPr>
        <p:spPr>
          <a:xfrm>
            <a:off x="260430" y="2302485"/>
            <a:ext cx="8351136" cy="2215961"/>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t/>
            </a:r>
            <a:endParaRPr b="1" i="0" sz="1600" u="none" cap="none" strike="noStrike">
              <a:solidFill>
                <a:srgbClr val="616161"/>
              </a:solidFill>
              <a:latin typeface="Proxima Nova"/>
              <a:ea typeface="Proxima Nova"/>
              <a:cs typeface="Proxima Nova"/>
              <a:sym typeface="Proxima Nova"/>
            </a:endParaRPr>
          </a:p>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Solución: </a:t>
            </a:r>
            <a:r>
              <a:rPr b="0" i="0" lang="en" sz="1600" u="none" cap="none" strike="noStrike">
                <a:solidFill>
                  <a:srgbClr val="616161"/>
                </a:solidFill>
                <a:latin typeface="Proxima Nova"/>
                <a:ea typeface="Proxima Nova"/>
                <a:cs typeface="Proxima Nova"/>
                <a:sym typeface="Proxima Nova"/>
              </a:rPr>
              <a:t>Tengo que encontrar conjuntos diferentes de 3 amigos (su orden no importa), de un grupo de 10. A cada uno de los 3 amigos les voy a dar uno de mis 3 ejemplares. </a:t>
            </a:r>
            <a:endParaRPr b="0" i="0" sz="1600" u="none" cap="none" strike="noStrike">
              <a:solidFill>
                <a:srgbClr val="616161"/>
              </a:solidFill>
              <a:latin typeface="Proxima Nova"/>
              <a:ea typeface="Proxima Nova"/>
              <a:cs typeface="Proxima Nova"/>
              <a:sym typeface="Proxima Nova"/>
            </a:endParaRPr>
          </a:p>
          <a:p>
            <a:pPr indent="0" lvl="0" marL="0" marR="0" rtl="0" algn="l">
              <a:lnSpc>
                <a:spcPct val="115000"/>
              </a:lnSpc>
              <a:spcBef>
                <a:spcPts val="1600"/>
              </a:spcBef>
              <a:spcAft>
                <a:spcPts val="1600"/>
              </a:spcAft>
              <a:buClr>
                <a:schemeClr val="dk1"/>
              </a:buClr>
              <a:buSzPts val="1100"/>
              <a:buFont typeface="Arial"/>
              <a:buNone/>
            </a:pPr>
            <a:r>
              <a:rPr b="0" i="0" lang="en" sz="1600" u="none" cap="none" strike="noStrike">
                <a:solidFill>
                  <a:srgbClr val="616161"/>
                </a:solidFill>
                <a:latin typeface="Proxima Nova"/>
                <a:ea typeface="Proxima Nova"/>
                <a:cs typeface="Proxima Nova"/>
                <a:sym typeface="Proxima Nova"/>
              </a:rPr>
              <a:t>Tengo entonces 10!/(3! x (10-3)!) = 120 grupos diferentes de amigos a los que hacerles el regalo.</a:t>
            </a:r>
            <a:endParaRPr b="0" i="0" sz="1600" u="none" cap="none" strike="noStrike">
              <a:solidFill>
                <a:srgbClr val="616161"/>
              </a:solidFill>
              <a:latin typeface="Proxima Nova"/>
              <a:ea typeface="Proxima Nova"/>
              <a:cs typeface="Proxima Nova"/>
              <a:sym typeface="Proxima Nova"/>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4"/>
          <p:cNvSpPr txBox="1"/>
          <p:nvPr/>
        </p:nvSpPr>
        <p:spPr>
          <a:xfrm>
            <a:off x="260430" y="941806"/>
            <a:ext cx="8351136" cy="956129"/>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0" i="0" lang="en" sz="1600" u="none" cap="none" strike="noStrike">
                <a:solidFill>
                  <a:srgbClr val="616161"/>
                </a:solidFill>
                <a:latin typeface="Proxima Nova"/>
                <a:ea typeface="Proxima Nova"/>
                <a:cs typeface="Proxima Nova"/>
                <a:sym typeface="Proxima Nova"/>
              </a:rPr>
              <a:t>La </a:t>
            </a:r>
            <a:r>
              <a:rPr b="1" i="0" lang="en" sz="1600" u="sng" cap="none" strike="noStrike">
                <a:solidFill>
                  <a:srgbClr val="616161"/>
                </a:solidFill>
                <a:latin typeface="Proxima Nova"/>
                <a:ea typeface="Proxima Nova"/>
                <a:cs typeface="Proxima Nova"/>
                <a:sym typeface="Proxima Nova"/>
              </a:rPr>
              <a:t>sumatoria</a:t>
            </a:r>
            <a:r>
              <a:rPr b="0" i="0" lang="en" sz="1600" u="none" cap="none" strike="noStrike">
                <a:solidFill>
                  <a:srgbClr val="616161"/>
                </a:solidFill>
                <a:latin typeface="Proxima Nova"/>
                <a:ea typeface="Proxima Nova"/>
                <a:cs typeface="Proxima Nova"/>
                <a:sym typeface="Proxima Nova"/>
              </a:rPr>
              <a:t> es una </a:t>
            </a:r>
            <a:r>
              <a:rPr b="1" i="0" lang="en" sz="1600" u="none" cap="none" strike="noStrike">
                <a:solidFill>
                  <a:srgbClr val="616161"/>
                </a:solidFill>
                <a:latin typeface="Proxima Nova"/>
                <a:ea typeface="Proxima Nova"/>
                <a:cs typeface="Proxima Nova"/>
                <a:sym typeface="Proxima Nova"/>
              </a:rPr>
              <a:t>notación simbólica</a:t>
            </a:r>
            <a:r>
              <a:rPr b="0" i="0" lang="en" sz="1600" u="none" cap="none" strike="noStrike">
                <a:solidFill>
                  <a:srgbClr val="616161"/>
                </a:solidFill>
                <a:latin typeface="Proxima Nova"/>
                <a:ea typeface="Proxima Nova"/>
                <a:cs typeface="Proxima Nova"/>
                <a:sym typeface="Proxima Nova"/>
              </a:rPr>
              <a:t> que nos permite representar </a:t>
            </a:r>
            <a:r>
              <a:rPr b="1" i="0" lang="en" sz="1600" u="none" cap="none" strike="noStrike">
                <a:solidFill>
                  <a:srgbClr val="616161"/>
                </a:solidFill>
                <a:latin typeface="Proxima Nova"/>
                <a:ea typeface="Proxima Nova"/>
                <a:cs typeface="Proxima Nova"/>
                <a:sym typeface="Proxima Nova"/>
              </a:rPr>
              <a:t>sumas de muchos sumandos</a:t>
            </a:r>
            <a:r>
              <a:rPr b="0" i="0" lang="en" sz="1600" u="none" cap="none" strike="noStrike">
                <a:solidFill>
                  <a:srgbClr val="616161"/>
                </a:solidFill>
                <a:latin typeface="Proxima Nova"/>
                <a:ea typeface="Proxima Nova"/>
                <a:cs typeface="Proxima Nova"/>
                <a:sym typeface="Proxima Nova"/>
              </a:rPr>
              <a:t>, o incluso infinitos, </a:t>
            </a:r>
            <a:r>
              <a:rPr b="1" i="0" lang="en" sz="1600" u="none" cap="none" strike="noStrike">
                <a:solidFill>
                  <a:srgbClr val="616161"/>
                </a:solidFill>
                <a:latin typeface="Proxima Nova"/>
                <a:ea typeface="Proxima Nova"/>
                <a:cs typeface="Proxima Nova"/>
                <a:sym typeface="Proxima Nova"/>
              </a:rPr>
              <a:t>sin tener que usar puntos suspensivos</a:t>
            </a:r>
            <a:r>
              <a:rPr b="0" i="0" lang="en" sz="1600" u="none" cap="none" strike="noStrike">
                <a:solidFill>
                  <a:srgbClr val="616161"/>
                </a:solidFill>
                <a:latin typeface="Proxima Nova"/>
                <a:ea typeface="Proxima Nova"/>
                <a:cs typeface="Proxima Nova"/>
                <a:sym typeface="Proxima Nova"/>
              </a:rPr>
              <a:t>! </a:t>
            </a:r>
            <a:endParaRPr b="0" i="0" sz="1600" u="none" cap="none" strike="noStrike">
              <a:solidFill>
                <a:srgbClr val="616161"/>
              </a:solidFill>
              <a:latin typeface="Proxima Nova"/>
              <a:ea typeface="Proxima Nova"/>
              <a:cs typeface="Proxima Nova"/>
              <a:sym typeface="Proxima Nova"/>
            </a:endParaRPr>
          </a:p>
        </p:txBody>
      </p:sp>
      <p:sp>
        <p:nvSpPr>
          <p:cNvPr id="290" name="Google Shape;290;p2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Sumatorias</a:t>
            </a:r>
            <a:endParaRPr b="1" i="0" sz="3600" u="none" cap="none" strike="noStrike">
              <a:solidFill>
                <a:srgbClr val="FFFFFF"/>
              </a:solidFill>
              <a:latin typeface="Helvetica Neue"/>
              <a:ea typeface="Helvetica Neue"/>
              <a:cs typeface="Helvetica Neue"/>
              <a:sym typeface="Helvetica Neue"/>
            </a:endParaRPr>
          </a:p>
        </p:txBody>
      </p:sp>
      <p:pic>
        <p:nvPicPr>
          <p:cNvPr id="291" name="Google Shape;291;p24"/>
          <p:cNvPicPr preferRelativeResize="0"/>
          <p:nvPr/>
        </p:nvPicPr>
        <p:blipFill rotWithShape="1">
          <a:blip r:embed="rId3">
            <a:alphaModFix/>
          </a:blip>
          <a:srcRect b="0" l="0" r="76862" t="0"/>
          <a:stretch/>
        </p:blipFill>
        <p:spPr>
          <a:xfrm>
            <a:off x="1999526" y="2635062"/>
            <a:ext cx="1190423" cy="1265692"/>
          </a:xfrm>
          <a:prstGeom prst="rect">
            <a:avLst/>
          </a:prstGeom>
          <a:noFill/>
          <a:ln>
            <a:noFill/>
          </a:ln>
        </p:spPr>
      </p:pic>
      <p:sp>
        <p:nvSpPr>
          <p:cNvPr id="292" name="Google Shape;292;p24"/>
          <p:cNvSpPr txBox="1"/>
          <p:nvPr/>
        </p:nvSpPr>
        <p:spPr>
          <a:xfrm>
            <a:off x="260430" y="2221498"/>
            <a:ext cx="1544902" cy="104641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Sumatoria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(letra griega sigma mayúscula)</a:t>
            </a:r>
            <a:endParaRPr b="0" i="0" sz="1400" u="none" cap="none" strike="noStrike">
              <a:solidFill>
                <a:srgbClr val="000000"/>
              </a:solidFill>
              <a:latin typeface="Arial"/>
              <a:ea typeface="Arial"/>
              <a:cs typeface="Arial"/>
              <a:sym typeface="Arial"/>
            </a:endParaRPr>
          </a:p>
        </p:txBody>
      </p:sp>
      <p:sp>
        <p:nvSpPr>
          <p:cNvPr id="293" name="Google Shape;293;p24"/>
          <p:cNvSpPr txBox="1"/>
          <p:nvPr/>
        </p:nvSpPr>
        <p:spPr>
          <a:xfrm>
            <a:off x="2626488" y="2029103"/>
            <a:ext cx="3403922"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Límite hasta el que va a iterar la suma</a:t>
            </a:r>
            <a:endParaRPr b="0" i="0" sz="1400" u="none" cap="none" strike="noStrike">
              <a:solidFill>
                <a:srgbClr val="000000"/>
              </a:solidFill>
              <a:latin typeface="Arial"/>
              <a:ea typeface="Arial"/>
              <a:cs typeface="Arial"/>
              <a:sym typeface="Arial"/>
            </a:endParaRPr>
          </a:p>
        </p:txBody>
      </p:sp>
      <p:sp>
        <p:nvSpPr>
          <p:cNvPr id="294" name="Google Shape;294;p24"/>
          <p:cNvSpPr txBox="1"/>
          <p:nvPr/>
        </p:nvSpPr>
        <p:spPr>
          <a:xfrm>
            <a:off x="479703" y="4127157"/>
            <a:ext cx="1304080"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Índice de la sumatoria</a:t>
            </a:r>
            <a:endParaRPr b="0" i="0" sz="1400" u="none" cap="none" strike="noStrike">
              <a:solidFill>
                <a:srgbClr val="000000"/>
              </a:solidFill>
              <a:latin typeface="Arial"/>
              <a:ea typeface="Arial"/>
              <a:cs typeface="Arial"/>
              <a:sym typeface="Arial"/>
            </a:endParaRPr>
          </a:p>
        </p:txBody>
      </p:sp>
      <p:sp>
        <p:nvSpPr>
          <p:cNvPr id="295" name="Google Shape;295;p24"/>
          <p:cNvSpPr txBox="1"/>
          <p:nvPr/>
        </p:nvSpPr>
        <p:spPr>
          <a:xfrm>
            <a:off x="2598517" y="4174560"/>
            <a:ext cx="1304080"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Valor inicial del índice i</a:t>
            </a:r>
            <a:endParaRPr b="0" i="0" sz="1400" u="none" cap="none" strike="noStrike">
              <a:solidFill>
                <a:srgbClr val="000000"/>
              </a:solidFill>
              <a:latin typeface="Arial"/>
              <a:ea typeface="Arial"/>
              <a:cs typeface="Arial"/>
              <a:sym typeface="Arial"/>
            </a:endParaRPr>
          </a:p>
        </p:txBody>
      </p:sp>
      <p:sp>
        <p:nvSpPr>
          <p:cNvPr id="296" name="Google Shape;296;p24"/>
          <p:cNvSpPr txBox="1"/>
          <p:nvPr/>
        </p:nvSpPr>
        <p:spPr>
          <a:xfrm>
            <a:off x="5061995" y="3846095"/>
            <a:ext cx="3030638"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accent5"/>
                </a:solidFill>
                <a:latin typeface="Proxima Nova"/>
                <a:ea typeface="Proxima Nova"/>
                <a:cs typeface="Proxima Nova"/>
                <a:sym typeface="Proxima Nova"/>
              </a:rPr>
              <a:t>¿Qué representamos acá?</a:t>
            </a:r>
            <a:endParaRPr b="0" i="0" sz="1400" u="none" cap="none" strike="noStrike">
              <a:solidFill>
                <a:srgbClr val="000000"/>
              </a:solidFill>
              <a:latin typeface="Arial"/>
              <a:ea typeface="Arial"/>
              <a:cs typeface="Arial"/>
              <a:sym typeface="Arial"/>
            </a:endParaRPr>
          </a:p>
        </p:txBody>
      </p:sp>
      <p:cxnSp>
        <p:nvCxnSpPr>
          <p:cNvPr id="297" name="Google Shape;297;p24"/>
          <p:cNvCxnSpPr/>
          <p:nvPr/>
        </p:nvCxnSpPr>
        <p:spPr>
          <a:xfrm>
            <a:off x="1574156" y="2868583"/>
            <a:ext cx="371196" cy="221858"/>
          </a:xfrm>
          <a:prstGeom prst="straightConnector1">
            <a:avLst/>
          </a:prstGeom>
          <a:noFill/>
          <a:ln cap="flat" cmpd="sng" w="28575">
            <a:solidFill>
              <a:schemeClr val="dk1"/>
            </a:solidFill>
            <a:prstDash val="solid"/>
            <a:round/>
            <a:headEnd len="sm" w="sm" type="none"/>
            <a:tailEnd len="med" w="med" type="stealth"/>
          </a:ln>
        </p:spPr>
      </p:cxnSp>
      <p:cxnSp>
        <p:nvCxnSpPr>
          <p:cNvPr id="298" name="Google Shape;298;p24"/>
          <p:cNvCxnSpPr/>
          <p:nvPr/>
        </p:nvCxnSpPr>
        <p:spPr>
          <a:xfrm flipH="1">
            <a:off x="2500133" y="2361256"/>
            <a:ext cx="443048" cy="341433"/>
          </a:xfrm>
          <a:prstGeom prst="straightConnector1">
            <a:avLst/>
          </a:prstGeom>
          <a:noFill/>
          <a:ln cap="flat" cmpd="sng" w="28575">
            <a:solidFill>
              <a:schemeClr val="dk1"/>
            </a:solidFill>
            <a:prstDash val="solid"/>
            <a:round/>
            <a:headEnd len="sm" w="sm" type="none"/>
            <a:tailEnd len="med" w="med" type="stealth"/>
          </a:ln>
        </p:spPr>
      </p:cxnSp>
      <p:cxnSp>
        <p:nvCxnSpPr>
          <p:cNvPr id="299" name="Google Shape;299;p24"/>
          <p:cNvCxnSpPr/>
          <p:nvPr/>
        </p:nvCxnSpPr>
        <p:spPr>
          <a:xfrm rot="10800000">
            <a:off x="2598517" y="3964066"/>
            <a:ext cx="344664" cy="237629"/>
          </a:xfrm>
          <a:prstGeom prst="straightConnector1">
            <a:avLst/>
          </a:prstGeom>
          <a:noFill/>
          <a:ln cap="flat" cmpd="sng" w="28575">
            <a:solidFill>
              <a:schemeClr val="dk1"/>
            </a:solidFill>
            <a:prstDash val="solid"/>
            <a:round/>
            <a:headEnd len="sm" w="sm" type="none"/>
            <a:tailEnd len="med" w="med" type="stealth"/>
          </a:ln>
        </p:spPr>
      </p:cxnSp>
      <p:cxnSp>
        <p:nvCxnSpPr>
          <p:cNvPr id="300" name="Google Shape;300;p24"/>
          <p:cNvCxnSpPr/>
          <p:nvPr/>
        </p:nvCxnSpPr>
        <p:spPr>
          <a:xfrm flipH="1" rot="10800000">
            <a:off x="1574156" y="3895142"/>
            <a:ext cx="371197" cy="279418"/>
          </a:xfrm>
          <a:prstGeom prst="straightConnector1">
            <a:avLst/>
          </a:prstGeom>
          <a:noFill/>
          <a:ln cap="flat" cmpd="sng" w="28575">
            <a:solidFill>
              <a:schemeClr val="dk1"/>
            </a:solidFill>
            <a:prstDash val="solid"/>
            <a:round/>
            <a:headEnd len="sm" w="sm" type="none"/>
            <a:tailEnd len="med" w="med" type="stealth"/>
          </a:ln>
        </p:spPr>
      </p:cxnSp>
      <p:sp>
        <p:nvSpPr>
          <p:cNvPr id="301" name="Google Shape;301;p24"/>
          <p:cNvSpPr txBox="1"/>
          <p:nvPr/>
        </p:nvSpPr>
        <p:spPr>
          <a:xfrm>
            <a:off x="3392346" y="2369673"/>
            <a:ext cx="3268883"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Expresión matemática que se sumará (n+1) – valor inicial del índice i</a:t>
            </a:r>
            <a:endParaRPr b="0" i="0" sz="1400" u="none" cap="none" strike="noStrike">
              <a:solidFill>
                <a:srgbClr val="000000"/>
              </a:solidFill>
              <a:latin typeface="Arial"/>
              <a:ea typeface="Arial"/>
              <a:cs typeface="Arial"/>
              <a:sym typeface="Arial"/>
            </a:endParaRPr>
          </a:p>
        </p:txBody>
      </p:sp>
      <p:cxnSp>
        <p:nvCxnSpPr>
          <p:cNvPr id="302" name="Google Shape;302;p24"/>
          <p:cNvCxnSpPr/>
          <p:nvPr/>
        </p:nvCxnSpPr>
        <p:spPr>
          <a:xfrm flipH="1">
            <a:off x="3049929" y="2806861"/>
            <a:ext cx="648182" cy="283580"/>
          </a:xfrm>
          <a:prstGeom prst="straightConnector1">
            <a:avLst/>
          </a:prstGeom>
          <a:noFill/>
          <a:ln cap="flat" cmpd="sng" w="28575">
            <a:solidFill>
              <a:schemeClr val="dk1"/>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par>
                                <p:cTn fill="hold" nodeType="with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par>
                                <p:cTn fill="hold" nodeType="with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5"/>
          <p:cNvSpPr txBox="1"/>
          <p:nvPr/>
        </p:nvSpPr>
        <p:spPr>
          <a:xfrm>
            <a:off x="260430" y="941806"/>
            <a:ext cx="8351136" cy="956129"/>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0" i="0" lang="en" sz="1600" u="none" cap="none" strike="noStrike">
                <a:solidFill>
                  <a:srgbClr val="616161"/>
                </a:solidFill>
                <a:latin typeface="Proxima Nova"/>
                <a:ea typeface="Proxima Nova"/>
                <a:cs typeface="Proxima Nova"/>
                <a:sym typeface="Proxima Nova"/>
              </a:rPr>
              <a:t>La </a:t>
            </a:r>
            <a:r>
              <a:rPr b="1" i="0" lang="en" sz="1600" u="sng" cap="none" strike="noStrike">
                <a:solidFill>
                  <a:srgbClr val="616161"/>
                </a:solidFill>
                <a:latin typeface="Proxima Nova"/>
                <a:ea typeface="Proxima Nova"/>
                <a:cs typeface="Proxima Nova"/>
                <a:sym typeface="Proxima Nova"/>
              </a:rPr>
              <a:t>sumatoria</a:t>
            </a:r>
            <a:r>
              <a:rPr b="0" i="0" lang="en" sz="1600" u="none" cap="none" strike="noStrike">
                <a:solidFill>
                  <a:srgbClr val="616161"/>
                </a:solidFill>
                <a:latin typeface="Proxima Nova"/>
                <a:ea typeface="Proxima Nova"/>
                <a:cs typeface="Proxima Nova"/>
                <a:sym typeface="Proxima Nova"/>
              </a:rPr>
              <a:t> es una </a:t>
            </a:r>
            <a:r>
              <a:rPr b="1" i="0" lang="en" sz="1600" u="none" cap="none" strike="noStrike">
                <a:solidFill>
                  <a:srgbClr val="616161"/>
                </a:solidFill>
                <a:latin typeface="Proxima Nova"/>
                <a:ea typeface="Proxima Nova"/>
                <a:cs typeface="Proxima Nova"/>
                <a:sym typeface="Proxima Nova"/>
              </a:rPr>
              <a:t>notación simbólica</a:t>
            </a:r>
            <a:r>
              <a:rPr b="0" i="0" lang="en" sz="1600" u="none" cap="none" strike="noStrike">
                <a:solidFill>
                  <a:srgbClr val="616161"/>
                </a:solidFill>
                <a:latin typeface="Proxima Nova"/>
                <a:ea typeface="Proxima Nova"/>
                <a:cs typeface="Proxima Nova"/>
                <a:sym typeface="Proxima Nova"/>
              </a:rPr>
              <a:t> que nos permite representar </a:t>
            </a:r>
            <a:r>
              <a:rPr b="1" i="0" lang="en" sz="1600" u="none" cap="none" strike="noStrike">
                <a:solidFill>
                  <a:srgbClr val="616161"/>
                </a:solidFill>
                <a:latin typeface="Proxima Nova"/>
                <a:ea typeface="Proxima Nova"/>
                <a:cs typeface="Proxima Nova"/>
                <a:sym typeface="Proxima Nova"/>
              </a:rPr>
              <a:t>sumas de muchos sumandos</a:t>
            </a:r>
            <a:r>
              <a:rPr b="0" i="0" lang="en" sz="1600" u="none" cap="none" strike="noStrike">
                <a:solidFill>
                  <a:srgbClr val="616161"/>
                </a:solidFill>
                <a:latin typeface="Proxima Nova"/>
                <a:ea typeface="Proxima Nova"/>
                <a:cs typeface="Proxima Nova"/>
                <a:sym typeface="Proxima Nova"/>
              </a:rPr>
              <a:t>, o incluso infinitos, </a:t>
            </a:r>
            <a:r>
              <a:rPr b="1" i="0" lang="en" sz="1600" u="none" cap="none" strike="noStrike">
                <a:solidFill>
                  <a:srgbClr val="616161"/>
                </a:solidFill>
                <a:latin typeface="Proxima Nova"/>
                <a:ea typeface="Proxima Nova"/>
                <a:cs typeface="Proxima Nova"/>
                <a:sym typeface="Proxima Nova"/>
              </a:rPr>
              <a:t>sin tener que usar puntos suspensivos</a:t>
            </a:r>
            <a:r>
              <a:rPr b="0" i="0" lang="en" sz="1600" u="none" cap="none" strike="noStrike">
                <a:solidFill>
                  <a:srgbClr val="616161"/>
                </a:solidFill>
                <a:latin typeface="Proxima Nova"/>
                <a:ea typeface="Proxima Nova"/>
                <a:cs typeface="Proxima Nova"/>
                <a:sym typeface="Proxima Nova"/>
              </a:rPr>
              <a:t>! </a:t>
            </a:r>
            <a:endParaRPr b="0" i="0" sz="1600" u="none" cap="none" strike="noStrike">
              <a:solidFill>
                <a:srgbClr val="616161"/>
              </a:solidFill>
              <a:latin typeface="Proxima Nova"/>
              <a:ea typeface="Proxima Nova"/>
              <a:cs typeface="Proxima Nova"/>
              <a:sym typeface="Proxima Nova"/>
            </a:endParaRPr>
          </a:p>
        </p:txBody>
      </p:sp>
      <p:sp>
        <p:nvSpPr>
          <p:cNvPr id="308" name="Google Shape;308;p2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Sumatorias</a:t>
            </a:r>
            <a:endParaRPr b="1" i="0" sz="3600" u="none" cap="none" strike="noStrike">
              <a:solidFill>
                <a:srgbClr val="FFFFFF"/>
              </a:solidFill>
              <a:latin typeface="Helvetica Neue"/>
              <a:ea typeface="Helvetica Neue"/>
              <a:cs typeface="Helvetica Neue"/>
              <a:sym typeface="Helvetica Neue"/>
            </a:endParaRPr>
          </a:p>
        </p:txBody>
      </p:sp>
      <p:pic>
        <p:nvPicPr>
          <p:cNvPr id="309" name="Google Shape;309;p25"/>
          <p:cNvPicPr preferRelativeResize="0"/>
          <p:nvPr/>
        </p:nvPicPr>
        <p:blipFill rotWithShape="1">
          <a:blip r:embed="rId3">
            <a:alphaModFix/>
          </a:blip>
          <a:srcRect b="0" l="0" r="0" t="0"/>
          <a:stretch/>
        </p:blipFill>
        <p:spPr>
          <a:xfrm>
            <a:off x="1999526" y="2635062"/>
            <a:ext cx="5144947" cy="1265692"/>
          </a:xfrm>
          <a:prstGeom prst="rect">
            <a:avLst/>
          </a:prstGeom>
          <a:noFill/>
          <a:ln>
            <a:noFill/>
          </a:ln>
        </p:spPr>
      </p:pic>
      <p:sp>
        <p:nvSpPr>
          <p:cNvPr id="310" name="Google Shape;310;p25"/>
          <p:cNvSpPr txBox="1"/>
          <p:nvPr/>
        </p:nvSpPr>
        <p:spPr>
          <a:xfrm>
            <a:off x="260430" y="2221498"/>
            <a:ext cx="1544902" cy="104641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Sumatoria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(letra griega sigma mayúscula)</a:t>
            </a:r>
            <a:endParaRPr b="0" i="0" sz="1400" u="none" cap="none" strike="noStrike">
              <a:solidFill>
                <a:srgbClr val="000000"/>
              </a:solidFill>
              <a:latin typeface="Arial"/>
              <a:ea typeface="Arial"/>
              <a:cs typeface="Arial"/>
              <a:sym typeface="Arial"/>
            </a:endParaRPr>
          </a:p>
        </p:txBody>
      </p:sp>
      <p:sp>
        <p:nvSpPr>
          <p:cNvPr id="311" name="Google Shape;311;p25"/>
          <p:cNvSpPr txBox="1"/>
          <p:nvPr/>
        </p:nvSpPr>
        <p:spPr>
          <a:xfrm>
            <a:off x="479703" y="4127157"/>
            <a:ext cx="1304080"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Índice de la sumatoria</a:t>
            </a:r>
            <a:endParaRPr b="0" i="0" sz="1400" u="none" cap="none" strike="noStrike">
              <a:solidFill>
                <a:srgbClr val="000000"/>
              </a:solidFill>
              <a:latin typeface="Arial"/>
              <a:ea typeface="Arial"/>
              <a:cs typeface="Arial"/>
              <a:sym typeface="Arial"/>
            </a:endParaRPr>
          </a:p>
        </p:txBody>
      </p:sp>
      <p:sp>
        <p:nvSpPr>
          <p:cNvPr id="312" name="Google Shape;312;p25"/>
          <p:cNvSpPr txBox="1"/>
          <p:nvPr/>
        </p:nvSpPr>
        <p:spPr>
          <a:xfrm>
            <a:off x="5061995" y="3846095"/>
            <a:ext cx="3030638"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accent5"/>
                </a:solidFill>
                <a:latin typeface="Proxima Nova"/>
                <a:ea typeface="Proxima Nova"/>
                <a:cs typeface="Proxima Nova"/>
                <a:sym typeface="Proxima Nova"/>
              </a:rPr>
              <a:t>¿Qué representamos acá?</a:t>
            </a:r>
            <a:endParaRPr b="0" i="0" sz="1400" u="none" cap="none" strike="noStrike">
              <a:solidFill>
                <a:srgbClr val="000000"/>
              </a:solidFill>
              <a:latin typeface="Arial"/>
              <a:ea typeface="Arial"/>
              <a:cs typeface="Arial"/>
              <a:sym typeface="Arial"/>
            </a:endParaRPr>
          </a:p>
        </p:txBody>
      </p:sp>
      <p:cxnSp>
        <p:nvCxnSpPr>
          <p:cNvPr id="313" name="Google Shape;313;p25"/>
          <p:cNvCxnSpPr/>
          <p:nvPr/>
        </p:nvCxnSpPr>
        <p:spPr>
          <a:xfrm>
            <a:off x="1574156" y="2868583"/>
            <a:ext cx="371196" cy="221858"/>
          </a:xfrm>
          <a:prstGeom prst="straightConnector1">
            <a:avLst/>
          </a:prstGeom>
          <a:noFill/>
          <a:ln cap="flat" cmpd="sng" w="28575">
            <a:solidFill>
              <a:schemeClr val="dk1"/>
            </a:solidFill>
            <a:prstDash val="solid"/>
            <a:round/>
            <a:headEnd len="sm" w="sm" type="none"/>
            <a:tailEnd len="med" w="med" type="stealth"/>
          </a:ln>
        </p:spPr>
      </p:cxnSp>
      <p:cxnSp>
        <p:nvCxnSpPr>
          <p:cNvPr id="314" name="Google Shape;314;p25"/>
          <p:cNvCxnSpPr/>
          <p:nvPr/>
        </p:nvCxnSpPr>
        <p:spPr>
          <a:xfrm flipH="1">
            <a:off x="2500133" y="2361256"/>
            <a:ext cx="443048" cy="341433"/>
          </a:xfrm>
          <a:prstGeom prst="straightConnector1">
            <a:avLst/>
          </a:prstGeom>
          <a:noFill/>
          <a:ln cap="flat" cmpd="sng" w="28575">
            <a:solidFill>
              <a:schemeClr val="dk1"/>
            </a:solidFill>
            <a:prstDash val="solid"/>
            <a:round/>
            <a:headEnd len="sm" w="sm" type="none"/>
            <a:tailEnd len="med" w="med" type="stealth"/>
          </a:ln>
        </p:spPr>
      </p:cxnSp>
      <p:cxnSp>
        <p:nvCxnSpPr>
          <p:cNvPr id="315" name="Google Shape;315;p25"/>
          <p:cNvCxnSpPr/>
          <p:nvPr/>
        </p:nvCxnSpPr>
        <p:spPr>
          <a:xfrm flipH="1" rot="10800000">
            <a:off x="1574156" y="3895142"/>
            <a:ext cx="371197" cy="279418"/>
          </a:xfrm>
          <a:prstGeom prst="straightConnector1">
            <a:avLst/>
          </a:prstGeom>
          <a:noFill/>
          <a:ln cap="flat" cmpd="sng" w="28575">
            <a:solidFill>
              <a:schemeClr val="dk1"/>
            </a:solidFill>
            <a:prstDash val="solid"/>
            <a:round/>
            <a:headEnd len="sm" w="sm" type="none"/>
            <a:tailEnd len="med" w="med" type="stealth"/>
          </a:ln>
        </p:spPr>
      </p:cxnSp>
      <p:sp>
        <p:nvSpPr>
          <p:cNvPr id="316" name="Google Shape;316;p25"/>
          <p:cNvSpPr txBox="1"/>
          <p:nvPr/>
        </p:nvSpPr>
        <p:spPr>
          <a:xfrm>
            <a:off x="5061995" y="4127157"/>
            <a:ext cx="3030638"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sng" cap="none" strike="noStrike">
                <a:solidFill>
                  <a:schemeClr val="dk2"/>
                </a:solidFill>
                <a:latin typeface="Proxima Nova"/>
                <a:ea typeface="Proxima Nova"/>
                <a:cs typeface="Proxima Nova"/>
                <a:sym typeface="Proxima Nova"/>
              </a:rPr>
              <a:t>Sumamos</a:t>
            </a:r>
            <a:r>
              <a:rPr b="0" i="0" lang="en" sz="1400" u="none" cap="none" strike="noStrike">
                <a:solidFill>
                  <a:schemeClr val="dk2"/>
                </a:solidFill>
                <a:latin typeface="Proxima Nova"/>
                <a:ea typeface="Proxima Nova"/>
                <a:cs typeface="Proxima Nova"/>
                <a:sym typeface="Proxima Nova"/>
              </a:rPr>
              <a:t> n números a</a:t>
            </a:r>
            <a:r>
              <a:rPr b="0" baseline="-25000" i="0" lang="en" sz="1400" u="none" cap="none" strike="noStrike">
                <a:solidFill>
                  <a:schemeClr val="dk2"/>
                </a:solidFill>
                <a:latin typeface="Proxima Nova"/>
                <a:ea typeface="Proxima Nova"/>
                <a:cs typeface="Proxima Nova"/>
                <a:sym typeface="Proxima Nova"/>
              </a:rPr>
              <a:t>i</a:t>
            </a:r>
            <a:r>
              <a:rPr b="0" i="0" lang="en" sz="1400" u="none" cap="none" strike="noStrike">
                <a:solidFill>
                  <a:schemeClr val="dk2"/>
                </a:solidFill>
                <a:latin typeface="Proxima Nova"/>
                <a:ea typeface="Proxima Nova"/>
                <a:cs typeface="Proxima Nova"/>
                <a:sym typeface="Proxima Nova"/>
              </a:rPr>
              <a:t>, desde el primero (a</a:t>
            </a:r>
            <a:r>
              <a:rPr b="0" baseline="-25000" i="0" lang="en" sz="1400" u="none" cap="none" strike="noStrike">
                <a:solidFill>
                  <a:schemeClr val="dk2"/>
                </a:solidFill>
                <a:latin typeface="Proxima Nova"/>
                <a:ea typeface="Proxima Nova"/>
                <a:cs typeface="Proxima Nova"/>
                <a:sym typeface="Proxima Nova"/>
              </a:rPr>
              <a:t>1</a:t>
            </a:r>
            <a:r>
              <a:rPr b="0" i="0" lang="en" sz="1400" u="none" cap="none" strike="noStrike">
                <a:solidFill>
                  <a:schemeClr val="dk2"/>
                </a:solidFill>
                <a:latin typeface="Proxima Nova"/>
                <a:ea typeface="Proxima Nova"/>
                <a:cs typeface="Proxima Nova"/>
                <a:sym typeface="Proxima Nova"/>
              </a:rPr>
              <a:t>) hasta el n-ésimo (a</a:t>
            </a:r>
            <a:r>
              <a:rPr b="0" baseline="-25000" i="0" lang="en" sz="1400" u="none" cap="none" strike="noStrike">
                <a:solidFill>
                  <a:schemeClr val="dk2"/>
                </a:solidFill>
                <a:latin typeface="Proxima Nova"/>
                <a:ea typeface="Proxima Nova"/>
                <a:cs typeface="Proxima Nova"/>
                <a:sym typeface="Proxima Nova"/>
              </a:rPr>
              <a:t>n</a:t>
            </a:r>
            <a:r>
              <a:rPr b="0" i="0" lang="en" sz="1400" u="none" cap="none" strike="noStrike">
                <a:solidFill>
                  <a:schemeClr val="dk2"/>
                </a:solidFill>
                <a:latin typeface="Proxima Nova"/>
                <a:ea typeface="Proxima Nova"/>
                <a:cs typeface="Proxima Nova"/>
                <a:sym typeface="Proxima Nova"/>
              </a:rPr>
              <a:t>)</a:t>
            </a:r>
            <a:endParaRPr b="0" i="0" sz="1400" u="none" cap="none" strike="noStrike">
              <a:solidFill>
                <a:srgbClr val="000000"/>
              </a:solidFill>
              <a:latin typeface="Arial"/>
              <a:ea typeface="Arial"/>
              <a:cs typeface="Arial"/>
              <a:sym typeface="Arial"/>
            </a:endParaRPr>
          </a:p>
        </p:txBody>
      </p:sp>
      <p:sp>
        <p:nvSpPr>
          <p:cNvPr id="317" name="Google Shape;317;p25"/>
          <p:cNvSpPr txBox="1"/>
          <p:nvPr/>
        </p:nvSpPr>
        <p:spPr>
          <a:xfrm>
            <a:off x="2598517" y="4174560"/>
            <a:ext cx="1304080"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Valor inicial del índice i</a:t>
            </a:r>
            <a:endParaRPr b="0" i="0" sz="1400" u="none" cap="none" strike="noStrike">
              <a:solidFill>
                <a:srgbClr val="000000"/>
              </a:solidFill>
              <a:latin typeface="Arial"/>
              <a:ea typeface="Arial"/>
              <a:cs typeface="Arial"/>
              <a:sym typeface="Arial"/>
            </a:endParaRPr>
          </a:p>
        </p:txBody>
      </p:sp>
      <p:cxnSp>
        <p:nvCxnSpPr>
          <p:cNvPr id="318" name="Google Shape;318;p25"/>
          <p:cNvCxnSpPr/>
          <p:nvPr/>
        </p:nvCxnSpPr>
        <p:spPr>
          <a:xfrm rot="10800000">
            <a:off x="2598517" y="3964066"/>
            <a:ext cx="344664" cy="237629"/>
          </a:xfrm>
          <a:prstGeom prst="straightConnector1">
            <a:avLst/>
          </a:prstGeom>
          <a:noFill/>
          <a:ln cap="flat" cmpd="sng" w="28575">
            <a:solidFill>
              <a:schemeClr val="dk1"/>
            </a:solidFill>
            <a:prstDash val="solid"/>
            <a:round/>
            <a:headEnd len="sm" w="sm" type="none"/>
            <a:tailEnd len="med" w="med" type="stealth"/>
          </a:ln>
        </p:spPr>
      </p:cxnSp>
      <p:sp>
        <p:nvSpPr>
          <p:cNvPr id="319" name="Google Shape;319;p25"/>
          <p:cNvSpPr txBox="1"/>
          <p:nvPr/>
        </p:nvSpPr>
        <p:spPr>
          <a:xfrm>
            <a:off x="3392346" y="2369673"/>
            <a:ext cx="3268883"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Expresión matemática que se sumará (n+1) – valor inicial del índice i</a:t>
            </a:r>
            <a:endParaRPr b="0" i="0" sz="1400" u="none" cap="none" strike="noStrike">
              <a:solidFill>
                <a:srgbClr val="000000"/>
              </a:solidFill>
              <a:latin typeface="Arial"/>
              <a:ea typeface="Arial"/>
              <a:cs typeface="Arial"/>
              <a:sym typeface="Arial"/>
            </a:endParaRPr>
          </a:p>
        </p:txBody>
      </p:sp>
      <p:cxnSp>
        <p:nvCxnSpPr>
          <p:cNvPr id="320" name="Google Shape;320;p25"/>
          <p:cNvCxnSpPr/>
          <p:nvPr/>
        </p:nvCxnSpPr>
        <p:spPr>
          <a:xfrm flipH="1">
            <a:off x="3049929" y="2806861"/>
            <a:ext cx="648182" cy="283580"/>
          </a:xfrm>
          <a:prstGeom prst="straightConnector1">
            <a:avLst/>
          </a:prstGeom>
          <a:noFill/>
          <a:ln cap="flat" cmpd="sng" w="28575">
            <a:solidFill>
              <a:schemeClr val="dk1"/>
            </a:solidFill>
            <a:prstDash val="solid"/>
            <a:round/>
            <a:headEnd len="sm" w="sm" type="none"/>
            <a:tailEnd len="med" w="med" type="stealth"/>
          </a:ln>
        </p:spPr>
      </p:cxnSp>
      <p:sp>
        <p:nvSpPr>
          <p:cNvPr id="321" name="Google Shape;321;p25"/>
          <p:cNvSpPr txBox="1"/>
          <p:nvPr/>
        </p:nvSpPr>
        <p:spPr>
          <a:xfrm>
            <a:off x="2626488" y="2029103"/>
            <a:ext cx="3403922"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Límite hasta el que va a iterar la suma</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6"/>
          <p:cNvSpPr txBox="1"/>
          <p:nvPr/>
        </p:nvSpPr>
        <p:spPr>
          <a:xfrm>
            <a:off x="260430" y="1238942"/>
            <a:ext cx="8351136"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definir un número natural n como la suma de n veces el número 1.</a:t>
            </a:r>
            <a:endParaRPr b="0" i="0" sz="1600" u="none" cap="none" strike="noStrike">
              <a:solidFill>
                <a:srgbClr val="616161"/>
              </a:solidFill>
              <a:latin typeface="Proxima Nova"/>
              <a:ea typeface="Proxima Nova"/>
              <a:cs typeface="Proxima Nova"/>
              <a:sym typeface="Proxima Nova"/>
            </a:endParaRPr>
          </a:p>
        </p:txBody>
      </p:sp>
      <p:sp>
        <p:nvSpPr>
          <p:cNvPr id="327" name="Google Shape;327;p2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Sumatorias</a:t>
            </a:r>
            <a:endParaRPr b="1" i="0" sz="3600" u="none" cap="none" strike="noStrike">
              <a:solidFill>
                <a:srgbClr val="FFFFFF"/>
              </a:solidFill>
              <a:latin typeface="Helvetica Neue"/>
              <a:ea typeface="Helvetica Neue"/>
              <a:cs typeface="Helvetica Neue"/>
              <a:sym typeface="Helvetica Neue"/>
            </a:endParaRPr>
          </a:p>
        </p:txBody>
      </p:sp>
      <p:pic>
        <p:nvPicPr>
          <p:cNvPr id="328" name="Google Shape;328;p26"/>
          <p:cNvPicPr preferRelativeResize="0"/>
          <p:nvPr/>
        </p:nvPicPr>
        <p:blipFill rotWithShape="1">
          <a:blip r:embed="rId3">
            <a:alphaModFix/>
          </a:blip>
          <a:srcRect b="0" l="0" r="84289" t="0"/>
          <a:stretch/>
        </p:blipFill>
        <p:spPr>
          <a:xfrm>
            <a:off x="1707266" y="2361957"/>
            <a:ext cx="856526" cy="133357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7"/>
          <p:cNvSpPr txBox="1"/>
          <p:nvPr/>
        </p:nvSpPr>
        <p:spPr>
          <a:xfrm>
            <a:off x="260430" y="1238942"/>
            <a:ext cx="8351136"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definir un número natural n como la suma de n veces el número 1.</a:t>
            </a:r>
            <a:endParaRPr b="0" i="0" sz="1600" u="none" cap="none" strike="noStrike">
              <a:solidFill>
                <a:srgbClr val="616161"/>
              </a:solidFill>
              <a:latin typeface="Proxima Nova"/>
              <a:ea typeface="Proxima Nova"/>
              <a:cs typeface="Proxima Nova"/>
              <a:sym typeface="Proxima Nova"/>
            </a:endParaRPr>
          </a:p>
        </p:txBody>
      </p:sp>
      <p:sp>
        <p:nvSpPr>
          <p:cNvPr id="334" name="Google Shape;334;p27"/>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Sumatorias</a:t>
            </a:r>
            <a:endParaRPr b="1" i="0" sz="3600" u="none" cap="none" strike="noStrike">
              <a:solidFill>
                <a:srgbClr val="FFFFFF"/>
              </a:solidFill>
              <a:latin typeface="Helvetica Neue"/>
              <a:ea typeface="Helvetica Neue"/>
              <a:cs typeface="Helvetica Neue"/>
              <a:sym typeface="Helvetica Neue"/>
            </a:endParaRPr>
          </a:p>
        </p:txBody>
      </p:sp>
      <p:pic>
        <p:nvPicPr>
          <p:cNvPr id="335" name="Google Shape;335;p27"/>
          <p:cNvPicPr preferRelativeResize="0"/>
          <p:nvPr/>
        </p:nvPicPr>
        <p:blipFill rotWithShape="1">
          <a:blip r:embed="rId3">
            <a:alphaModFix/>
          </a:blip>
          <a:srcRect b="0" l="0" r="63376" t="0"/>
          <a:stretch/>
        </p:blipFill>
        <p:spPr>
          <a:xfrm>
            <a:off x="1707266" y="2361957"/>
            <a:ext cx="1996633" cy="1333578"/>
          </a:xfrm>
          <a:prstGeom prst="rect">
            <a:avLst/>
          </a:prstGeom>
          <a:noFill/>
          <a:ln>
            <a:noFill/>
          </a:ln>
        </p:spPr>
      </p:pic>
      <p:sp>
        <p:nvSpPr>
          <p:cNvPr id="336" name="Google Shape;336;p27"/>
          <p:cNvSpPr txBox="1"/>
          <p:nvPr/>
        </p:nvSpPr>
        <p:spPr>
          <a:xfrm>
            <a:off x="3650848" y="2019030"/>
            <a:ext cx="2040038"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Proxima Nova"/>
                <a:ea typeface="Proxima Nova"/>
                <a:cs typeface="Proxima Nova"/>
                <a:sym typeface="Proxima Nova"/>
              </a:rPr>
              <a:t>Voy a sumar n veces…</a:t>
            </a:r>
            <a:endParaRPr b="0" i="0" sz="1400" u="none" cap="none" strike="noStrike">
              <a:solidFill>
                <a:srgbClr val="000000"/>
              </a:solidFill>
              <a:latin typeface="Arial"/>
              <a:ea typeface="Arial"/>
              <a:cs typeface="Arial"/>
              <a:sym typeface="Arial"/>
            </a:endParaRPr>
          </a:p>
        </p:txBody>
      </p:sp>
      <p:cxnSp>
        <p:nvCxnSpPr>
          <p:cNvPr id="337" name="Google Shape;337;p27"/>
          <p:cNvCxnSpPr/>
          <p:nvPr/>
        </p:nvCxnSpPr>
        <p:spPr>
          <a:xfrm flipH="1">
            <a:off x="3183039" y="2249456"/>
            <a:ext cx="467809" cy="169653"/>
          </a:xfrm>
          <a:prstGeom prst="straightConnector1">
            <a:avLst/>
          </a:prstGeom>
          <a:noFill/>
          <a:ln cap="flat" cmpd="sng" w="28575">
            <a:solidFill>
              <a:schemeClr val="dk2"/>
            </a:solidFill>
            <a:prstDash val="solid"/>
            <a:round/>
            <a:headEnd len="sm" w="sm" type="none"/>
            <a:tailEnd len="med" w="med" type="stealth"/>
          </a:ln>
        </p:spPr>
      </p:cxnSp>
      <p:sp>
        <p:nvSpPr>
          <p:cNvPr id="338" name="Google Shape;338;p27"/>
          <p:cNvSpPr txBox="1"/>
          <p:nvPr/>
        </p:nvSpPr>
        <p:spPr>
          <a:xfrm>
            <a:off x="3887645" y="3636130"/>
            <a:ext cx="2040038" cy="400079"/>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Proxima Nova"/>
                <a:ea typeface="Proxima Nova"/>
                <a:cs typeface="Proxima Nova"/>
                <a:sym typeface="Proxima Nova"/>
              </a:rPr>
              <a:t>… al número 1</a:t>
            </a:r>
            <a:endParaRPr b="0" i="0" sz="1400" u="none" cap="none" strike="noStrike">
              <a:solidFill>
                <a:srgbClr val="000000"/>
              </a:solidFill>
              <a:latin typeface="Arial"/>
              <a:ea typeface="Arial"/>
              <a:cs typeface="Arial"/>
              <a:sym typeface="Arial"/>
            </a:endParaRPr>
          </a:p>
        </p:txBody>
      </p:sp>
      <p:cxnSp>
        <p:nvCxnSpPr>
          <p:cNvPr id="339" name="Google Shape;339;p27"/>
          <p:cNvCxnSpPr/>
          <p:nvPr/>
        </p:nvCxnSpPr>
        <p:spPr>
          <a:xfrm rot="10800000">
            <a:off x="3615641" y="3307004"/>
            <a:ext cx="272004" cy="450041"/>
          </a:xfrm>
          <a:prstGeom prst="straightConnector1">
            <a:avLst/>
          </a:prstGeom>
          <a:noFill/>
          <a:ln cap="flat" cmpd="sng" w="28575">
            <a:solidFill>
              <a:schemeClr val="dk2"/>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8"/>
          <p:cNvSpPr txBox="1"/>
          <p:nvPr/>
        </p:nvSpPr>
        <p:spPr>
          <a:xfrm>
            <a:off x="260430" y="1238942"/>
            <a:ext cx="8351136"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definir un número natural n como la suma de n veces el número 1.</a:t>
            </a:r>
            <a:endParaRPr b="0" i="0" sz="1600" u="none" cap="none" strike="noStrike">
              <a:solidFill>
                <a:srgbClr val="616161"/>
              </a:solidFill>
              <a:latin typeface="Proxima Nova"/>
              <a:ea typeface="Proxima Nova"/>
              <a:cs typeface="Proxima Nova"/>
              <a:sym typeface="Proxima Nova"/>
            </a:endParaRPr>
          </a:p>
        </p:txBody>
      </p:sp>
      <p:sp>
        <p:nvSpPr>
          <p:cNvPr id="345" name="Google Shape;345;p28"/>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Sumatorias</a:t>
            </a:r>
            <a:endParaRPr b="1" i="0" sz="3600" u="none" cap="none" strike="noStrike">
              <a:solidFill>
                <a:srgbClr val="FFFFFF"/>
              </a:solidFill>
              <a:latin typeface="Helvetica Neue"/>
              <a:ea typeface="Helvetica Neue"/>
              <a:cs typeface="Helvetica Neue"/>
              <a:sym typeface="Helvetica Neue"/>
            </a:endParaRPr>
          </a:p>
        </p:txBody>
      </p:sp>
      <p:pic>
        <p:nvPicPr>
          <p:cNvPr id="346" name="Google Shape;346;p28"/>
          <p:cNvPicPr preferRelativeResize="0"/>
          <p:nvPr/>
        </p:nvPicPr>
        <p:blipFill rotWithShape="1">
          <a:blip r:embed="rId3">
            <a:alphaModFix/>
          </a:blip>
          <a:srcRect b="0" l="0" r="0" t="0"/>
          <a:stretch/>
        </p:blipFill>
        <p:spPr>
          <a:xfrm>
            <a:off x="1707266" y="2361957"/>
            <a:ext cx="5451676" cy="1333578"/>
          </a:xfrm>
          <a:prstGeom prst="rect">
            <a:avLst/>
          </a:prstGeom>
          <a:noFill/>
          <a:ln>
            <a:noFill/>
          </a:ln>
        </p:spPr>
      </p:pic>
      <p:sp>
        <p:nvSpPr>
          <p:cNvPr id="347" name="Google Shape;347;p28"/>
          <p:cNvSpPr txBox="1"/>
          <p:nvPr/>
        </p:nvSpPr>
        <p:spPr>
          <a:xfrm>
            <a:off x="3650848" y="2019030"/>
            <a:ext cx="2040038"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Proxima Nova"/>
                <a:ea typeface="Proxima Nova"/>
                <a:cs typeface="Proxima Nova"/>
                <a:sym typeface="Proxima Nova"/>
              </a:rPr>
              <a:t>Voy a sumar n veces…</a:t>
            </a:r>
            <a:endParaRPr b="0" i="0" sz="1400" u="none" cap="none" strike="noStrike">
              <a:solidFill>
                <a:srgbClr val="000000"/>
              </a:solidFill>
              <a:latin typeface="Arial"/>
              <a:ea typeface="Arial"/>
              <a:cs typeface="Arial"/>
              <a:sym typeface="Arial"/>
            </a:endParaRPr>
          </a:p>
        </p:txBody>
      </p:sp>
      <p:cxnSp>
        <p:nvCxnSpPr>
          <p:cNvPr id="348" name="Google Shape;348;p28"/>
          <p:cNvCxnSpPr/>
          <p:nvPr/>
        </p:nvCxnSpPr>
        <p:spPr>
          <a:xfrm flipH="1">
            <a:off x="3183039" y="2249456"/>
            <a:ext cx="467809" cy="169653"/>
          </a:xfrm>
          <a:prstGeom prst="straightConnector1">
            <a:avLst/>
          </a:prstGeom>
          <a:noFill/>
          <a:ln cap="flat" cmpd="sng" w="28575">
            <a:solidFill>
              <a:schemeClr val="dk2"/>
            </a:solidFill>
            <a:prstDash val="solid"/>
            <a:round/>
            <a:headEnd len="sm" w="sm" type="none"/>
            <a:tailEnd len="med" w="med" type="stealth"/>
          </a:ln>
        </p:spPr>
      </p:cxnSp>
      <p:sp>
        <p:nvSpPr>
          <p:cNvPr id="349" name="Google Shape;349;p28"/>
          <p:cNvSpPr txBox="1"/>
          <p:nvPr/>
        </p:nvSpPr>
        <p:spPr>
          <a:xfrm>
            <a:off x="3887645" y="3636130"/>
            <a:ext cx="2040038" cy="400079"/>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Proxima Nova"/>
                <a:ea typeface="Proxima Nova"/>
                <a:cs typeface="Proxima Nova"/>
                <a:sym typeface="Proxima Nova"/>
              </a:rPr>
              <a:t>… al número 1</a:t>
            </a:r>
            <a:endParaRPr b="0" i="0" sz="1400" u="none" cap="none" strike="noStrike">
              <a:solidFill>
                <a:srgbClr val="000000"/>
              </a:solidFill>
              <a:latin typeface="Arial"/>
              <a:ea typeface="Arial"/>
              <a:cs typeface="Arial"/>
              <a:sym typeface="Arial"/>
            </a:endParaRPr>
          </a:p>
        </p:txBody>
      </p:sp>
      <p:cxnSp>
        <p:nvCxnSpPr>
          <p:cNvPr id="350" name="Google Shape;350;p28"/>
          <p:cNvCxnSpPr/>
          <p:nvPr/>
        </p:nvCxnSpPr>
        <p:spPr>
          <a:xfrm rot="10800000">
            <a:off x="3615641" y="3307004"/>
            <a:ext cx="272004" cy="450041"/>
          </a:xfrm>
          <a:prstGeom prst="straightConnector1">
            <a:avLst/>
          </a:prstGeom>
          <a:noFill/>
          <a:ln cap="flat" cmpd="sng" w="28575">
            <a:solidFill>
              <a:schemeClr val="dk2"/>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9"/>
          <p:cNvSpPr txBox="1"/>
          <p:nvPr/>
        </p:nvSpPr>
        <p:spPr>
          <a:xfrm>
            <a:off x="260430" y="848375"/>
            <a:ext cx="8351136"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 2:</a:t>
            </a:r>
            <a:r>
              <a:rPr b="0" i="0" lang="en" sz="1600" u="none" cap="none" strike="noStrike">
                <a:solidFill>
                  <a:srgbClr val="616161"/>
                </a:solidFill>
                <a:latin typeface="Proxima Nova"/>
                <a:ea typeface="Proxima Nova"/>
                <a:cs typeface="Proxima Nova"/>
                <a:sym typeface="Proxima Nova"/>
              </a:rPr>
              <a:t> resolver</a:t>
            </a:r>
            <a:endParaRPr b="0" i="0" sz="1600" u="none" cap="none" strike="noStrike">
              <a:solidFill>
                <a:srgbClr val="616161"/>
              </a:solidFill>
              <a:latin typeface="Proxima Nova"/>
              <a:ea typeface="Proxima Nova"/>
              <a:cs typeface="Proxima Nova"/>
              <a:sym typeface="Proxima Nova"/>
            </a:endParaRPr>
          </a:p>
        </p:txBody>
      </p:sp>
      <p:sp>
        <p:nvSpPr>
          <p:cNvPr id="356" name="Google Shape;356;p29"/>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Sumatorias</a:t>
            </a:r>
            <a:endParaRPr b="1" i="0" sz="3600" u="none" cap="none" strike="noStrike">
              <a:solidFill>
                <a:srgbClr val="FFFFFF"/>
              </a:solidFill>
              <a:latin typeface="Helvetica Neue"/>
              <a:ea typeface="Helvetica Neue"/>
              <a:cs typeface="Helvetica Neue"/>
              <a:sym typeface="Helvetica Neue"/>
            </a:endParaRPr>
          </a:p>
        </p:txBody>
      </p:sp>
      <p:pic>
        <p:nvPicPr>
          <p:cNvPr id="357" name="Google Shape;357;p29"/>
          <p:cNvPicPr preferRelativeResize="0"/>
          <p:nvPr/>
        </p:nvPicPr>
        <p:blipFill rotWithShape="1">
          <a:blip r:embed="rId3">
            <a:alphaModFix/>
          </a:blip>
          <a:srcRect b="0" l="0" r="82305" t="0"/>
          <a:stretch/>
        </p:blipFill>
        <p:spPr>
          <a:xfrm>
            <a:off x="694480" y="1824011"/>
            <a:ext cx="1128533" cy="120798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0"/>
          <p:cNvSpPr txBox="1"/>
          <p:nvPr/>
        </p:nvSpPr>
        <p:spPr>
          <a:xfrm>
            <a:off x="260430" y="848375"/>
            <a:ext cx="8351136"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 2:</a:t>
            </a:r>
            <a:r>
              <a:rPr b="0" i="0" lang="en" sz="1600" u="none" cap="none" strike="noStrike">
                <a:solidFill>
                  <a:srgbClr val="616161"/>
                </a:solidFill>
                <a:latin typeface="Proxima Nova"/>
                <a:ea typeface="Proxima Nova"/>
                <a:cs typeface="Proxima Nova"/>
                <a:sym typeface="Proxima Nova"/>
              </a:rPr>
              <a:t> resolver</a:t>
            </a:r>
            <a:endParaRPr b="0" i="0" sz="1600" u="none" cap="none" strike="noStrike">
              <a:solidFill>
                <a:srgbClr val="616161"/>
              </a:solidFill>
              <a:latin typeface="Proxima Nova"/>
              <a:ea typeface="Proxima Nova"/>
              <a:cs typeface="Proxima Nova"/>
              <a:sym typeface="Proxima Nova"/>
            </a:endParaRPr>
          </a:p>
        </p:txBody>
      </p:sp>
      <p:sp>
        <p:nvSpPr>
          <p:cNvPr id="363" name="Google Shape;363;p30"/>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Sumatorias</a:t>
            </a:r>
            <a:endParaRPr b="1" i="0" sz="3600" u="none" cap="none" strike="noStrike">
              <a:solidFill>
                <a:srgbClr val="FFFFFF"/>
              </a:solidFill>
              <a:latin typeface="Helvetica Neue"/>
              <a:ea typeface="Helvetica Neue"/>
              <a:cs typeface="Helvetica Neue"/>
              <a:sym typeface="Helvetica Neue"/>
            </a:endParaRPr>
          </a:p>
        </p:txBody>
      </p:sp>
      <p:pic>
        <p:nvPicPr>
          <p:cNvPr id="364" name="Google Shape;364;p30"/>
          <p:cNvPicPr preferRelativeResize="0"/>
          <p:nvPr/>
        </p:nvPicPr>
        <p:blipFill rotWithShape="1">
          <a:blip r:embed="rId3">
            <a:alphaModFix/>
          </a:blip>
          <a:srcRect b="0" l="0" r="0" t="0"/>
          <a:stretch/>
        </p:blipFill>
        <p:spPr>
          <a:xfrm>
            <a:off x="694480" y="1824011"/>
            <a:ext cx="6377651" cy="1207989"/>
          </a:xfrm>
          <a:prstGeom prst="rect">
            <a:avLst/>
          </a:prstGeom>
          <a:noFill/>
          <a:ln>
            <a:noFill/>
          </a:ln>
        </p:spPr>
      </p:pic>
      <p:pic>
        <p:nvPicPr>
          <p:cNvPr id="365" name="Google Shape;365;p30"/>
          <p:cNvPicPr preferRelativeResize="0"/>
          <p:nvPr/>
        </p:nvPicPr>
        <p:blipFill rotWithShape="1">
          <a:blip r:embed="rId4">
            <a:alphaModFix/>
          </a:blip>
          <a:srcRect b="0" l="0" r="0" t="0"/>
          <a:stretch/>
        </p:blipFill>
        <p:spPr>
          <a:xfrm>
            <a:off x="1908093" y="3344529"/>
            <a:ext cx="4625815" cy="93721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1"/>
          <p:cNvSpPr txBox="1"/>
          <p:nvPr/>
        </p:nvSpPr>
        <p:spPr>
          <a:xfrm>
            <a:off x="260430" y="941806"/>
            <a:ext cx="8351136" cy="956129"/>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0" i="0" lang="en" sz="1600" u="none" cap="none" strike="noStrike">
                <a:solidFill>
                  <a:srgbClr val="616161"/>
                </a:solidFill>
                <a:latin typeface="Proxima Nova"/>
                <a:ea typeface="Proxima Nova"/>
                <a:cs typeface="Proxima Nova"/>
                <a:sym typeface="Proxima Nova"/>
              </a:rPr>
              <a:t>La </a:t>
            </a:r>
            <a:r>
              <a:rPr b="1" i="0" lang="en" sz="1600" u="sng" cap="none" strike="noStrike">
                <a:solidFill>
                  <a:srgbClr val="616161"/>
                </a:solidFill>
                <a:latin typeface="Proxima Nova"/>
                <a:ea typeface="Proxima Nova"/>
                <a:cs typeface="Proxima Nova"/>
                <a:sym typeface="Proxima Nova"/>
              </a:rPr>
              <a:t>productoria</a:t>
            </a:r>
            <a:r>
              <a:rPr b="0" i="0" lang="en" sz="1600" u="none" cap="none" strike="noStrike">
                <a:solidFill>
                  <a:srgbClr val="616161"/>
                </a:solidFill>
                <a:latin typeface="Proxima Nova"/>
                <a:ea typeface="Proxima Nova"/>
                <a:cs typeface="Proxima Nova"/>
                <a:sym typeface="Proxima Nova"/>
              </a:rPr>
              <a:t> es una </a:t>
            </a:r>
            <a:r>
              <a:rPr b="1" i="0" lang="en" sz="1600" u="none" cap="none" strike="noStrike">
                <a:solidFill>
                  <a:srgbClr val="616161"/>
                </a:solidFill>
                <a:latin typeface="Proxima Nova"/>
                <a:ea typeface="Proxima Nova"/>
                <a:cs typeface="Proxima Nova"/>
                <a:sym typeface="Proxima Nova"/>
              </a:rPr>
              <a:t>notación simbólica</a:t>
            </a:r>
            <a:r>
              <a:rPr b="0" i="0" lang="en" sz="1600" u="none" cap="none" strike="noStrike">
                <a:solidFill>
                  <a:srgbClr val="616161"/>
                </a:solidFill>
                <a:latin typeface="Proxima Nova"/>
                <a:ea typeface="Proxima Nova"/>
                <a:cs typeface="Proxima Nova"/>
                <a:sym typeface="Proxima Nova"/>
              </a:rPr>
              <a:t> que nos permite representar </a:t>
            </a:r>
            <a:r>
              <a:rPr b="1" i="0" lang="en" sz="1600" u="none" cap="none" strike="noStrike">
                <a:solidFill>
                  <a:srgbClr val="616161"/>
                </a:solidFill>
                <a:latin typeface="Proxima Nova"/>
                <a:ea typeface="Proxima Nova"/>
                <a:cs typeface="Proxima Nova"/>
                <a:sym typeface="Proxima Nova"/>
              </a:rPr>
              <a:t>productos de muchos factores</a:t>
            </a:r>
            <a:r>
              <a:rPr b="0" i="0" lang="en" sz="1600" u="none" cap="none" strike="noStrike">
                <a:solidFill>
                  <a:srgbClr val="616161"/>
                </a:solidFill>
                <a:latin typeface="Proxima Nova"/>
                <a:ea typeface="Proxima Nova"/>
                <a:cs typeface="Proxima Nova"/>
                <a:sym typeface="Proxima Nova"/>
              </a:rPr>
              <a:t>, incluso infinitos, </a:t>
            </a:r>
            <a:r>
              <a:rPr b="1" i="0" lang="en" sz="1600" u="none" cap="none" strike="noStrike">
                <a:solidFill>
                  <a:srgbClr val="616161"/>
                </a:solidFill>
                <a:latin typeface="Proxima Nova"/>
                <a:ea typeface="Proxima Nova"/>
                <a:cs typeface="Proxima Nova"/>
                <a:sym typeface="Proxima Nova"/>
              </a:rPr>
              <a:t>sin tener que usar puntos suspensivos</a:t>
            </a:r>
            <a:r>
              <a:rPr b="0" i="0" lang="en" sz="1600" u="none" cap="none" strike="noStrike">
                <a:solidFill>
                  <a:srgbClr val="616161"/>
                </a:solidFill>
                <a:latin typeface="Proxima Nova"/>
                <a:ea typeface="Proxima Nova"/>
                <a:cs typeface="Proxima Nova"/>
                <a:sym typeface="Proxima Nova"/>
              </a:rPr>
              <a:t>! </a:t>
            </a:r>
            <a:endParaRPr b="0" i="0" sz="1600" u="none" cap="none" strike="noStrike">
              <a:solidFill>
                <a:srgbClr val="616161"/>
              </a:solidFill>
              <a:latin typeface="Proxima Nova"/>
              <a:ea typeface="Proxima Nova"/>
              <a:cs typeface="Proxima Nova"/>
              <a:sym typeface="Proxima Nova"/>
            </a:endParaRPr>
          </a:p>
        </p:txBody>
      </p:sp>
      <p:sp>
        <p:nvSpPr>
          <p:cNvPr id="371" name="Google Shape;371;p31"/>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Productorias</a:t>
            </a:r>
            <a:endParaRPr b="1" i="0" sz="3600" u="none" cap="none" strike="noStrike">
              <a:solidFill>
                <a:srgbClr val="FFFFFF"/>
              </a:solidFill>
              <a:latin typeface="Helvetica Neue"/>
              <a:ea typeface="Helvetica Neue"/>
              <a:cs typeface="Helvetica Neue"/>
              <a:sym typeface="Helvetica Neue"/>
            </a:endParaRPr>
          </a:p>
        </p:txBody>
      </p:sp>
      <p:sp>
        <p:nvSpPr>
          <p:cNvPr id="372" name="Google Shape;372;p31"/>
          <p:cNvSpPr txBox="1"/>
          <p:nvPr/>
        </p:nvSpPr>
        <p:spPr>
          <a:xfrm>
            <a:off x="260430" y="2221498"/>
            <a:ext cx="1544902" cy="104641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Productora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(letra griega </a:t>
            </a:r>
            <a:br>
              <a:rPr b="1" i="0" lang="en" sz="1400" u="none" cap="none" strike="noStrike">
                <a:solidFill>
                  <a:schemeClr val="dk1"/>
                </a:solidFill>
                <a:latin typeface="Proxima Nova"/>
                <a:ea typeface="Proxima Nova"/>
                <a:cs typeface="Proxima Nova"/>
                <a:sym typeface="Proxima Nova"/>
              </a:rPr>
            </a:br>
            <a:r>
              <a:rPr b="1" i="0" lang="en" sz="1400" u="none" cap="none" strike="noStrike">
                <a:solidFill>
                  <a:schemeClr val="dk1"/>
                </a:solidFill>
                <a:latin typeface="Proxima Nova"/>
                <a:ea typeface="Proxima Nova"/>
                <a:cs typeface="Proxima Nova"/>
                <a:sym typeface="Proxima Nova"/>
              </a:rPr>
              <a:t>pi en</a:t>
            </a:r>
            <a:br>
              <a:rPr b="1" i="0" lang="en" sz="1400" u="none" cap="none" strike="noStrike">
                <a:solidFill>
                  <a:schemeClr val="dk1"/>
                </a:solidFill>
                <a:latin typeface="Proxima Nova"/>
                <a:ea typeface="Proxima Nova"/>
                <a:cs typeface="Proxima Nova"/>
                <a:sym typeface="Proxima Nova"/>
              </a:rPr>
            </a:br>
            <a:r>
              <a:rPr b="1" i="0" lang="en" sz="1400" u="none" cap="none" strike="noStrike">
                <a:solidFill>
                  <a:schemeClr val="dk1"/>
                </a:solidFill>
                <a:latin typeface="Proxima Nova"/>
                <a:ea typeface="Proxima Nova"/>
                <a:cs typeface="Proxima Nova"/>
                <a:sym typeface="Proxima Nova"/>
              </a:rPr>
              <a:t>mayúscula)</a:t>
            </a:r>
            <a:endParaRPr b="0" i="0" sz="1400" u="none" cap="none" strike="noStrike">
              <a:solidFill>
                <a:srgbClr val="000000"/>
              </a:solidFill>
              <a:latin typeface="Arial"/>
              <a:ea typeface="Arial"/>
              <a:cs typeface="Arial"/>
              <a:sym typeface="Arial"/>
            </a:endParaRPr>
          </a:p>
        </p:txBody>
      </p:sp>
      <p:sp>
        <p:nvSpPr>
          <p:cNvPr id="373" name="Google Shape;373;p31"/>
          <p:cNvSpPr txBox="1"/>
          <p:nvPr/>
        </p:nvSpPr>
        <p:spPr>
          <a:xfrm>
            <a:off x="2626487" y="2029103"/>
            <a:ext cx="3785888"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Límite hasta el que va a iterar la productoria</a:t>
            </a:r>
            <a:endParaRPr b="0" i="0" sz="1400" u="none" cap="none" strike="noStrike">
              <a:solidFill>
                <a:srgbClr val="000000"/>
              </a:solidFill>
              <a:latin typeface="Arial"/>
              <a:ea typeface="Arial"/>
              <a:cs typeface="Arial"/>
              <a:sym typeface="Arial"/>
            </a:endParaRPr>
          </a:p>
        </p:txBody>
      </p:sp>
      <p:sp>
        <p:nvSpPr>
          <p:cNvPr id="374" name="Google Shape;374;p31"/>
          <p:cNvSpPr txBox="1"/>
          <p:nvPr/>
        </p:nvSpPr>
        <p:spPr>
          <a:xfrm>
            <a:off x="479703" y="4127157"/>
            <a:ext cx="1304080"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Índice de la productoria</a:t>
            </a:r>
            <a:endParaRPr b="0" i="0" sz="1400" u="none" cap="none" strike="noStrike">
              <a:solidFill>
                <a:srgbClr val="000000"/>
              </a:solidFill>
              <a:latin typeface="Arial"/>
              <a:ea typeface="Arial"/>
              <a:cs typeface="Arial"/>
              <a:sym typeface="Arial"/>
            </a:endParaRPr>
          </a:p>
        </p:txBody>
      </p:sp>
      <p:sp>
        <p:nvSpPr>
          <p:cNvPr id="375" name="Google Shape;375;p31"/>
          <p:cNvSpPr txBox="1"/>
          <p:nvPr/>
        </p:nvSpPr>
        <p:spPr>
          <a:xfrm>
            <a:off x="2598517" y="4174560"/>
            <a:ext cx="1304080"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Valor inicial del índice i</a:t>
            </a:r>
            <a:endParaRPr b="0" i="0" sz="1400" u="none" cap="none" strike="noStrike">
              <a:solidFill>
                <a:srgbClr val="000000"/>
              </a:solidFill>
              <a:latin typeface="Arial"/>
              <a:ea typeface="Arial"/>
              <a:cs typeface="Arial"/>
              <a:sym typeface="Arial"/>
            </a:endParaRPr>
          </a:p>
        </p:txBody>
      </p:sp>
      <p:sp>
        <p:nvSpPr>
          <p:cNvPr id="376" name="Google Shape;376;p31"/>
          <p:cNvSpPr txBox="1"/>
          <p:nvPr/>
        </p:nvSpPr>
        <p:spPr>
          <a:xfrm>
            <a:off x="5061995" y="3846095"/>
            <a:ext cx="3030638"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accent5"/>
                </a:solidFill>
                <a:latin typeface="Proxima Nova"/>
                <a:ea typeface="Proxima Nova"/>
                <a:cs typeface="Proxima Nova"/>
                <a:sym typeface="Proxima Nova"/>
              </a:rPr>
              <a:t>¿Qué representamos acá?</a:t>
            </a:r>
            <a:endParaRPr b="0" i="0" sz="1400" u="none" cap="none" strike="noStrike">
              <a:solidFill>
                <a:srgbClr val="000000"/>
              </a:solidFill>
              <a:latin typeface="Arial"/>
              <a:ea typeface="Arial"/>
              <a:cs typeface="Arial"/>
              <a:sym typeface="Arial"/>
            </a:endParaRPr>
          </a:p>
        </p:txBody>
      </p:sp>
      <p:cxnSp>
        <p:nvCxnSpPr>
          <p:cNvPr id="377" name="Google Shape;377;p31"/>
          <p:cNvCxnSpPr/>
          <p:nvPr/>
        </p:nvCxnSpPr>
        <p:spPr>
          <a:xfrm>
            <a:off x="1574156" y="2868583"/>
            <a:ext cx="371196" cy="221858"/>
          </a:xfrm>
          <a:prstGeom prst="straightConnector1">
            <a:avLst/>
          </a:prstGeom>
          <a:noFill/>
          <a:ln cap="flat" cmpd="sng" w="28575">
            <a:solidFill>
              <a:schemeClr val="dk1"/>
            </a:solidFill>
            <a:prstDash val="solid"/>
            <a:round/>
            <a:headEnd len="sm" w="sm" type="none"/>
            <a:tailEnd len="med" w="med" type="stealth"/>
          </a:ln>
        </p:spPr>
      </p:cxnSp>
      <p:cxnSp>
        <p:nvCxnSpPr>
          <p:cNvPr id="378" name="Google Shape;378;p31"/>
          <p:cNvCxnSpPr/>
          <p:nvPr/>
        </p:nvCxnSpPr>
        <p:spPr>
          <a:xfrm flipH="1">
            <a:off x="2500133" y="2361256"/>
            <a:ext cx="443048" cy="341433"/>
          </a:xfrm>
          <a:prstGeom prst="straightConnector1">
            <a:avLst/>
          </a:prstGeom>
          <a:noFill/>
          <a:ln cap="flat" cmpd="sng" w="28575">
            <a:solidFill>
              <a:schemeClr val="dk1"/>
            </a:solidFill>
            <a:prstDash val="solid"/>
            <a:round/>
            <a:headEnd len="sm" w="sm" type="none"/>
            <a:tailEnd len="med" w="med" type="stealth"/>
          </a:ln>
        </p:spPr>
      </p:cxnSp>
      <p:cxnSp>
        <p:nvCxnSpPr>
          <p:cNvPr id="379" name="Google Shape;379;p31"/>
          <p:cNvCxnSpPr/>
          <p:nvPr/>
        </p:nvCxnSpPr>
        <p:spPr>
          <a:xfrm rot="10800000">
            <a:off x="2598517" y="3964066"/>
            <a:ext cx="344664" cy="237629"/>
          </a:xfrm>
          <a:prstGeom prst="straightConnector1">
            <a:avLst/>
          </a:prstGeom>
          <a:noFill/>
          <a:ln cap="flat" cmpd="sng" w="28575">
            <a:solidFill>
              <a:schemeClr val="dk1"/>
            </a:solidFill>
            <a:prstDash val="solid"/>
            <a:round/>
            <a:headEnd len="sm" w="sm" type="none"/>
            <a:tailEnd len="med" w="med" type="stealth"/>
          </a:ln>
        </p:spPr>
      </p:cxnSp>
      <p:cxnSp>
        <p:nvCxnSpPr>
          <p:cNvPr id="380" name="Google Shape;380;p31"/>
          <p:cNvCxnSpPr/>
          <p:nvPr/>
        </p:nvCxnSpPr>
        <p:spPr>
          <a:xfrm flipH="1" rot="10800000">
            <a:off x="1574156" y="3895142"/>
            <a:ext cx="371197" cy="279418"/>
          </a:xfrm>
          <a:prstGeom prst="straightConnector1">
            <a:avLst/>
          </a:prstGeom>
          <a:noFill/>
          <a:ln cap="flat" cmpd="sng" w="28575">
            <a:solidFill>
              <a:schemeClr val="dk1"/>
            </a:solidFill>
            <a:prstDash val="solid"/>
            <a:round/>
            <a:headEnd len="sm" w="sm" type="none"/>
            <a:tailEnd len="med" w="med" type="stealth"/>
          </a:ln>
        </p:spPr>
      </p:cxnSp>
      <p:sp>
        <p:nvSpPr>
          <p:cNvPr id="381" name="Google Shape;381;p31"/>
          <p:cNvSpPr txBox="1"/>
          <p:nvPr/>
        </p:nvSpPr>
        <p:spPr>
          <a:xfrm>
            <a:off x="3392346" y="2369673"/>
            <a:ext cx="3557603"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Expresión matemática que se multiplicará (n+1) – valor inicial del índice i</a:t>
            </a:r>
            <a:endParaRPr b="0" i="0" sz="1400" u="none" cap="none" strike="noStrike">
              <a:solidFill>
                <a:srgbClr val="000000"/>
              </a:solidFill>
              <a:latin typeface="Arial"/>
              <a:ea typeface="Arial"/>
              <a:cs typeface="Arial"/>
              <a:sym typeface="Arial"/>
            </a:endParaRPr>
          </a:p>
        </p:txBody>
      </p:sp>
      <p:cxnSp>
        <p:nvCxnSpPr>
          <p:cNvPr id="382" name="Google Shape;382;p31"/>
          <p:cNvCxnSpPr/>
          <p:nvPr/>
        </p:nvCxnSpPr>
        <p:spPr>
          <a:xfrm flipH="1">
            <a:off x="3049929" y="2806861"/>
            <a:ext cx="648182" cy="283580"/>
          </a:xfrm>
          <a:prstGeom prst="straightConnector1">
            <a:avLst/>
          </a:prstGeom>
          <a:noFill/>
          <a:ln cap="flat" cmpd="sng" w="28575">
            <a:solidFill>
              <a:schemeClr val="dk1"/>
            </a:solidFill>
            <a:prstDash val="solid"/>
            <a:round/>
            <a:headEnd len="sm" w="sm" type="none"/>
            <a:tailEnd len="med" w="med" type="stealth"/>
          </a:ln>
        </p:spPr>
      </p:cxnSp>
      <p:pic>
        <p:nvPicPr>
          <p:cNvPr id="383" name="Google Shape;383;p31"/>
          <p:cNvPicPr preferRelativeResize="0"/>
          <p:nvPr/>
        </p:nvPicPr>
        <p:blipFill rotWithShape="1">
          <a:blip r:embed="rId3">
            <a:alphaModFix/>
          </a:blip>
          <a:srcRect b="0" l="0" r="73362" t="0"/>
          <a:stretch/>
        </p:blipFill>
        <p:spPr>
          <a:xfrm>
            <a:off x="2019896" y="2626909"/>
            <a:ext cx="1170053" cy="126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par>
                                <p:cTn fill="hold" nodeType="with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par>
                                <p:cTn fill="hold" nodeType="with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2"/>
          <p:cNvSpPr txBox="1"/>
          <p:nvPr/>
        </p:nvSpPr>
        <p:spPr>
          <a:xfrm>
            <a:off x="260430" y="941806"/>
            <a:ext cx="8351136" cy="956129"/>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0" i="0" lang="en" sz="1600" u="none" cap="none" strike="noStrike">
                <a:solidFill>
                  <a:srgbClr val="616161"/>
                </a:solidFill>
                <a:latin typeface="Proxima Nova"/>
                <a:ea typeface="Proxima Nova"/>
                <a:cs typeface="Proxima Nova"/>
                <a:sym typeface="Proxima Nova"/>
              </a:rPr>
              <a:t>La </a:t>
            </a:r>
            <a:r>
              <a:rPr b="1" i="0" lang="en" sz="1600" u="sng" cap="none" strike="noStrike">
                <a:solidFill>
                  <a:srgbClr val="616161"/>
                </a:solidFill>
                <a:latin typeface="Proxima Nova"/>
                <a:ea typeface="Proxima Nova"/>
                <a:cs typeface="Proxima Nova"/>
                <a:sym typeface="Proxima Nova"/>
              </a:rPr>
              <a:t>productoria</a:t>
            </a:r>
            <a:r>
              <a:rPr b="0" i="0" lang="en" sz="1600" u="none" cap="none" strike="noStrike">
                <a:solidFill>
                  <a:srgbClr val="616161"/>
                </a:solidFill>
                <a:latin typeface="Proxima Nova"/>
                <a:ea typeface="Proxima Nova"/>
                <a:cs typeface="Proxima Nova"/>
                <a:sym typeface="Proxima Nova"/>
              </a:rPr>
              <a:t> es una </a:t>
            </a:r>
            <a:r>
              <a:rPr b="1" i="0" lang="en" sz="1600" u="none" cap="none" strike="noStrike">
                <a:solidFill>
                  <a:srgbClr val="616161"/>
                </a:solidFill>
                <a:latin typeface="Proxima Nova"/>
                <a:ea typeface="Proxima Nova"/>
                <a:cs typeface="Proxima Nova"/>
                <a:sym typeface="Proxima Nova"/>
              </a:rPr>
              <a:t>notación simbólica</a:t>
            </a:r>
            <a:r>
              <a:rPr b="0" i="0" lang="en" sz="1600" u="none" cap="none" strike="noStrike">
                <a:solidFill>
                  <a:srgbClr val="616161"/>
                </a:solidFill>
                <a:latin typeface="Proxima Nova"/>
                <a:ea typeface="Proxima Nova"/>
                <a:cs typeface="Proxima Nova"/>
                <a:sym typeface="Proxima Nova"/>
              </a:rPr>
              <a:t> que nos permite representar </a:t>
            </a:r>
            <a:r>
              <a:rPr b="1" i="0" lang="en" sz="1600" u="none" cap="none" strike="noStrike">
                <a:solidFill>
                  <a:srgbClr val="616161"/>
                </a:solidFill>
                <a:latin typeface="Proxima Nova"/>
                <a:ea typeface="Proxima Nova"/>
                <a:cs typeface="Proxima Nova"/>
                <a:sym typeface="Proxima Nova"/>
              </a:rPr>
              <a:t>productos de muchos factores</a:t>
            </a:r>
            <a:r>
              <a:rPr b="0" i="0" lang="en" sz="1600" u="none" cap="none" strike="noStrike">
                <a:solidFill>
                  <a:srgbClr val="616161"/>
                </a:solidFill>
                <a:latin typeface="Proxima Nova"/>
                <a:ea typeface="Proxima Nova"/>
                <a:cs typeface="Proxima Nova"/>
                <a:sym typeface="Proxima Nova"/>
              </a:rPr>
              <a:t>, incluso infinitos, </a:t>
            </a:r>
            <a:r>
              <a:rPr b="1" i="0" lang="en" sz="1600" u="none" cap="none" strike="noStrike">
                <a:solidFill>
                  <a:srgbClr val="616161"/>
                </a:solidFill>
                <a:latin typeface="Proxima Nova"/>
                <a:ea typeface="Proxima Nova"/>
                <a:cs typeface="Proxima Nova"/>
                <a:sym typeface="Proxima Nova"/>
              </a:rPr>
              <a:t>sin tener que usar puntos suspensivos</a:t>
            </a:r>
            <a:r>
              <a:rPr b="0" i="0" lang="en" sz="1600" u="none" cap="none" strike="noStrike">
                <a:solidFill>
                  <a:srgbClr val="616161"/>
                </a:solidFill>
                <a:latin typeface="Proxima Nova"/>
                <a:ea typeface="Proxima Nova"/>
                <a:cs typeface="Proxima Nova"/>
                <a:sym typeface="Proxima Nova"/>
              </a:rPr>
              <a:t>! </a:t>
            </a:r>
            <a:endParaRPr b="0" i="0" sz="1600" u="none" cap="none" strike="noStrike">
              <a:solidFill>
                <a:srgbClr val="616161"/>
              </a:solidFill>
              <a:latin typeface="Proxima Nova"/>
              <a:ea typeface="Proxima Nova"/>
              <a:cs typeface="Proxima Nova"/>
              <a:sym typeface="Proxima Nova"/>
            </a:endParaRPr>
          </a:p>
        </p:txBody>
      </p:sp>
      <p:sp>
        <p:nvSpPr>
          <p:cNvPr id="389" name="Google Shape;389;p32"/>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Productorias</a:t>
            </a:r>
            <a:endParaRPr b="1" i="0" sz="3600" u="none" cap="none" strike="noStrike">
              <a:solidFill>
                <a:srgbClr val="FFFFFF"/>
              </a:solidFill>
              <a:latin typeface="Helvetica Neue"/>
              <a:ea typeface="Helvetica Neue"/>
              <a:cs typeface="Helvetica Neue"/>
              <a:sym typeface="Helvetica Neue"/>
            </a:endParaRPr>
          </a:p>
        </p:txBody>
      </p:sp>
      <p:sp>
        <p:nvSpPr>
          <p:cNvPr id="390" name="Google Shape;390;p32"/>
          <p:cNvSpPr txBox="1"/>
          <p:nvPr/>
        </p:nvSpPr>
        <p:spPr>
          <a:xfrm>
            <a:off x="260430" y="2221498"/>
            <a:ext cx="1544902" cy="1046410"/>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Productora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(letra griega </a:t>
            </a:r>
            <a:br>
              <a:rPr b="1" i="0" lang="en" sz="1400" u="none" cap="none" strike="noStrike">
                <a:solidFill>
                  <a:schemeClr val="dk1"/>
                </a:solidFill>
                <a:latin typeface="Proxima Nova"/>
                <a:ea typeface="Proxima Nova"/>
                <a:cs typeface="Proxima Nova"/>
                <a:sym typeface="Proxima Nova"/>
              </a:rPr>
            </a:br>
            <a:r>
              <a:rPr b="1" i="0" lang="en" sz="1400" u="none" cap="none" strike="noStrike">
                <a:solidFill>
                  <a:schemeClr val="dk1"/>
                </a:solidFill>
                <a:latin typeface="Proxima Nova"/>
                <a:ea typeface="Proxima Nova"/>
                <a:cs typeface="Proxima Nova"/>
                <a:sym typeface="Proxima Nova"/>
              </a:rPr>
              <a:t>pi en</a:t>
            </a:r>
            <a:br>
              <a:rPr b="1" i="0" lang="en" sz="1400" u="none" cap="none" strike="noStrike">
                <a:solidFill>
                  <a:schemeClr val="dk1"/>
                </a:solidFill>
                <a:latin typeface="Proxima Nova"/>
                <a:ea typeface="Proxima Nova"/>
                <a:cs typeface="Proxima Nova"/>
                <a:sym typeface="Proxima Nova"/>
              </a:rPr>
            </a:br>
            <a:r>
              <a:rPr b="1" i="0" lang="en" sz="1400" u="none" cap="none" strike="noStrike">
                <a:solidFill>
                  <a:schemeClr val="dk1"/>
                </a:solidFill>
                <a:latin typeface="Proxima Nova"/>
                <a:ea typeface="Proxima Nova"/>
                <a:cs typeface="Proxima Nova"/>
                <a:sym typeface="Proxima Nova"/>
              </a:rPr>
              <a:t>mayúscula)</a:t>
            </a:r>
            <a:endParaRPr b="0" i="0" sz="1400" u="none" cap="none" strike="noStrike">
              <a:solidFill>
                <a:srgbClr val="000000"/>
              </a:solidFill>
              <a:latin typeface="Arial"/>
              <a:ea typeface="Arial"/>
              <a:cs typeface="Arial"/>
              <a:sym typeface="Arial"/>
            </a:endParaRPr>
          </a:p>
        </p:txBody>
      </p:sp>
      <p:sp>
        <p:nvSpPr>
          <p:cNvPr id="391" name="Google Shape;391;p32"/>
          <p:cNvSpPr txBox="1"/>
          <p:nvPr/>
        </p:nvSpPr>
        <p:spPr>
          <a:xfrm>
            <a:off x="2626487" y="2029103"/>
            <a:ext cx="3785888"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Límite hasta el que va a iterar la productoria</a:t>
            </a:r>
            <a:endParaRPr b="0" i="0" sz="1400" u="none" cap="none" strike="noStrike">
              <a:solidFill>
                <a:srgbClr val="000000"/>
              </a:solidFill>
              <a:latin typeface="Arial"/>
              <a:ea typeface="Arial"/>
              <a:cs typeface="Arial"/>
              <a:sym typeface="Arial"/>
            </a:endParaRPr>
          </a:p>
        </p:txBody>
      </p:sp>
      <p:sp>
        <p:nvSpPr>
          <p:cNvPr id="392" name="Google Shape;392;p32"/>
          <p:cNvSpPr txBox="1"/>
          <p:nvPr/>
        </p:nvSpPr>
        <p:spPr>
          <a:xfrm>
            <a:off x="479703" y="4127157"/>
            <a:ext cx="1304080"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Índice de la productoria</a:t>
            </a:r>
            <a:endParaRPr b="0" i="0" sz="1400" u="none" cap="none" strike="noStrike">
              <a:solidFill>
                <a:srgbClr val="000000"/>
              </a:solidFill>
              <a:latin typeface="Arial"/>
              <a:ea typeface="Arial"/>
              <a:cs typeface="Arial"/>
              <a:sym typeface="Arial"/>
            </a:endParaRPr>
          </a:p>
        </p:txBody>
      </p:sp>
      <p:sp>
        <p:nvSpPr>
          <p:cNvPr id="393" name="Google Shape;393;p32"/>
          <p:cNvSpPr txBox="1"/>
          <p:nvPr/>
        </p:nvSpPr>
        <p:spPr>
          <a:xfrm>
            <a:off x="2598517" y="4174560"/>
            <a:ext cx="1304080"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Valor inicial del índice i</a:t>
            </a:r>
            <a:endParaRPr b="0" i="0" sz="1400" u="none" cap="none" strike="noStrike">
              <a:solidFill>
                <a:srgbClr val="000000"/>
              </a:solidFill>
              <a:latin typeface="Arial"/>
              <a:ea typeface="Arial"/>
              <a:cs typeface="Arial"/>
              <a:sym typeface="Arial"/>
            </a:endParaRPr>
          </a:p>
        </p:txBody>
      </p:sp>
      <p:sp>
        <p:nvSpPr>
          <p:cNvPr id="394" name="Google Shape;394;p32"/>
          <p:cNvSpPr txBox="1"/>
          <p:nvPr/>
        </p:nvSpPr>
        <p:spPr>
          <a:xfrm>
            <a:off x="5061995" y="3846095"/>
            <a:ext cx="3030638"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accent5"/>
                </a:solidFill>
                <a:latin typeface="Proxima Nova"/>
                <a:ea typeface="Proxima Nova"/>
                <a:cs typeface="Proxima Nova"/>
                <a:sym typeface="Proxima Nova"/>
              </a:rPr>
              <a:t>¿Qué representamos acá?</a:t>
            </a:r>
            <a:endParaRPr b="0" i="0" sz="1400" u="none" cap="none" strike="noStrike">
              <a:solidFill>
                <a:srgbClr val="000000"/>
              </a:solidFill>
              <a:latin typeface="Arial"/>
              <a:ea typeface="Arial"/>
              <a:cs typeface="Arial"/>
              <a:sym typeface="Arial"/>
            </a:endParaRPr>
          </a:p>
        </p:txBody>
      </p:sp>
      <p:sp>
        <p:nvSpPr>
          <p:cNvPr id="395" name="Google Shape;395;p32"/>
          <p:cNvSpPr txBox="1"/>
          <p:nvPr/>
        </p:nvSpPr>
        <p:spPr>
          <a:xfrm>
            <a:off x="5061995" y="4127157"/>
            <a:ext cx="3030638"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sng" cap="none" strike="noStrike">
                <a:solidFill>
                  <a:schemeClr val="dk2"/>
                </a:solidFill>
                <a:latin typeface="Proxima Nova"/>
                <a:ea typeface="Proxima Nova"/>
                <a:cs typeface="Proxima Nova"/>
                <a:sym typeface="Proxima Nova"/>
              </a:rPr>
              <a:t>Multiplicamos</a:t>
            </a:r>
            <a:r>
              <a:rPr b="0" i="0" lang="en" sz="1400" u="none" cap="none" strike="noStrike">
                <a:solidFill>
                  <a:schemeClr val="dk2"/>
                </a:solidFill>
                <a:latin typeface="Proxima Nova"/>
                <a:ea typeface="Proxima Nova"/>
                <a:cs typeface="Proxima Nova"/>
                <a:sym typeface="Proxima Nova"/>
              </a:rPr>
              <a:t> n números a</a:t>
            </a:r>
            <a:r>
              <a:rPr b="0" baseline="-25000" i="0" lang="en" sz="1400" u="none" cap="none" strike="noStrike">
                <a:solidFill>
                  <a:schemeClr val="dk2"/>
                </a:solidFill>
                <a:latin typeface="Proxima Nova"/>
                <a:ea typeface="Proxima Nova"/>
                <a:cs typeface="Proxima Nova"/>
                <a:sym typeface="Proxima Nova"/>
              </a:rPr>
              <a:t>i</a:t>
            </a:r>
            <a:r>
              <a:rPr b="0" i="0" lang="en" sz="1400" u="none" cap="none" strike="noStrike">
                <a:solidFill>
                  <a:schemeClr val="dk2"/>
                </a:solidFill>
                <a:latin typeface="Proxima Nova"/>
                <a:ea typeface="Proxima Nova"/>
                <a:cs typeface="Proxima Nova"/>
                <a:sym typeface="Proxima Nova"/>
              </a:rPr>
              <a:t>, desde el primero (a</a:t>
            </a:r>
            <a:r>
              <a:rPr b="0" baseline="-25000" i="0" lang="en" sz="1400" u="none" cap="none" strike="noStrike">
                <a:solidFill>
                  <a:schemeClr val="dk2"/>
                </a:solidFill>
                <a:latin typeface="Proxima Nova"/>
                <a:ea typeface="Proxima Nova"/>
                <a:cs typeface="Proxima Nova"/>
                <a:sym typeface="Proxima Nova"/>
              </a:rPr>
              <a:t>1</a:t>
            </a:r>
            <a:r>
              <a:rPr b="0" i="0" lang="en" sz="1400" u="none" cap="none" strike="noStrike">
                <a:solidFill>
                  <a:schemeClr val="dk2"/>
                </a:solidFill>
                <a:latin typeface="Proxima Nova"/>
                <a:ea typeface="Proxima Nova"/>
                <a:cs typeface="Proxima Nova"/>
                <a:sym typeface="Proxima Nova"/>
              </a:rPr>
              <a:t>) hasta el n-ésimo (a</a:t>
            </a:r>
            <a:r>
              <a:rPr b="0" baseline="-25000" i="0" lang="en" sz="1400" u="none" cap="none" strike="noStrike">
                <a:solidFill>
                  <a:schemeClr val="dk2"/>
                </a:solidFill>
                <a:latin typeface="Proxima Nova"/>
                <a:ea typeface="Proxima Nova"/>
                <a:cs typeface="Proxima Nova"/>
                <a:sym typeface="Proxima Nova"/>
              </a:rPr>
              <a:t>n</a:t>
            </a:r>
            <a:r>
              <a:rPr b="0" i="0" lang="en" sz="1400" u="none" cap="none" strike="noStrike">
                <a:solidFill>
                  <a:schemeClr val="dk2"/>
                </a:solidFill>
                <a:latin typeface="Proxima Nova"/>
                <a:ea typeface="Proxima Nova"/>
                <a:cs typeface="Proxima Nova"/>
                <a:sym typeface="Proxima Nova"/>
              </a:rPr>
              <a:t>)</a:t>
            </a:r>
            <a:endParaRPr b="0" i="0" sz="1400" u="none" cap="none" strike="noStrike">
              <a:solidFill>
                <a:srgbClr val="000000"/>
              </a:solidFill>
              <a:latin typeface="Arial"/>
              <a:ea typeface="Arial"/>
              <a:cs typeface="Arial"/>
              <a:sym typeface="Arial"/>
            </a:endParaRPr>
          </a:p>
        </p:txBody>
      </p:sp>
      <p:cxnSp>
        <p:nvCxnSpPr>
          <p:cNvPr id="396" name="Google Shape;396;p32"/>
          <p:cNvCxnSpPr/>
          <p:nvPr/>
        </p:nvCxnSpPr>
        <p:spPr>
          <a:xfrm>
            <a:off x="1574156" y="2868583"/>
            <a:ext cx="371196" cy="221858"/>
          </a:xfrm>
          <a:prstGeom prst="straightConnector1">
            <a:avLst/>
          </a:prstGeom>
          <a:noFill/>
          <a:ln cap="flat" cmpd="sng" w="28575">
            <a:solidFill>
              <a:schemeClr val="dk1"/>
            </a:solidFill>
            <a:prstDash val="solid"/>
            <a:round/>
            <a:headEnd len="sm" w="sm" type="none"/>
            <a:tailEnd len="med" w="med" type="stealth"/>
          </a:ln>
        </p:spPr>
      </p:cxnSp>
      <p:cxnSp>
        <p:nvCxnSpPr>
          <p:cNvPr id="397" name="Google Shape;397;p32"/>
          <p:cNvCxnSpPr/>
          <p:nvPr/>
        </p:nvCxnSpPr>
        <p:spPr>
          <a:xfrm flipH="1">
            <a:off x="2500133" y="2361256"/>
            <a:ext cx="443048" cy="341433"/>
          </a:xfrm>
          <a:prstGeom prst="straightConnector1">
            <a:avLst/>
          </a:prstGeom>
          <a:noFill/>
          <a:ln cap="flat" cmpd="sng" w="28575">
            <a:solidFill>
              <a:schemeClr val="dk1"/>
            </a:solidFill>
            <a:prstDash val="solid"/>
            <a:round/>
            <a:headEnd len="sm" w="sm" type="none"/>
            <a:tailEnd len="med" w="med" type="stealth"/>
          </a:ln>
        </p:spPr>
      </p:cxnSp>
      <p:cxnSp>
        <p:nvCxnSpPr>
          <p:cNvPr id="398" name="Google Shape;398;p32"/>
          <p:cNvCxnSpPr/>
          <p:nvPr/>
        </p:nvCxnSpPr>
        <p:spPr>
          <a:xfrm rot="10800000">
            <a:off x="2598517" y="3964066"/>
            <a:ext cx="344664" cy="237629"/>
          </a:xfrm>
          <a:prstGeom prst="straightConnector1">
            <a:avLst/>
          </a:prstGeom>
          <a:noFill/>
          <a:ln cap="flat" cmpd="sng" w="28575">
            <a:solidFill>
              <a:schemeClr val="dk1"/>
            </a:solidFill>
            <a:prstDash val="solid"/>
            <a:round/>
            <a:headEnd len="sm" w="sm" type="none"/>
            <a:tailEnd len="med" w="med" type="stealth"/>
          </a:ln>
        </p:spPr>
      </p:cxnSp>
      <p:cxnSp>
        <p:nvCxnSpPr>
          <p:cNvPr id="399" name="Google Shape;399;p32"/>
          <p:cNvCxnSpPr/>
          <p:nvPr/>
        </p:nvCxnSpPr>
        <p:spPr>
          <a:xfrm flipH="1" rot="10800000">
            <a:off x="1574156" y="3895142"/>
            <a:ext cx="371197" cy="279418"/>
          </a:xfrm>
          <a:prstGeom prst="straightConnector1">
            <a:avLst/>
          </a:prstGeom>
          <a:noFill/>
          <a:ln cap="flat" cmpd="sng" w="28575">
            <a:solidFill>
              <a:schemeClr val="dk1"/>
            </a:solidFill>
            <a:prstDash val="solid"/>
            <a:round/>
            <a:headEnd len="sm" w="sm" type="none"/>
            <a:tailEnd len="med" w="med" type="stealth"/>
          </a:ln>
        </p:spPr>
      </p:cxnSp>
      <p:sp>
        <p:nvSpPr>
          <p:cNvPr id="400" name="Google Shape;400;p32"/>
          <p:cNvSpPr txBox="1"/>
          <p:nvPr/>
        </p:nvSpPr>
        <p:spPr>
          <a:xfrm>
            <a:off x="3392346" y="2369673"/>
            <a:ext cx="3557603" cy="615523"/>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Proxima Nova"/>
                <a:ea typeface="Proxima Nova"/>
                <a:cs typeface="Proxima Nova"/>
                <a:sym typeface="Proxima Nova"/>
              </a:rPr>
              <a:t>Expresión matemática que se multiplicará (n+1) – valor inicial del índice i</a:t>
            </a:r>
            <a:endParaRPr b="0" i="0" sz="1400" u="none" cap="none" strike="noStrike">
              <a:solidFill>
                <a:srgbClr val="000000"/>
              </a:solidFill>
              <a:latin typeface="Arial"/>
              <a:ea typeface="Arial"/>
              <a:cs typeface="Arial"/>
              <a:sym typeface="Arial"/>
            </a:endParaRPr>
          </a:p>
        </p:txBody>
      </p:sp>
      <p:cxnSp>
        <p:nvCxnSpPr>
          <p:cNvPr id="401" name="Google Shape;401;p32"/>
          <p:cNvCxnSpPr/>
          <p:nvPr/>
        </p:nvCxnSpPr>
        <p:spPr>
          <a:xfrm flipH="1">
            <a:off x="3049929" y="2806861"/>
            <a:ext cx="648182" cy="283580"/>
          </a:xfrm>
          <a:prstGeom prst="straightConnector1">
            <a:avLst/>
          </a:prstGeom>
          <a:noFill/>
          <a:ln cap="flat" cmpd="sng" w="28575">
            <a:solidFill>
              <a:schemeClr val="dk1"/>
            </a:solidFill>
            <a:prstDash val="solid"/>
            <a:round/>
            <a:headEnd len="sm" w="sm" type="none"/>
            <a:tailEnd len="med" w="med" type="stealth"/>
          </a:ln>
        </p:spPr>
      </p:cxnSp>
      <p:pic>
        <p:nvPicPr>
          <p:cNvPr id="402" name="Google Shape;402;p32"/>
          <p:cNvPicPr preferRelativeResize="0"/>
          <p:nvPr/>
        </p:nvPicPr>
        <p:blipFill rotWithShape="1">
          <a:blip r:embed="rId3">
            <a:alphaModFix/>
          </a:blip>
          <a:srcRect b="0" l="0" r="0" t="0"/>
          <a:stretch/>
        </p:blipFill>
        <p:spPr>
          <a:xfrm>
            <a:off x="2019896" y="2626909"/>
            <a:ext cx="4392479" cy="126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3"/>
          <p:cNvSpPr txBox="1"/>
          <p:nvPr/>
        </p:nvSpPr>
        <p:spPr>
          <a:xfrm>
            <a:off x="260430" y="1238942"/>
            <a:ext cx="8351136"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definir la potencia n-ésima de un número k</a:t>
            </a:r>
            <a:endParaRPr b="0" i="0" sz="1600" u="none" cap="none" strike="noStrike">
              <a:solidFill>
                <a:srgbClr val="616161"/>
              </a:solidFill>
              <a:latin typeface="Proxima Nova"/>
              <a:ea typeface="Proxima Nova"/>
              <a:cs typeface="Proxima Nova"/>
              <a:sym typeface="Proxima Nova"/>
            </a:endParaRPr>
          </a:p>
        </p:txBody>
      </p:sp>
      <p:sp>
        <p:nvSpPr>
          <p:cNvPr id="408" name="Google Shape;408;p33"/>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Productorias</a:t>
            </a:r>
            <a:endParaRPr b="1" i="0" sz="3600" u="none" cap="none" strike="noStrike">
              <a:solidFill>
                <a:srgbClr val="FFFFFF"/>
              </a:solidFill>
              <a:latin typeface="Helvetica Neue"/>
              <a:ea typeface="Helvetica Neue"/>
              <a:cs typeface="Helvetica Neue"/>
              <a:sym typeface="Helvetica Neue"/>
            </a:endParaRPr>
          </a:p>
        </p:txBody>
      </p:sp>
      <p:pic>
        <p:nvPicPr>
          <p:cNvPr id="409" name="Google Shape;409;p33"/>
          <p:cNvPicPr preferRelativeResize="0"/>
          <p:nvPr/>
        </p:nvPicPr>
        <p:blipFill rotWithShape="1">
          <a:blip r:embed="rId3">
            <a:alphaModFix/>
          </a:blip>
          <a:srcRect b="0" l="0" r="78226" t="0"/>
          <a:stretch/>
        </p:blipFill>
        <p:spPr>
          <a:xfrm>
            <a:off x="503499" y="2225175"/>
            <a:ext cx="1180618" cy="1444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4"/>
          <p:cNvSpPr txBox="1"/>
          <p:nvPr/>
        </p:nvSpPr>
        <p:spPr>
          <a:xfrm>
            <a:off x="260430" y="1238942"/>
            <a:ext cx="8351136"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a:t>
            </a:r>
            <a:r>
              <a:rPr b="0" i="0" lang="en" sz="1600" u="none" cap="none" strike="noStrike">
                <a:solidFill>
                  <a:srgbClr val="616161"/>
                </a:solidFill>
                <a:latin typeface="Proxima Nova"/>
                <a:ea typeface="Proxima Nova"/>
                <a:cs typeface="Proxima Nova"/>
                <a:sym typeface="Proxima Nova"/>
              </a:rPr>
              <a:t> definir la potencia n-ésima de un número k</a:t>
            </a:r>
            <a:endParaRPr b="0" i="0" sz="1600" u="none" cap="none" strike="noStrike">
              <a:solidFill>
                <a:srgbClr val="616161"/>
              </a:solidFill>
              <a:latin typeface="Proxima Nova"/>
              <a:ea typeface="Proxima Nova"/>
              <a:cs typeface="Proxima Nova"/>
              <a:sym typeface="Proxima Nova"/>
            </a:endParaRPr>
          </a:p>
        </p:txBody>
      </p:sp>
      <p:sp>
        <p:nvSpPr>
          <p:cNvPr id="415" name="Google Shape;415;p34"/>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Productorias</a:t>
            </a:r>
            <a:endParaRPr b="1" i="0" sz="3600" u="none" cap="none" strike="noStrike">
              <a:solidFill>
                <a:srgbClr val="FFFFFF"/>
              </a:solidFill>
              <a:latin typeface="Helvetica Neue"/>
              <a:ea typeface="Helvetica Neue"/>
              <a:cs typeface="Helvetica Neue"/>
              <a:sym typeface="Helvetica Neue"/>
            </a:endParaRPr>
          </a:p>
        </p:txBody>
      </p:sp>
      <p:pic>
        <p:nvPicPr>
          <p:cNvPr id="416" name="Google Shape;416;p34"/>
          <p:cNvPicPr preferRelativeResize="0"/>
          <p:nvPr/>
        </p:nvPicPr>
        <p:blipFill rotWithShape="1">
          <a:blip r:embed="rId3">
            <a:alphaModFix/>
          </a:blip>
          <a:srcRect b="0" l="0" r="0" t="0"/>
          <a:stretch/>
        </p:blipFill>
        <p:spPr>
          <a:xfrm>
            <a:off x="503498" y="2225175"/>
            <a:ext cx="5422059" cy="1444000"/>
          </a:xfrm>
          <a:prstGeom prst="rect">
            <a:avLst/>
          </a:prstGeom>
          <a:noFill/>
          <a:ln>
            <a:noFill/>
          </a:ln>
        </p:spPr>
      </p:pic>
      <p:sp>
        <p:nvSpPr>
          <p:cNvPr id="417" name="Google Shape;417;p34"/>
          <p:cNvSpPr txBox="1"/>
          <p:nvPr/>
        </p:nvSpPr>
        <p:spPr>
          <a:xfrm>
            <a:off x="2748022" y="1972732"/>
            <a:ext cx="2437436" cy="400079"/>
          </a:xfrm>
          <a:prstGeom prst="rect">
            <a:avLst/>
          </a:prstGeom>
          <a:noFill/>
          <a:ln>
            <a:noFill/>
          </a:ln>
        </p:spPr>
        <p:txBody>
          <a:bodyPr anchorCtr="0" anchor="ctr"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Proxima Nova"/>
                <a:ea typeface="Proxima Nova"/>
                <a:cs typeface="Proxima Nova"/>
                <a:sym typeface="Proxima Nova"/>
              </a:rPr>
              <a:t>Voy a multiplicar n veces…</a:t>
            </a:r>
            <a:endParaRPr b="0" i="0" sz="1400" u="none" cap="none" strike="noStrike">
              <a:solidFill>
                <a:srgbClr val="000000"/>
              </a:solidFill>
              <a:latin typeface="Arial"/>
              <a:ea typeface="Arial"/>
              <a:cs typeface="Arial"/>
              <a:sym typeface="Arial"/>
            </a:endParaRPr>
          </a:p>
        </p:txBody>
      </p:sp>
      <p:cxnSp>
        <p:nvCxnSpPr>
          <p:cNvPr id="418" name="Google Shape;418;p34"/>
          <p:cNvCxnSpPr/>
          <p:nvPr/>
        </p:nvCxnSpPr>
        <p:spPr>
          <a:xfrm flipH="1">
            <a:off x="2280213" y="2203158"/>
            <a:ext cx="467809" cy="169653"/>
          </a:xfrm>
          <a:prstGeom prst="straightConnector1">
            <a:avLst/>
          </a:prstGeom>
          <a:noFill/>
          <a:ln cap="flat" cmpd="sng" w="28575">
            <a:solidFill>
              <a:schemeClr val="dk2"/>
            </a:solidFill>
            <a:prstDash val="solid"/>
            <a:round/>
            <a:headEnd len="sm" w="sm" type="none"/>
            <a:tailEnd len="med" w="med" type="stealth"/>
          </a:ln>
        </p:spPr>
      </p:cxnSp>
      <p:sp>
        <p:nvSpPr>
          <p:cNvPr id="419" name="Google Shape;419;p34"/>
          <p:cNvSpPr txBox="1"/>
          <p:nvPr/>
        </p:nvSpPr>
        <p:spPr>
          <a:xfrm>
            <a:off x="2984819" y="3589832"/>
            <a:ext cx="2040038" cy="400079"/>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2"/>
                </a:solidFill>
                <a:latin typeface="Proxima Nova"/>
                <a:ea typeface="Proxima Nova"/>
                <a:cs typeface="Proxima Nova"/>
                <a:sym typeface="Proxima Nova"/>
              </a:rPr>
              <a:t>… al número k</a:t>
            </a:r>
            <a:endParaRPr b="0" i="0" sz="1400" u="none" cap="none" strike="noStrike">
              <a:solidFill>
                <a:srgbClr val="000000"/>
              </a:solidFill>
              <a:latin typeface="Arial"/>
              <a:ea typeface="Arial"/>
              <a:cs typeface="Arial"/>
              <a:sym typeface="Arial"/>
            </a:endParaRPr>
          </a:p>
        </p:txBody>
      </p:sp>
      <p:cxnSp>
        <p:nvCxnSpPr>
          <p:cNvPr id="420" name="Google Shape;420;p34"/>
          <p:cNvCxnSpPr/>
          <p:nvPr/>
        </p:nvCxnSpPr>
        <p:spPr>
          <a:xfrm rot="10800000">
            <a:off x="2712815" y="3260706"/>
            <a:ext cx="272004" cy="450041"/>
          </a:xfrm>
          <a:prstGeom prst="straightConnector1">
            <a:avLst/>
          </a:prstGeom>
          <a:noFill/>
          <a:ln cap="flat" cmpd="sng" w="28575">
            <a:solidFill>
              <a:schemeClr val="dk2"/>
            </a:solidFill>
            <a:prstDash val="solid"/>
            <a:round/>
            <a:headEnd len="sm" w="sm" type="none"/>
            <a:tailEnd len="med" w="med" type="stealth"/>
          </a:ln>
        </p:spPr>
      </p:cxn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500"/>
                                        <p:tgtEl>
                                          <p:spTgt spid="417"/>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5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5"/>
          <p:cNvSpPr txBox="1"/>
          <p:nvPr/>
        </p:nvSpPr>
        <p:spPr>
          <a:xfrm>
            <a:off x="260430" y="848375"/>
            <a:ext cx="8351136"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 2:</a:t>
            </a:r>
            <a:r>
              <a:rPr b="0" i="0" lang="en" sz="1600" u="none" cap="none" strike="noStrike">
                <a:solidFill>
                  <a:srgbClr val="616161"/>
                </a:solidFill>
                <a:latin typeface="Proxima Nova"/>
                <a:ea typeface="Proxima Nova"/>
                <a:cs typeface="Proxima Nova"/>
                <a:sym typeface="Proxima Nova"/>
              </a:rPr>
              <a:t> resolver</a:t>
            </a:r>
            <a:endParaRPr b="0" i="0" sz="1600" u="none" cap="none" strike="noStrike">
              <a:solidFill>
                <a:srgbClr val="616161"/>
              </a:solidFill>
              <a:latin typeface="Proxima Nova"/>
              <a:ea typeface="Proxima Nova"/>
              <a:cs typeface="Proxima Nova"/>
              <a:sym typeface="Proxima Nova"/>
            </a:endParaRPr>
          </a:p>
        </p:txBody>
      </p:sp>
      <p:sp>
        <p:nvSpPr>
          <p:cNvPr id="426" name="Google Shape;426;p35"/>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Productorias</a:t>
            </a:r>
            <a:endParaRPr b="1" i="0" sz="3600" u="none" cap="none" strike="noStrike">
              <a:solidFill>
                <a:srgbClr val="FFFFFF"/>
              </a:solidFill>
              <a:latin typeface="Helvetica Neue"/>
              <a:ea typeface="Helvetica Neue"/>
              <a:cs typeface="Helvetica Neue"/>
              <a:sym typeface="Helvetica Neue"/>
            </a:endParaRPr>
          </a:p>
        </p:txBody>
      </p:sp>
      <p:pic>
        <p:nvPicPr>
          <p:cNvPr id="427" name="Google Shape;427;p35"/>
          <p:cNvPicPr preferRelativeResize="0"/>
          <p:nvPr/>
        </p:nvPicPr>
        <p:blipFill rotWithShape="1">
          <a:blip r:embed="rId3">
            <a:alphaModFix/>
          </a:blip>
          <a:srcRect b="0" l="0" r="79159" t="0"/>
          <a:stretch/>
        </p:blipFill>
        <p:spPr>
          <a:xfrm>
            <a:off x="538222" y="1757151"/>
            <a:ext cx="1232705" cy="154541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36"/>
          <p:cNvSpPr txBox="1"/>
          <p:nvPr/>
        </p:nvSpPr>
        <p:spPr>
          <a:xfrm>
            <a:off x="260430" y="848375"/>
            <a:ext cx="8351136" cy="672974"/>
          </a:xfrm>
          <a:prstGeom prst="rect">
            <a:avLst/>
          </a:prstGeom>
          <a:noFill/>
          <a:ln>
            <a:noFill/>
          </a:ln>
        </p:spPr>
        <p:txBody>
          <a:bodyPr anchorCtr="0" anchor="ctr" bIns="91425" lIns="91425" spcFirstLastPara="1" rIns="91425" wrap="square" tIns="91425">
            <a:spAutoFit/>
          </a:bodyPr>
          <a:lstStyle/>
          <a:p>
            <a:pPr indent="0" lvl="0" marL="0" marR="0" rtl="0" algn="l">
              <a:lnSpc>
                <a:spcPct val="115000"/>
              </a:lnSpc>
              <a:spcBef>
                <a:spcPts val="1600"/>
              </a:spcBef>
              <a:spcAft>
                <a:spcPts val="0"/>
              </a:spcAft>
              <a:buClr>
                <a:schemeClr val="dk1"/>
              </a:buClr>
              <a:buSzPts val="1100"/>
              <a:buFont typeface="Arial"/>
              <a:buNone/>
            </a:pPr>
            <a:r>
              <a:rPr b="1" i="0" lang="en" sz="1600" u="none" cap="none" strike="noStrike">
                <a:solidFill>
                  <a:srgbClr val="616161"/>
                </a:solidFill>
                <a:latin typeface="Proxima Nova"/>
                <a:ea typeface="Proxima Nova"/>
                <a:cs typeface="Proxima Nova"/>
                <a:sym typeface="Proxima Nova"/>
              </a:rPr>
              <a:t>Ejemplo 2:</a:t>
            </a:r>
            <a:r>
              <a:rPr b="0" i="0" lang="en" sz="1600" u="none" cap="none" strike="noStrike">
                <a:solidFill>
                  <a:srgbClr val="616161"/>
                </a:solidFill>
                <a:latin typeface="Proxima Nova"/>
                <a:ea typeface="Proxima Nova"/>
                <a:cs typeface="Proxima Nova"/>
                <a:sym typeface="Proxima Nova"/>
              </a:rPr>
              <a:t> resolver</a:t>
            </a:r>
            <a:endParaRPr b="0" i="0" sz="1600" u="none" cap="none" strike="noStrike">
              <a:solidFill>
                <a:srgbClr val="616161"/>
              </a:solidFill>
              <a:latin typeface="Proxima Nova"/>
              <a:ea typeface="Proxima Nova"/>
              <a:cs typeface="Proxima Nova"/>
              <a:sym typeface="Proxima Nova"/>
            </a:endParaRPr>
          </a:p>
        </p:txBody>
      </p:sp>
      <p:sp>
        <p:nvSpPr>
          <p:cNvPr id="433" name="Google Shape;433;p36"/>
          <p:cNvSpPr txBox="1"/>
          <p:nvPr/>
        </p:nvSpPr>
        <p:spPr>
          <a:xfrm>
            <a:off x="0" y="10475"/>
            <a:ext cx="9144000" cy="837900"/>
          </a:xfrm>
          <a:prstGeom prst="rect">
            <a:avLst/>
          </a:prstGeom>
          <a:solidFill>
            <a:srgbClr val="000000"/>
          </a:solidFill>
          <a:ln>
            <a:noFill/>
          </a:ln>
        </p:spPr>
        <p:txBody>
          <a:bodyPr anchorCtr="0" anchor="t" bIns="91425" lIns="91425" spcFirstLastPara="1" rIns="91425" wrap="square" tIns="91425">
            <a:noAutofit/>
          </a:bodyPr>
          <a:lstStyle/>
          <a:p>
            <a:pPr indent="0" lvl="0" marL="177800" marR="0" rtl="0" algn="l">
              <a:lnSpc>
                <a:spcPct val="100000"/>
              </a:lnSpc>
              <a:spcBef>
                <a:spcPts val="0"/>
              </a:spcBef>
              <a:spcAft>
                <a:spcPts val="0"/>
              </a:spcAft>
              <a:buClr>
                <a:srgbClr val="000000"/>
              </a:buClr>
              <a:buSzPts val="3600"/>
              <a:buFont typeface="Arial"/>
              <a:buNone/>
            </a:pPr>
            <a:r>
              <a:rPr b="1" i="0" lang="en" sz="3600" u="none" cap="none" strike="noStrike">
                <a:solidFill>
                  <a:srgbClr val="FFFFFF"/>
                </a:solidFill>
                <a:latin typeface="Helvetica Neue"/>
                <a:ea typeface="Helvetica Neue"/>
                <a:cs typeface="Helvetica Neue"/>
                <a:sym typeface="Helvetica Neue"/>
              </a:rPr>
              <a:t>Productorias</a:t>
            </a:r>
            <a:endParaRPr b="1" i="0" sz="3600" u="none" cap="none" strike="noStrike">
              <a:solidFill>
                <a:srgbClr val="FFFFFF"/>
              </a:solidFill>
              <a:latin typeface="Helvetica Neue"/>
              <a:ea typeface="Helvetica Neue"/>
              <a:cs typeface="Helvetica Neue"/>
              <a:sym typeface="Helvetica Neue"/>
            </a:endParaRPr>
          </a:p>
        </p:txBody>
      </p:sp>
      <p:pic>
        <p:nvPicPr>
          <p:cNvPr id="434" name="Google Shape;434;p36"/>
          <p:cNvPicPr preferRelativeResize="0"/>
          <p:nvPr/>
        </p:nvPicPr>
        <p:blipFill rotWithShape="1">
          <a:blip r:embed="rId3">
            <a:alphaModFix/>
          </a:blip>
          <a:srcRect b="0" l="0" r="0" t="0"/>
          <a:stretch/>
        </p:blipFill>
        <p:spPr>
          <a:xfrm>
            <a:off x="538222" y="1757151"/>
            <a:ext cx="5914663" cy="1545411"/>
          </a:xfrm>
          <a:prstGeom prst="rect">
            <a:avLst/>
          </a:prstGeom>
          <a:noFill/>
          <a:ln>
            <a:noFill/>
          </a:ln>
        </p:spPr>
      </p:pic>
      <p:pic>
        <p:nvPicPr>
          <p:cNvPr id="435" name="Google Shape;435;p36"/>
          <p:cNvPicPr preferRelativeResize="0"/>
          <p:nvPr/>
        </p:nvPicPr>
        <p:blipFill rotWithShape="1">
          <a:blip r:embed="rId4">
            <a:alphaModFix/>
          </a:blip>
          <a:srcRect b="0" l="0" r="0" t="0"/>
          <a:stretch/>
        </p:blipFill>
        <p:spPr>
          <a:xfrm>
            <a:off x="1887870" y="3200401"/>
            <a:ext cx="5218986" cy="52461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