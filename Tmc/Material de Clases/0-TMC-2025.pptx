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cc9a00f70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cc9a00f70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7f7267e080_2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7f7267e080_2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1206dc8444f_2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1206dc8444f_2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1e0b93e16b1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1e0b93e16b1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472017f07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472017f07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1e0b93e16b1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1e0b93e16b1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sites.google.com/alumnos.exa.unicen.edu.ar/tudai1c1" TargetMode="External"/><Relationship Id="rId4" Type="http://schemas.openxmlformats.org/officeDocument/2006/relationships/hyperlink" Target="https://exa.unicen.edu.ar/catedra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5.jpg"/><Relationship Id="rId4" Type="http://schemas.openxmlformats.org/officeDocument/2006/relationships/image" Target="../media/image9.jpg"/><Relationship Id="rId5" Type="http://schemas.openxmlformats.org/officeDocument/2006/relationships/image" Target="../media/image3.png"/><Relationship Id="rId6" Type="http://schemas.openxmlformats.org/officeDocument/2006/relationships/image" Target="../media/image6.jpg"/><Relationship Id="rId7"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jpg"/><Relationship Id="rId4" Type="http://schemas.openxmlformats.org/officeDocument/2006/relationships/image" Target="../media/image7.jpg"/><Relationship Id="rId5"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1.jpg"/><Relationship Id="rId4" Type="http://schemas.openxmlformats.org/officeDocument/2006/relationships/image" Target="../media/image8.jpg"/><Relationship Id="rId5"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1125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Taller de Matemática Computacional </a:t>
            </a:r>
            <a:endParaRPr/>
          </a:p>
          <a:p>
            <a:pPr indent="0" lvl="0" marL="0" rtl="0" algn="ctr">
              <a:spcBef>
                <a:spcPts val="0"/>
              </a:spcBef>
              <a:spcAft>
                <a:spcPts val="0"/>
              </a:spcAft>
              <a:buNone/>
            </a:pPr>
            <a:r>
              <a:rPr lang="en"/>
              <a:t>TUDAI/TUARI</a:t>
            </a:r>
            <a:endParaRPr/>
          </a:p>
        </p:txBody>
      </p:sp>
      <p:sp>
        <p:nvSpPr>
          <p:cNvPr id="55" name="Google Shape;55;p13"/>
          <p:cNvSpPr txBox="1"/>
          <p:nvPr>
            <p:ph idx="1" type="subTitle"/>
          </p:nvPr>
        </p:nvSpPr>
        <p:spPr>
          <a:xfrm>
            <a:off x="311700" y="3596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2025 Exactas - UNICEN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nvSpPr>
        <p:spPr>
          <a:xfrm>
            <a:off x="262600" y="1012675"/>
            <a:ext cx="3657600" cy="4152900"/>
          </a:xfrm>
          <a:prstGeom prst="rect">
            <a:avLst/>
          </a:prstGeom>
          <a:solidFill>
            <a:srgbClr val="D9EAD3"/>
          </a:solid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rPr b="1" lang="en" sz="1700">
                <a:solidFill>
                  <a:schemeClr val="dk1"/>
                </a:solidFill>
              </a:rPr>
              <a:t>Unidades teóricas:</a:t>
            </a:r>
            <a:endParaRPr sz="1700">
              <a:solidFill>
                <a:schemeClr val="dk1"/>
              </a:solidFill>
            </a:endParaRPr>
          </a:p>
          <a:p>
            <a:pPr indent="0" lvl="0" marL="0" rtl="0" algn="l">
              <a:lnSpc>
                <a:spcPct val="150000"/>
              </a:lnSpc>
              <a:spcBef>
                <a:spcPts val="0"/>
              </a:spcBef>
              <a:spcAft>
                <a:spcPts val="0"/>
              </a:spcAft>
              <a:buNone/>
            </a:pPr>
            <a:r>
              <a:rPr lang="en" sz="1500">
                <a:solidFill>
                  <a:schemeClr val="dk1"/>
                </a:solidFill>
              </a:rPr>
              <a:t>(1) Lógica; (2) Conjuntos;</a:t>
            </a:r>
            <a:endParaRPr sz="1500">
              <a:solidFill>
                <a:schemeClr val="dk1"/>
              </a:solidFill>
            </a:endParaRPr>
          </a:p>
          <a:p>
            <a:pPr indent="0" lvl="0" marL="0" rtl="0" algn="l">
              <a:lnSpc>
                <a:spcPct val="150000"/>
              </a:lnSpc>
              <a:spcBef>
                <a:spcPts val="0"/>
              </a:spcBef>
              <a:spcAft>
                <a:spcPts val="0"/>
              </a:spcAft>
              <a:buNone/>
            </a:pPr>
            <a:r>
              <a:rPr lang="en" sz="1500">
                <a:solidFill>
                  <a:schemeClr val="dk1"/>
                </a:solidFill>
              </a:rPr>
              <a:t>(3) Funciones; (4) Conteo;</a:t>
            </a:r>
            <a:endParaRPr sz="1500">
              <a:solidFill>
                <a:schemeClr val="dk1"/>
              </a:solidFill>
            </a:endParaRPr>
          </a:p>
          <a:p>
            <a:pPr indent="0" lvl="0" marL="0" rtl="0" algn="l">
              <a:lnSpc>
                <a:spcPct val="150000"/>
              </a:lnSpc>
              <a:spcBef>
                <a:spcPts val="0"/>
              </a:spcBef>
              <a:spcAft>
                <a:spcPts val="0"/>
              </a:spcAft>
              <a:buNone/>
            </a:pPr>
            <a:r>
              <a:rPr lang="en" sz="1500">
                <a:solidFill>
                  <a:schemeClr val="dk1"/>
                </a:solidFill>
              </a:rPr>
              <a:t>(5) Probabilidad; (6) Álgebra; </a:t>
            </a:r>
            <a:endParaRPr sz="1500">
              <a:solidFill>
                <a:schemeClr val="dk1"/>
              </a:solidFill>
            </a:endParaRPr>
          </a:p>
          <a:p>
            <a:pPr indent="0" lvl="0" marL="0" rtl="0" algn="l">
              <a:lnSpc>
                <a:spcPct val="150000"/>
              </a:lnSpc>
              <a:spcBef>
                <a:spcPts val="0"/>
              </a:spcBef>
              <a:spcAft>
                <a:spcPts val="0"/>
              </a:spcAft>
              <a:buNone/>
            </a:pPr>
            <a:r>
              <a:rPr lang="en" sz="1500">
                <a:solidFill>
                  <a:schemeClr val="dk1"/>
                </a:solidFill>
              </a:rPr>
              <a:t>(7) Estadística.</a:t>
            </a:r>
            <a:endParaRPr sz="1500">
              <a:solidFill>
                <a:schemeClr val="dk1"/>
              </a:solidFill>
            </a:endParaRPr>
          </a:p>
          <a:p>
            <a:pPr indent="0" lvl="0" marL="0" rtl="0" algn="l">
              <a:lnSpc>
                <a:spcPct val="150000"/>
              </a:lnSpc>
              <a:spcBef>
                <a:spcPts val="0"/>
              </a:spcBef>
              <a:spcAft>
                <a:spcPts val="0"/>
              </a:spcAft>
              <a:buNone/>
            </a:pPr>
            <a:r>
              <a:t/>
            </a:r>
            <a:endParaRPr sz="1200">
              <a:solidFill>
                <a:schemeClr val="dk1"/>
              </a:solidFill>
            </a:endParaRPr>
          </a:p>
          <a:p>
            <a:pPr indent="0" lvl="0" marL="0" rtl="0" algn="l">
              <a:lnSpc>
                <a:spcPct val="150000"/>
              </a:lnSpc>
              <a:spcBef>
                <a:spcPts val="0"/>
              </a:spcBef>
              <a:spcAft>
                <a:spcPts val="0"/>
              </a:spcAft>
              <a:buNone/>
            </a:pPr>
            <a:r>
              <a:t/>
            </a:r>
            <a:endParaRPr sz="1200">
              <a:solidFill>
                <a:schemeClr val="dk1"/>
              </a:solidFill>
            </a:endParaRPr>
          </a:p>
          <a:p>
            <a:pPr indent="0" lvl="0" marL="0" rtl="0" algn="l">
              <a:lnSpc>
                <a:spcPct val="150000"/>
              </a:lnSpc>
              <a:spcBef>
                <a:spcPts val="0"/>
              </a:spcBef>
              <a:spcAft>
                <a:spcPts val="0"/>
              </a:spcAft>
              <a:buNone/>
            </a:pPr>
            <a:r>
              <a:rPr b="1" lang="en" sz="1500">
                <a:solidFill>
                  <a:schemeClr val="dk1"/>
                </a:solidFill>
              </a:rPr>
              <a:t>Unidades prácticas:</a:t>
            </a:r>
            <a:r>
              <a:rPr lang="en" sz="1500">
                <a:solidFill>
                  <a:schemeClr val="dk1"/>
                </a:solidFill>
              </a:rPr>
              <a:t> </a:t>
            </a:r>
            <a:endParaRPr sz="1500">
              <a:solidFill>
                <a:schemeClr val="dk1"/>
              </a:solidFill>
            </a:endParaRPr>
          </a:p>
          <a:p>
            <a:pPr indent="0" lvl="0" marL="0" rtl="0" algn="l">
              <a:lnSpc>
                <a:spcPct val="150000"/>
              </a:lnSpc>
              <a:spcBef>
                <a:spcPts val="0"/>
              </a:spcBef>
              <a:spcAft>
                <a:spcPts val="0"/>
              </a:spcAft>
              <a:buNone/>
            </a:pPr>
            <a:r>
              <a:rPr lang="en" sz="1500">
                <a:solidFill>
                  <a:schemeClr val="dk1"/>
                </a:solidFill>
              </a:rPr>
              <a:t>Desde la (1) hasta la (7).</a:t>
            </a:r>
            <a:endParaRPr sz="1500">
              <a:solidFill>
                <a:schemeClr val="dk1"/>
              </a:solidFill>
            </a:endParaRPr>
          </a:p>
        </p:txBody>
      </p:sp>
      <p:sp>
        <p:nvSpPr>
          <p:cNvPr id="61" name="Google Shape;61;p14"/>
          <p:cNvSpPr txBox="1"/>
          <p:nvPr/>
        </p:nvSpPr>
        <p:spPr>
          <a:xfrm>
            <a:off x="4698175" y="1095250"/>
            <a:ext cx="3985800" cy="4152900"/>
          </a:xfrm>
          <a:prstGeom prst="rect">
            <a:avLst/>
          </a:prstGeom>
          <a:solidFill>
            <a:srgbClr val="F4CCCC"/>
          </a:solid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rPr b="1" lang="en" sz="1700">
                <a:solidFill>
                  <a:schemeClr val="dk1"/>
                </a:solidFill>
              </a:rPr>
              <a:t>Parcialitos:</a:t>
            </a:r>
            <a:endParaRPr b="1" sz="1700">
              <a:solidFill>
                <a:schemeClr val="dk1"/>
              </a:solidFill>
            </a:endParaRPr>
          </a:p>
          <a:p>
            <a:pPr indent="-323850" lvl="0" marL="457200" rtl="0" algn="l">
              <a:lnSpc>
                <a:spcPct val="150000"/>
              </a:lnSpc>
              <a:spcBef>
                <a:spcPts val="0"/>
              </a:spcBef>
              <a:spcAft>
                <a:spcPts val="0"/>
              </a:spcAft>
              <a:buClr>
                <a:schemeClr val="dk1"/>
              </a:buClr>
              <a:buSzPts val="1500"/>
              <a:buChar char="●"/>
            </a:pPr>
            <a:r>
              <a:rPr lang="en" sz="1500">
                <a:solidFill>
                  <a:schemeClr val="dk1"/>
                </a:solidFill>
              </a:rPr>
              <a:t>Presenciales o por Moodle</a:t>
            </a:r>
            <a:endParaRPr sz="1500">
              <a:solidFill>
                <a:schemeClr val="dk1"/>
              </a:solidFill>
            </a:endParaRPr>
          </a:p>
          <a:p>
            <a:pPr indent="-323850" lvl="0" marL="457200" rtl="0" algn="l">
              <a:lnSpc>
                <a:spcPct val="150000"/>
              </a:lnSpc>
              <a:spcBef>
                <a:spcPts val="0"/>
              </a:spcBef>
              <a:spcAft>
                <a:spcPts val="0"/>
              </a:spcAft>
              <a:buClr>
                <a:schemeClr val="dk1"/>
              </a:buClr>
              <a:buSzPts val="1500"/>
              <a:buChar char="●"/>
            </a:pPr>
            <a:r>
              <a:rPr lang="en" sz="1500">
                <a:solidFill>
                  <a:schemeClr val="dk1"/>
                </a:solidFill>
              </a:rPr>
              <a:t>Modalidad AUTOEVALUACIÓN</a:t>
            </a:r>
            <a:endParaRPr sz="1500">
              <a:solidFill>
                <a:schemeClr val="dk1"/>
              </a:solidFill>
            </a:endParaRPr>
          </a:p>
          <a:p>
            <a:pPr indent="0" lvl="0" marL="0" rtl="0" algn="l">
              <a:lnSpc>
                <a:spcPct val="150000"/>
              </a:lnSpc>
              <a:spcBef>
                <a:spcPts val="0"/>
              </a:spcBef>
              <a:spcAft>
                <a:spcPts val="0"/>
              </a:spcAft>
              <a:buNone/>
            </a:pPr>
            <a:r>
              <a:t/>
            </a:r>
            <a:endParaRPr sz="1500">
              <a:solidFill>
                <a:schemeClr val="dk1"/>
              </a:solidFill>
            </a:endParaRPr>
          </a:p>
          <a:p>
            <a:pPr indent="0" lvl="0" marL="0" rtl="0" algn="l">
              <a:lnSpc>
                <a:spcPct val="150000"/>
              </a:lnSpc>
              <a:spcBef>
                <a:spcPts val="0"/>
              </a:spcBef>
              <a:spcAft>
                <a:spcPts val="0"/>
              </a:spcAft>
              <a:buNone/>
            </a:pPr>
            <a:r>
              <a:rPr b="1" lang="en" sz="1700">
                <a:solidFill>
                  <a:schemeClr val="dk1"/>
                </a:solidFill>
              </a:rPr>
              <a:t>Parciales:</a:t>
            </a:r>
            <a:endParaRPr sz="1700">
              <a:solidFill>
                <a:schemeClr val="dk1"/>
              </a:solidFill>
            </a:endParaRPr>
          </a:p>
          <a:p>
            <a:pPr indent="-323850" lvl="0" marL="457200" rtl="0" algn="l">
              <a:lnSpc>
                <a:spcPct val="150000"/>
              </a:lnSpc>
              <a:spcBef>
                <a:spcPts val="0"/>
              </a:spcBef>
              <a:spcAft>
                <a:spcPts val="0"/>
              </a:spcAft>
              <a:buClr>
                <a:schemeClr val="dk1"/>
              </a:buClr>
              <a:buSzPts val="1500"/>
              <a:buChar char="●"/>
            </a:pPr>
            <a:r>
              <a:rPr b="1" lang="en" sz="1500">
                <a:solidFill>
                  <a:schemeClr val="dk1"/>
                </a:solidFill>
              </a:rPr>
              <a:t>1</a:t>
            </a:r>
            <a:r>
              <a:rPr b="1" lang="en" sz="1500">
                <a:solidFill>
                  <a:schemeClr val="dk1"/>
                </a:solidFill>
              </a:rPr>
              <a:t> examen parcial</a:t>
            </a:r>
            <a:r>
              <a:rPr lang="en" sz="1500">
                <a:solidFill>
                  <a:schemeClr val="dk1"/>
                </a:solidFill>
              </a:rPr>
              <a:t> con dos recuperatorios. </a:t>
            </a:r>
            <a:endParaRPr sz="1500">
              <a:solidFill>
                <a:schemeClr val="dk1"/>
              </a:solidFill>
            </a:endParaRPr>
          </a:p>
          <a:p>
            <a:pPr indent="-323850" lvl="0" marL="457200" rtl="0" algn="l">
              <a:lnSpc>
                <a:spcPct val="150000"/>
              </a:lnSpc>
              <a:spcBef>
                <a:spcPts val="0"/>
              </a:spcBef>
              <a:spcAft>
                <a:spcPts val="0"/>
              </a:spcAft>
              <a:buClr>
                <a:schemeClr val="dk1"/>
              </a:buClr>
              <a:buSzPts val="1500"/>
              <a:buChar char="●"/>
            </a:pPr>
            <a:r>
              <a:rPr lang="en" sz="1500">
                <a:solidFill>
                  <a:schemeClr val="dk1"/>
                </a:solidFill>
              </a:rPr>
              <a:t>Se califican con notas entre 1 y 10</a:t>
            </a:r>
            <a:endParaRPr sz="1500">
              <a:solidFill>
                <a:schemeClr val="dk1"/>
              </a:solidFill>
            </a:endParaRPr>
          </a:p>
          <a:p>
            <a:pPr indent="-323850" lvl="0" marL="457200" rtl="0" algn="l">
              <a:lnSpc>
                <a:spcPct val="150000"/>
              </a:lnSpc>
              <a:spcBef>
                <a:spcPts val="0"/>
              </a:spcBef>
              <a:spcAft>
                <a:spcPts val="0"/>
              </a:spcAft>
              <a:buClr>
                <a:schemeClr val="dk1"/>
              </a:buClr>
              <a:buSzPts val="1500"/>
              <a:buChar char="●"/>
            </a:pPr>
            <a:r>
              <a:rPr lang="en" sz="1500">
                <a:solidFill>
                  <a:schemeClr val="dk1"/>
                </a:solidFill>
              </a:rPr>
              <a:t>Se aprueba con calificación ≥ 4</a:t>
            </a:r>
            <a:endParaRPr sz="1500">
              <a:solidFill>
                <a:schemeClr val="dk1"/>
              </a:solidFill>
            </a:endParaRPr>
          </a:p>
        </p:txBody>
      </p:sp>
      <p:sp>
        <p:nvSpPr>
          <p:cNvPr id="62" name="Google Shape;62;p14"/>
          <p:cNvSpPr txBox="1"/>
          <p:nvPr/>
        </p:nvSpPr>
        <p:spPr>
          <a:xfrm>
            <a:off x="0" y="0"/>
            <a:ext cx="9144000" cy="1012800"/>
          </a:xfrm>
          <a:prstGeom prst="rect">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rPr>
              <a:t>Taller de Matemática Computacional</a:t>
            </a:r>
            <a:endParaRPr sz="280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nvSpPr>
        <p:spPr>
          <a:xfrm>
            <a:off x="0" y="0"/>
            <a:ext cx="9144000" cy="1012800"/>
          </a:xfrm>
          <a:prstGeom prst="rect">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rPr>
              <a:t>Taller de Matemática Computacional</a:t>
            </a:r>
            <a:endParaRPr sz="2800">
              <a:solidFill>
                <a:srgbClr val="FFFFFF"/>
              </a:solidFill>
            </a:endParaRPr>
          </a:p>
        </p:txBody>
      </p:sp>
      <p:sp>
        <p:nvSpPr>
          <p:cNvPr id="68" name="Google Shape;68;p15"/>
          <p:cNvSpPr txBox="1"/>
          <p:nvPr/>
        </p:nvSpPr>
        <p:spPr>
          <a:xfrm>
            <a:off x="0" y="1088875"/>
            <a:ext cx="9144000" cy="2072700"/>
          </a:xfrm>
          <a:prstGeom prst="rect">
            <a:avLst/>
          </a:prstGeom>
          <a:solidFill>
            <a:srgbClr val="D9D2E9"/>
          </a:solidFill>
          <a:ln>
            <a:noFill/>
          </a:ln>
        </p:spPr>
        <p:txBody>
          <a:bodyPr anchorCtr="0" anchor="ctr" bIns="91425" lIns="91425" spcFirstLastPara="1" rIns="91425" wrap="square" tIns="91425">
            <a:noAutofit/>
          </a:bodyPr>
          <a:lstStyle/>
          <a:p>
            <a:pPr indent="0" lvl="0" marL="0" rtl="0" algn="ctr">
              <a:lnSpc>
                <a:spcPct val="150000"/>
              </a:lnSpc>
              <a:spcBef>
                <a:spcPts val="0"/>
              </a:spcBef>
              <a:spcAft>
                <a:spcPts val="0"/>
              </a:spcAft>
              <a:buNone/>
            </a:pPr>
            <a:r>
              <a:rPr b="1" lang="en" sz="2400">
                <a:solidFill>
                  <a:schemeClr val="dk1"/>
                </a:solidFill>
              </a:rPr>
              <a:t>Clases</a:t>
            </a:r>
            <a:endParaRPr sz="2400">
              <a:solidFill>
                <a:schemeClr val="dk1"/>
              </a:solidFill>
            </a:endParaRPr>
          </a:p>
          <a:p>
            <a:pPr indent="0" lvl="0" marL="0" rtl="0" algn="l">
              <a:lnSpc>
                <a:spcPct val="150000"/>
              </a:lnSpc>
              <a:spcBef>
                <a:spcPts val="0"/>
              </a:spcBef>
              <a:spcAft>
                <a:spcPts val="0"/>
              </a:spcAft>
              <a:buNone/>
            </a:pPr>
            <a:r>
              <a:rPr b="1" lang="en" sz="1200">
                <a:solidFill>
                  <a:schemeClr val="dk1"/>
                </a:solidFill>
              </a:rPr>
              <a:t>Se dividen en 2 comisiones con modalidad Teórico-Práctica:</a:t>
            </a:r>
            <a:r>
              <a:rPr lang="en" sz="1200">
                <a:solidFill>
                  <a:schemeClr val="dk1"/>
                </a:solidFill>
              </a:rPr>
              <a:t> LUNES de 18hs a 21hs </a:t>
            </a:r>
            <a:endParaRPr sz="1200">
              <a:solidFill>
                <a:schemeClr val="dk1"/>
              </a:solidFill>
            </a:endParaRPr>
          </a:p>
          <a:p>
            <a:pPr indent="0" lvl="0" marL="0" rtl="0" algn="l">
              <a:lnSpc>
                <a:spcPct val="150000"/>
              </a:lnSpc>
              <a:spcBef>
                <a:spcPts val="0"/>
              </a:spcBef>
              <a:spcAft>
                <a:spcPts val="0"/>
              </a:spcAft>
              <a:buNone/>
            </a:pPr>
            <a:r>
              <a:rPr lang="en" sz="1200">
                <a:solidFill>
                  <a:schemeClr val="dk1"/>
                </a:solidFill>
              </a:rPr>
              <a:t>									       MARTES de 18hs a 21hs</a:t>
            </a:r>
            <a:endParaRPr sz="1200">
              <a:solidFill>
                <a:schemeClr val="dk1"/>
              </a:solidFill>
            </a:endParaRPr>
          </a:p>
          <a:p>
            <a:pPr indent="-304800" lvl="0" marL="457200" rtl="0" algn="l">
              <a:lnSpc>
                <a:spcPct val="150000"/>
              </a:lnSpc>
              <a:spcBef>
                <a:spcPts val="0"/>
              </a:spcBef>
              <a:spcAft>
                <a:spcPts val="0"/>
              </a:spcAft>
              <a:buClr>
                <a:schemeClr val="dk1"/>
              </a:buClr>
              <a:buSzPts val="1200"/>
              <a:buChar char="●"/>
            </a:pPr>
            <a:r>
              <a:rPr lang="en" sz="1200">
                <a:solidFill>
                  <a:schemeClr val="dk1"/>
                </a:solidFill>
              </a:rPr>
              <a:t>Web:  </a:t>
            </a:r>
            <a:r>
              <a:rPr lang="en" sz="1100" u="sng">
                <a:solidFill>
                  <a:schemeClr val="hlink"/>
                </a:solidFill>
                <a:hlinkClick r:id="rId3"/>
              </a:rPr>
              <a:t>https://sites.google.com/alumnos.exa.unicen.edu.ar/tudai1c1</a:t>
            </a:r>
            <a:endParaRPr sz="1200">
              <a:solidFill>
                <a:schemeClr val="dk1"/>
              </a:solidFill>
            </a:endParaRPr>
          </a:p>
          <a:p>
            <a:pPr indent="0" lvl="0" marL="457200" rtl="0" algn="l">
              <a:lnSpc>
                <a:spcPct val="150000"/>
              </a:lnSpc>
              <a:spcBef>
                <a:spcPts val="0"/>
              </a:spcBef>
              <a:spcAft>
                <a:spcPts val="0"/>
              </a:spcAft>
              <a:buNone/>
            </a:pPr>
            <a:r>
              <a:rPr lang="en" sz="1200">
                <a:solidFill>
                  <a:schemeClr val="dk1"/>
                </a:solidFill>
              </a:rPr>
              <a:t>Lo encuentran ingresando a </a:t>
            </a:r>
            <a:r>
              <a:rPr lang="en" sz="1100" u="sng">
                <a:solidFill>
                  <a:schemeClr val="hlink"/>
                </a:solidFill>
                <a:hlinkClick r:id="rId4"/>
              </a:rPr>
              <a:t>https://exa.unicen.edu.ar/catedras/</a:t>
            </a:r>
            <a:r>
              <a:rPr lang="en" sz="1200">
                <a:solidFill>
                  <a:schemeClr val="dk1"/>
                </a:solidFill>
              </a:rPr>
              <a:t> luego TUDAI 1° Año 1° Cuatrimestre</a:t>
            </a:r>
            <a:endParaRPr sz="1200">
              <a:solidFill>
                <a:schemeClr val="dk1"/>
              </a:solidFill>
            </a:endParaRPr>
          </a:p>
        </p:txBody>
      </p:sp>
      <p:sp>
        <p:nvSpPr>
          <p:cNvPr id="69" name="Google Shape;69;p15"/>
          <p:cNvSpPr txBox="1"/>
          <p:nvPr/>
        </p:nvSpPr>
        <p:spPr>
          <a:xfrm>
            <a:off x="18750" y="3094900"/>
            <a:ext cx="4553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70" name="Google Shape;70;p15"/>
          <p:cNvSpPr/>
          <p:nvPr/>
        </p:nvSpPr>
        <p:spPr>
          <a:xfrm>
            <a:off x="257575" y="3303150"/>
            <a:ext cx="3795600" cy="1571400"/>
          </a:xfrm>
          <a:prstGeom prst="round2DiagRect">
            <a:avLst>
              <a:gd fmla="val 16667" name="adj1"/>
              <a:gd fmla="val 0" name="adj2"/>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en"/>
              <a:t>La materia es PROMOCIONABLE.</a:t>
            </a:r>
            <a:endParaRPr/>
          </a:p>
          <a:p>
            <a:pPr indent="-317500" lvl="0" marL="457200" rtl="0" algn="l">
              <a:spcBef>
                <a:spcPts val="0"/>
              </a:spcBef>
              <a:spcAft>
                <a:spcPts val="0"/>
              </a:spcAft>
              <a:buSzPts val="1400"/>
              <a:buChar char="●"/>
            </a:pPr>
            <a:r>
              <a:rPr lang="en"/>
              <a:t>Debe obtenerse una nota igual o superior a 7 (siete).</a:t>
            </a:r>
            <a:endParaRPr/>
          </a:p>
          <a:p>
            <a:pPr indent="-317500" lvl="0" marL="457200" rtl="0" algn="l">
              <a:spcBef>
                <a:spcPts val="0"/>
              </a:spcBef>
              <a:spcAft>
                <a:spcPts val="0"/>
              </a:spcAft>
              <a:buSzPts val="1400"/>
              <a:buChar char="●"/>
            </a:pPr>
            <a:r>
              <a:rPr lang="en"/>
              <a:t>Sólo es posible promocionar en instancias de Parcial o 1er Recuperatorio</a:t>
            </a:r>
            <a:endParaRPr/>
          </a:p>
        </p:txBody>
      </p:sp>
      <p:sp>
        <p:nvSpPr>
          <p:cNvPr id="71" name="Google Shape;71;p15"/>
          <p:cNvSpPr/>
          <p:nvPr/>
        </p:nvSpPr>
        <p:spPr>
          <a:xfrm>
            <a:off x="4351075" y="3303150"/>
            <a:ext cx="4456200" cy="1571400"/>
          </a:xfrm>
          <a:prstGeom prst="round2DiagRect">
            <a:avLst>
              <a:gd fmla="val 16667" name="adj1"/>
              <a:gd fmla="val 0" name="adj2"/>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t>Nota:</a:t>
            </a:r>
            <a:r>
              <a:rPr lang="en"/>
              <a:t> en caso de haber aprobado en el parcial y no alcanzar la calificación mínima de 7 (siete) para acceder a la promoción y deciden presentarse al 1er recuperatorio, la nota que vale es la del último examen al que se presentan. Es decir, si se desaprueba el recuperatorio no se guarda el aprobado del parcial.</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nvSpPr>
        <p:spPr>
          <a:xfrm>
            <a:off x="469300" y="-25750"/>
            <a:ext cx="8674800" cy="763800"/>
          </a:xfrm>
          <a:prstGeom prst="rect">
            <a:avLst/>
          </a:prstGeom>
          <a:noFill/>
          <a:ln>
            <a:noFill/>
          </a:ln>
        </p:spPr>
        <p:txBody>
          <a:bodyPr anchorCtr="0" anchor="ctr" bIns="0" lIns="0" spcFirstLastPara="1" rIns="0" wrap="square" tIns="12050">
            <a:noAutofit/>
          </a:bodyPr>
          <a:lstStyle/>
          <a:p>
            <a:pPr indent="0" lvl="0" marL="0" marR="0" rtl="0" algn="l">
              <a:lnSpc>
                <a:spcPct val="100000"/>
              </a:lnSpc>
              <a:spcBef>
                <a:spcPts val="0"/>
              </a:spcBef>
              <a:spcAft>
                <a:spcPts val="0"/>
              </a:spcAft>
              <a:buNone/>
            </a:pPr>
            <a:r>
              <a:rPr lang="en" sz="3000">
                <a:solidFill>
                  <a:schemeClr val="dk1"/>
                </a:solidFill>
              </a:rPr>
              <a:t>LUNES</a:t>
            </a:r>
            <a:endParaRPr sz="3000">
              <a:solidFill>
                <a:srgbClr val="000099"/>
              </a:solidFill>
            </a:endParaRPr>
          </a:p>
        </p:txBody>
      </p:sp>
      <p:sp>
        <p:nvSpPr>
          <p:cNvPr id="77" name="Google Shape;77;p16"/>
          <p:cNvSpPr txBox="1"/>
          <p:nvPr/>
        </p:nvSpPr>
        <p:spPr>
          <a:xfrm>
            <a:off x="3044749" y="4658570"/>
            <a:ext cx="2130000" cy="224100"/>
          </a:xfrm>
          <a:prstGeom prst="rect">
            <a:avLst/>
          </a:prstGeom>
          <a:noFill/>
          <a:ln>
            <a:noFill/>
          </a:ln>
        </p:spPr>
        <p:txBody>
          <a:bodyPr anchorCtr="0" anchor="t" bIns="0" lIns="0" spcFirstLastPara="1" rIns="0" wrap="square" tIns="12700">
            <a:noAutofit/>
          </a:bodyPr>
          <a:lstStyle/>
          <a:p>
            <a:pPr indent="0" lvl="0" marL="12700" marR="0" rtl="0" algn="ctr">
              <a:lnSpc>
                <a:spcPct val="100000"/>
              </a:lnSpc>
              <a:spcBef>
                <a:spcPts val="0"/>
              </a:spcBef>
              <a:spcAft>
                <a:spcPts val="0"/>
              </a:spcAft>
              <a:buNone/>
            </a:pPr>
            <a:r>
              <a:rPr lang="en" sz="1800"/>
              <a:t>Julieta Améndola</a:t>
            </a:r>
            <a:endParaRPr sz="1800"/>
          </a:p>
        </p:txBody>
      </p:sp>
      <p:pic>
        <p:nvPicPr>
          <p:cNvPr id="78" name="Google Shape;78;p16"/>
          <p:cNvPicPr preferRelativeResize="0"/>
          <p:nvPr/>
        </p:nvPicPr>
        <p:blipFill rotWithShape="1">
          <a:blip r:embed="rId3">
            <a:alphaModFix/>
          </a:blip>
          <a:srcRect b="3025" l="0" r="0" t="3016"/>
          <a:stretch/>
        </p:blipFill>
        <p:spPr>
          <a:xfrm>
            <a:off x="3425481" y="3175348"/>
            <a:ext cx="1368900" cy="1371600"/>
          </a:xfrm>
          <a:prstGeom prst="ellipse">
            <a:avLst/>
          </a:prstGeom>
          <a:noFill/>
          <a:ln cap="flat" cmpd="sng" w="9525">
            <a:solidFill>
              <a:schemeClr val="dk2"/>
            </a:solidFill>
            <a:prstDash val="solid"/>
            <a:round/>
            <a:headEnd len="sm" w="sm" type="none"/>
            <a:tailEnd len="sm" w="sm" type="none"/>
          </a:ln>
        </p:spPr>
      </p:pic>
      <p:sp>
        <p:nvSpPr>
          <p:cNvPr id="79" name="Google Shape;79;p16"/>
          <p:cNvSpPr txBox="1"/>
          <p:nvPr/>
        </p:nvSpPr>
        <p:spPr>
          <a:xfrm>
            <a:off x="5506925" y="219975"/>
            <a:ext cx="3330300" cy="23703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b="1" lang="en" sz="2600"/>
              <a:t>Lunes de 18 a 21hs </a:t>
            </a:r>
            <a:endParaRPr b="1" sz="2600"/>
          </a:p>
          <a:p>
            <a:pPr indent="0" lvl="0" marL="0" rtl="0" algn="l">
              <a:spcBef>
                <a:spcPts val="0"/>
              </a:spcBef>
              <a:spcAft>
                <a:spcPts val="0"/>
              </a:spcAft>
              <a:buNone/>
            </a:pPr>
            <a:r>
              <a:t/>
            </a:r>
            <a:endParaRPr b="1" sz="1600"/>
          </a:p>
          <a:p>
            <a:pPr indent="0" lvl="0" marL="0" rtl="0" algn="l">
              <a:spcBef>
                <a:spcPts val="0"/>
              </a:spcBef>
              <a:spcAft>
                <a:spcPts val="0"/>
              </a:spcAft>
              <a:buNone/>
            </a:pPr>
            <a:r>
              <a:rPr b="1" lang="en" sz="2000"/>
              <a:t>Comisión 1 (DNI IMPAR):</a:t>
            </a:r>
            <a:endParaRPr b="1" sz="2000"/>
          </a:p>
          <a:p>
            <a:pPr indent="457200" lvl="0" marL="0" rtl="0" algn="l">
              <a:spcBef>
                <a:spcPts val="0"/>
              </a:spcBef>
              <a:spcAft>
                <a:spcPts val="0"/>
              </a:spcAft>
              <a:buNone/>
            </a:pPr>
            <a:r>
              <a:rPr b="1" lang="en" sz="2000"/>
              <a:t>Aula 1 Comunes 1</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 sz="2000"/>
              <a:t>Comisión 2 (DNI PAR): </a:t>
            </a:r>
            <a:endParaRPr b="1" sz="2000"/>
          </a:p>
          <a:p>
            <a:pPr indent="457200" lvl="0" marL="0" rtl="0" algn="l">
              <a:spcBef>
                <a:spcPts val="0"/>
              </a:spcBef>
              <a:spcAft>
                <a:spcPts val="0"/>
              </a:spcAft>
              <a:buNone/>
            </a:pPr>
            <a:r>
              <a:rPr b="1" lang="en" sz="2000"/>
              <a:t>Aula 1 Comunes 3</a:t>
            </a:r>
            <a:endParaRPr b="1" sz="2000"/>
          </a:p>
        </p:txBody>
      </p:sp>
      <p:sp>
        <p:nvSpPr>
          <p:cNvPr id="80" name="Google Shape;80;p16"/>
          <p:cNvSpPr/>
          <p:nvPr/>
        </p:nvSpPr>
        <p:spPr>
          <a:xfrm rot="-782720">
            <a:off x="532295" y="921129"/>
            <a:ext cx="1371599" cy="1485557"/>
          </a:xfrm>
          <a:prstGeom prst="ellipse">
            <a:avLst/>
          </a:prstGeom>
          <a:blipFill rotWithShape="1">
            <a:blip r:embed="rId4">
              <a:alphaModFix/>
            </a:blip>
            <a:stretch>
              <a:fillRect b="0" l="0" r="0" t="0"/>
            </a:stretch>
          </a:blip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81" name="Google Shape;81;p16"/>
          <p:cNvSpPr txBox="1"/>
          <p:nvPr/>
        </p:nvSpPr>
        <p:spPr>
          <a:xfrm>
            <a:off x="250592" y="2501163"/>
            <a:ext cx="1836600" cy="224700"/>
          </a:xfrm>
          <a:prstGeom prst="rect">
            <a:avLst/>
          </a:prstGeom>
          <a:noFill/>
          <a:ln>
            <a:noFill/>
          </a:ln>
        </p:spPr>
        <p:txBody>
          <a:bodyPr anchorCtr="0" anchor="t" bIns="0" lIns="0" spcFirstLastPara="1" rIns="0" wrap="square" tIns="12700">
            <a:noAutofit/>
          </a:bodyPr>
          <a:lstStyle/>
          <a:p>
            <a:pPr indent="0" lvl="0" marL="12700" marR="0" rtl="0" algn="ctr">
              <a:lnSpc>
                <a:spcPct val="100000"/>
              </a:lnSpc>
              <a:spcBef>
                <a:spcPts val="0"/>
              </a:spcBef>
              <a:spcAft>
                <a:spcPts val="0"/>
              </a:spcAft>
              <a:buNone/>
            </a:pPr>
            <a:r>
              <a:rPr lang="en" sz="1800"/>
              <a:t>Diego Dalponte</a:t>
            </a:r>
            <a:endParaRPr sz="1000"/>
          </a:p>
        </p:txBody>
      </p:sp>
      <p:sp>
        <p:nvSpPr>
          <p:cNvPr id="82" name="Google Shape;82;p16"/>
          <p:cNvSpPr txBox="1"/>
          <p:nvPr/>
        </p:nvSpPr>
        <p:spPr>
          <a:xfrm>
            <a:off x="198184" y="4762674"/>
            <a:ext cx="2130000" cy="224100"/>
          </a:xfrm>
          <a:prstGeom prst="rect">
            <a:avLst/>
          </a:prstGeom>
          <a:noFill/>
          <a:ln>
            <a:noFill/>
          </a:ln>
        </p:spPr>
        <p:txBody>
          <a:bodyPr anchorCtr="0" anchor="t" bIns="0" lIns="0" spcFirstLastPara="1" rIns="0" wrap="square" tIns="12700">
            <a:noAutofit/>
          </a:bodyPr>
          <a:lstStyle/>
          <a:p>
            <a:pPr indent="0" lvl="0" marL="0" rtl="0" algn="ctr">
              <a:spcBef>
                <a:spcPts val="0"/>
              </a:spcBef>
              <a:spcAft>
                <a:spcPts val="0"/>
              </a:spcAft>
              <a:buClr>
                <a:schemeClr val="dk1"/>
              </a:buClr>
              <a:buFont typeface="Arial"/>
              <a:buNone/>
            </a:pPr>
            <a:r>
              <a:rPr lang="en" sz="1800">
                <a:solidFill>
                  <a:schemeClr val="dk1"/>
                </a:solidFill>
              </a:rPr>
              <a:t>Joaquín Ferreras</a:t>
            </a:r>
            <a:endParaRPr sz="1800"/>
          </a:p>
        </p:txBody>
      </p:sp>
      <p:pic>
        <p:nvPicPr>
          <p:cNvPr id="83" name="Google Shape;83;p16" title="Joaquin F.png"/>
          <p:cNvPicPr preferRelativeResize="0"/>
          <p:nvPr/>
        </p:nvPicPr>
        <p:blipFill rotWithShape="1">
          <a:blip r:embed="rId5">
            <a:alphaModFix/>
          </a:blip>
          <a:srcRect b="0" l="4635" r="4644" t="0"/>
          <a:stretch/>
        </p:blipFill>
        <p:spPr>
          <a:xfrm>
            <a:off x="428504" y="3099152"/>
            <a:ext cx="1579200" cy="1585200"/>
          </a:xfrm>
          <a:prstGeom prst="ellipse">
            <a:avLst/>
          </a:prstGeom>
          <a:noFill/>
          <a:ln cap="flat" cmpd="sng" w="9525">
            <a:solidFill>
              <a:schemeClr val="dk2"/>
            </a:solidFill>
            <a:prstDash val="solid"/>
            <a:round/>
            <a:headEnd len="sm" w="sm" type="none"/>
            <a:tailEnd len="sm" w="sm" type="none"/>
          </a:ln>
        </p:spPr>
      </p:pic>
      <p:sp>
        <p:nvSpPr>
          <p:cNvPr id="84" name="Google Shape;84;p16"/>
          <p:cNvSpPr txBox="1"/>
          <p:nvPr/>
        </p:nvSpPr>
        <p:spPr>
          <a:xfrm>
            <a:off x="5771509" y="4599686"/>
            <a:ext cx="2130000" cy="224100"/>
          </a:xfrm>
          <a:prstGeom prst="rect">
            <a:avLst/>
          </a:prstGeom>
          <a:noFill/>
          <a:ln>
            <a:noFill/>
          </a:ln>
        </p:spPr>
        <p:txBody>
          <a:bodyPr anchorCtr="0" anchor="t" bIns="0" lIns="0" spcFirstLastPara="1" rIns="0" wrap="square" tIns="12700">
            <a:noAutofit/>
          </a:bodyPr>
          <a:lstStyle/>
          <a:p>
            <a:pPr indent="0" lvl="0" marL="12700" marR="0" rtl="0" algn="ctr">
              <a:lnSpc>
                <a:spcPct val="100000"/>
              </a:lnSpc>
              <a:spcBef>
                <a:spcPts val="0"/>
              </a:spcBef>
              <a:spcAft>
                <a:spcPts val="0"/>
              </a:spcAft>
              <a:buNone/>
            </a:pPr>
            <a:r>
              <a:rPr lang="en" sz="1800"/>
              <a:t>Mateo del Campo</a:t>
            </a:r>
            <a:endParaRPr sz="1800"/>
          </a:p>
        </p:txBody>
      </p:sp>
      <p:pic>
        <p:nvPicPr>
          <p:cNvPr id="85" name="Google Shape;85;p16"/>
          <p:cNvPicPr preferRelativeResize="0"/>
          <p:nvPr/>
        </p:nvPicPr>
        <p:blipFill rotWithShape="1">
          <a:blip r:embed="rId6">
            <a:alphaModFix/>
          </a:blip>
          <a:srcRect b="0" l="199" r="189" t="0"/>
          <a:stretch/>
        </p:blipFill>
        <p:spPr>
          <a:xfrm>
            <a:off x="6114684" y="3127250"/>
            <a:ext cx="1368600" cy="1374000"/>
          </a:xfrm>
          <a:prstGeom prst="ellipse">
            <a:avLst/>
          </a:prstGeom>
          <a:noFill/>
          <a:ln cap="flat" cmpd="sng" w="9525">
            <a:solidFill>
              <a:schemeClr val="dk2"/>
            </a:solidFill>
            <a:prstDash val="solid"/>
            <a:round/>
            <a:headEnd len="sm" w="sm" type="none"/>
            <a:tailEnd len="sm" w="sm" type="none"/>
          </a:ln>
        </p:spPr>
      </p:pic>
      <p:sp>
        <p:nvSpPr>
          <p:cNvPr id="86" name="Google Shape;86;p16"/>
          <p:cNvSpPr txBox="1"/>
          <p:nvPr/>
        </p:nvSpPr>
        <p:spPr>
          <a:xfrm>
            <a:off x="3125809" y="2465111"/>
            <a:ext cx="2130000" cy="224100"/>
          </a:xfrm>
          <a:prstGeom prst="rect">
            <a:avLst/>
          </a:prstGeom>
          <a:noFill/>
          <a:ln>
            <a:noFill/>
          </a:ln>
        </p:spPr>
        <p:txBody>
          <a:bodyPr anchorCtr="0" anchor="t" bIns="0" lIns="0" spcFirstLastPara="1" rIns="0" wrap="square" tIns="12700">
            <a:noAutofit/>
          </a:bodyPr>
          <a:lstStyle/>
          <a:p>
            <a:pPr indent="0" lvl="0" marL="12700" marR="0" rtl="0" algn="ctr">
              <a:lnSpc>
                <a:spcPct val="100000"/>
              </a:lnSpc>
              <a:spcBef>
                <a:spcPts val="0"/>
              </a:spcBef>
              <a:spcAft>
                <a:spcPts val="0"/>
              </a:spcAft>
              <a:buNone/>
            </a:pPr>
            <a:r>
              <a:rPr lang="en" sz="1800"/>
              <a:t>Carlos Bulant</a:t>
            </a:r>
            <a:endParaRPr sz="1800"/>
          </a:p>
        </p:txBody>
      </p:sp>
      <p:pic>
        <p:nvPicPr>
          <p:cNvPr id="87" name="Google Shape;87;p16"/>
          <p:cNvPicPr preferRelativeResize="0"/>
          <p:nvPr/>
        </p:nvPicPr>
        <p:blipFill rotWithShape="1">
          <a:blip r:embed="rId7">
            <a:alphaModFix/>
          </a:blip>
          <a:srcRect b="2262" l="0" r="0" t="2253"/>
          <a:stretch/>
        </p:blipFill>
        <p:spPr>
          <a:xfrm>
            <a:off x="3581034" y="932688"/>
            <a:ext cx="1368600" cy="1374000"/>
          </a:xfrm>
          <a:prstGeom prst="ellipse">
            <a:avLst/>
          </a:prstGeom>
          <a:noFill/>
          <a:ln cap="flat" cmpd="sng" w="9525">
            <a:solidFill>
              <a:schemeClr val="dk2"/>
            </a:solidFill>
            <a:prstDash val="solid"/>
            <a:round/>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txBox="1"/>
          <p:nvPr/>
        </p:nvSpPr>
        <p:spPr>
          <a:xfrm>
            <a:off x="0" y="-25750"/>
            <a:ext cx="9144000" cy="763800"/>
          </a:xfrm>
          <a:prstGeom prst="rect">
            <a:avLst/>
          </a:prstGeom>
          <a:noFill/>
          <a:ln>
            <a:noFill/>
          </a:ln>
        </p:spPr>
        <p:txBody>
          <a:bodyPr anchorCtr="0" anchor="ctr" bIns="0" lIns="0" spcFirstLastPara="1" rIns="0" wrap="square" tIns="12050">
            <a:noAutofit/>
          </a:bodyPr>
          <a:lstStyle/>
          <a:p>
            <a:pPr indent="0" lvl="0" marL="0" marR="0" rtl="0" algn="l">
              <a:lnSpc>
                <a:spcPct val="100000"/>
              </a:lnSpc>
              <a:spcBef>
                <a:spcPts val="0"/>
              </a:spcBef>
              <a:spcAft>
                <a:spcPts val="0"/>
              </a:spcAft>
              <a:buNone/>
            </a:pPr>
            <a:r>
              <a:rPr lang="en" sz="3000">
                <a:solidFill>
                  <a:schemeClr val="dk1"/>
                </a:solidFill>
              </a:rPr>
              <a:t> Martes - </a:t>
            </a:r>
            <a:r>
              <a:rPr lang="en" sz="3000">
                <a:solidFill>
                  <a:schemeClr val="dk1"/>
                </a:solidFill>
              </a:rPr>
              <a:t>Comisión 1 - DNI terminado en IMPAR</a:t>
            </a:r>
            <a:endParaRPr sz="3000">
              <a:solidFill>
                <a:srgbClr val="000099"/>
              </a:solidFill>
            </a:endParaRPr>
          </a:p>
        </p:txBody>
      </p:sp>
      <p:sp>
        <p:nvSpPr>
          <p:cNvPr id="93" name="Google Shape;93;p17"/>
          <p:cNvSpPr txBox="1"/>
          <p:nvPr/>
        </p:nvSpPr>
        <p:spPr>
          <a:xfrm>
            <a:off x="5903575" y="1470950"/>
            <a:ext cx="2585100" cy="4311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t/>
            </a:r>
            <a:endParaRPr b="1" sz="1600"/>
          </a:p>
        </p:txBody>
      </p:sp>
      <p:sp>
        <p:nvSpPr>
          <p:cNvPr id="94" name="Google Shape;94;p17"/>
          <p:cNvSpPr txBox="1"/>
          <p:nvPr/>
        </p:nvSpPr>
        <p:spPr>
          <a:xfrm>
            <a:off x="4417209" y="4474186"/>
            <a:ext cx="2130000" cy="224100"/>
          </a:xfrm>
          <a:prstGeom prst="rect">
            <a:avLst/>
          </a:prstGeom>
          <a:noFill/>
          <a:ln>
            <a:noFill/>
          </a:ln>
        </p:spPr>
        <p:txBody>
          <a:bodyPr anchorCtr="0" anchor="t" bIns="0" lIns="0" spcFirstLastPara="1" rIns="0" wrap="square" tIns="12700">
            <a:noAutofit/>
          </a:bodyPr>
          <a:lstStyle/>
          <a:p>
            <a:pPr indent="0" lvl="0" marL="12700" marR="0" rtl="0" algn="ctr">
              <a:lnSpc>
                <a:spcPct val="100000"/>
              </a:lnSpc>
              <a:spcBef>
                <a:spcPts val="0"/>
              </a:spcBef>
              <a:spcAft>
                <a:spcPts val="0"/>
              </a:spcAft>
              <a:buNone/>
            </a:pPr>
            <a:r>
              <a:rPr lang="en" sz="1800"/>
              <a:t>Nicolás Sánchez</a:t>
            </a:r>
            <a:endParaRPr sz="1800"/>
          </a:p>
        </p:txBody>
      </p:sp>
      <p:pic>
        <p:nvPicPr>
          <p:cNvPr id="95" name="Google Shape;95;p17" title="NicoSanchez.jpg"/>
          <p:cNvPicPr preferRelativeResize="0"/>
          <p:nvPr/>
        </p:nvPicPr>
        <p:blipFill rotWithShape="1">
          <a:blip r:embed="rId3">
            <a:alphaModFix/>
          </a:blip>
          <a:srcRect b="0" l="534" r="544" t="0"/>
          <a:stretch/>
        </p:blipFill>
        <p:spPr>
          <a:xfrm>
            <a:off x="4760384" y="3001750"/>
            <a:ext cx="1368600" cy="1374000"/>
          </a:xfrm>
          <a:prstGeom prst="ellipse">
            <a:avLst/>
          </a:prstGeom>
          <a:noFill/>
          <a:ln cap="flat" cmpd="sng" w="9525">
            <a:solidFill>
              <a:schemeClr val="dk2"/>
            </a:solidFill>
            <a:prstDash val="solid"/>
            <a:round/>
            <a:headEnd len="sm" w="sm" type="none"/>
            <a:tailEnd len="sm" w="sm" type="none"/>
          </a:ln>
        </p:spPr>
      </p:pic>
      <p:sp>
        <p:nvSpPr>
          <p:cNvPr id="96" name="Google Shape;96;p17"/>
          <p:cNvSpPr txBox="1"/>
          <p:nvPr/>
        </p:nvSpPr>
        <p:spPr>
          <a:xfrm>
            <a:off x="2442009" y="2548174"/>
            <a:ext cx="2130000" cy="224100"/>
          </a:xfrm>
          <a:prstGeom prst="rect">
            <a:avLst/>
          </a:prstGeom>
          <a:noFill/>
          <a:ln>
            <a:noFill/>
          </a:ln>
        </p:spPr>
        <p:txBody>
          <a:bodyPr anchorCtr="0" anchor="t" bIns="0" lIns="0" spcFirstLastPara="1" rIns="0" wrap="square" tIns="12700">
            <a:noAutofit/>
          </a:bodyPr>
          <a:lstStyle/>
          <a:p>
            <a:pPr indent="0" lvl="0" marL="0" rtl="0" algn="ctr">
              <a:spcBef>
                <a:spcPts val="0"/>
              </a:spcBef>
              <a:spcAft>
                <a:spcPts val="0"/>
              </a:spcAft>
              <a:buClr>
                <a:schemeClr val="dk1"/>
              </a:buClr>
              <a:buFont typeface="Arial"/>
              <a:buNone/>
            </a:pPr>
            <a:r>
              <a:rPr lang="en" sz="1800">
                <a:solidFill>
                  <a:schemeClr val="dk1"/>
                </a:solidFill>
              </a:rPr>
              <a:t>Nicolás Dazeo</a:t>
            </a:r>
            <a:endParaRPr sz="1800"/>
          </a:p>
        </p:txBody>
      </p:sp>
      <p:sp>
        <p:nvSpPr>
          <p:cNvPr id="97" name="Google Shape;97;p17"/>
          <p:cNvSpPr txBox="1"/>
          <p:nvPr/>
        </p:nvSpPr>
        <p:spPr>
          <a:xfrm>
            <a:off x="103909" y="4698286"/>
            <a:ext cx="2130000" cy="224100"/>
          </a:xfrm>
          <a:prstGeom prst="rect">
            <a:avLst/>
          </a:prstGeom>
          <a:noFill/>
          <a:ln>
            <a:noFill/>
          </a:ln>
        </p:spPr>
        <p:txBody>
          <a:bodyPr anchorCtr="0" anchor="t" bIns="0" lIns="0" spcFirstLastPara="1" rIns="0" wrap="square" tIns="12700">
            <a:noAutofit/>
          </a:bodyPr>
          <a:lstStyle/>
          <a:p>
            <a:pPr indent="0" lvl="0" marL="12700" marR="0" rtl="0" algn="ctr">
              <a:lnSpc>
                <a:spcPct val="100000"/>
              </a:lnSpc>
              <a:spcBef>
                <a:spcPts val="0"/>
              </a:spcBef>
              <a:spcAft>
                <a:spcPts val="0"/>
              </a:spcAft>
              <a:buNone/>
            </a:pPr>
            <a:r>
              <a:rPr lang="en" sz="1800"/>
              <a:t>Rosina Peloni</a:t>
            </a:r>
            <a:endParaRPr sz="1800"/>
          </a:p>
        </p:txBody>
      </p:sp>
      <p:pic>
        <p:nvPicPr>
          <p:cNvPr id="98" name="Google Shape;98;p17" title="Rosina.jpg"/>
          <p:cNvPicPr preferRelativeResize="0"/>
          <p:nvPr/>
        </p:nvPicPr>
        <p:blipFill rotWithShape="1">
          <a:blip r:embed="rId4">
            <a:alphaModFix/>
          </a:blip>
          <a:srcRect b="11685" l="0" r="0" t="11685"/>
          <a:stretch/>
        </p:blipFill>
        <p:spPr>
          <a:xfrm>
            <a:off x="533809" y="3007550"/>
            <a:ext cx="1368600" cy="1374000"/>
          </a:xfrm>
          <a:prstGeom prst="ellipse">
            <a:avLst/>
          </a:prstGeom>
          <a:noFill/>
          <a:ln cap="flat" cmpd="sng" w="9525">
            <a:solidFill>
              <a:schemeClr val="dk2"/>
            </a:solidFill>
            <a:prstDash val="solid"/>
            <a:round/>
            <a:headEnd len="sm" w="sm" type="none"/>
            <a:tailEnd len="sm" w="sm" type="none"/>
          </a:ln>
        </p:spPr>
      </p:pic>
      <p:pic>
        <p:nvPicPr>
          <p:cNvPr id="99" name="Google Shape;99;p17"/>
          <p:cNvPicPr preferRelativeResize="0"/>
          <p:nvPr/>
        </p:nvPicPr>
        <p:blipFill rotWithShape="1">
          <a:blip r:embed="rId5">
            <a:alphaModFix/>
          </a:blip>
          <a:srcRect b="0" l="189" r="189" t="0"/>
          <a:stretch/>
        </p:blipFill>
        <p:spPr>
          <a:xfrm>
            <a:off x="2577479" y="871302"/>
            <a:ext cx="1579200" cy="1585200"/>
          </a:xfrm>
          <a:prstGeom prst="ellipse">
            <a:avLst/>
          </a:prstGeom>
          <a:noFill/>
          <a:ln cap="flat" cmpd="sng" w="9525">
            <a:solidFill>
              <a:schemeClr val="dk2"/>
            </a:solidFill>
            <a:prstDash val="solid"/>
            <a:round/>
            <a:headEnd len="sm" w="sm" type="none"/>
            <a:tailEnd len="sm" w="sm" type="none"/>
          </a:ln>
        </p:spPr>
      </p:pic>
      <p:sp>
        <p:nvSpPr>
          <p:cNvPr id="100" name="Google Shape;100;p17"/>
          <p:cNvSpPr txBox="1"/>
          <p:nvPr/>
        </p:nvSpPr>
        <p:spPr>
          <a:xfrm>
            <a:off x="5450875" y="1001600"/>
            <a:ext cx="3490500" cy="136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a:solidFill>
                  <a:schemeClr val="dk1"/>
                </a:solidFill>
              </a:rPr>
              <a:t>Martes</a:t>
            </a:r>
            <a:r>
              <a:rPr b="1" lang="en" sz="2600">
                <a:solidFill>
                  <a:schemeClr val="dk1"/>
                </a:solidFill>
              </a:rPr>
              <a:t> de 18 a 21hs </a:t>
            </a:r>
            <a:endParaRPr b="1" sz="2600">
              <a:solidFill>
                <a:schemeClr val="dk1"/>
              </a:solidFill>
            </a:endParaRPr>
          </a:p>
          <a:p>
            <a:pPr indent="0" lvl="0" marL="0" rtl="0" algn="l">
              <a:spcBef>
                <a:spcPts val="0"/>
              </a:spcBef>
              <a:spcAft>
                <a:spcPts val="0"/>
              </a:spcAft>
              <a:buNone/>
            </a:pPr>
            <a:r>
              <a:t/>
            </a:r>
            <a:endParaRPr b="1" sz="1600">
              <a:solidFill>
                <a:schemeClr val="dk1"/>
              </a:solidFill>
            </a:endParaRPr>
          </a:p>
          <a:p>
            <a:pPr indent="457200" lvl="0" marL="0" rtl="0" algn="l">
              <a:spcBef>
                <a:spcPts val="0"/>
              </a:spcBef>
              <a:spcAft>
                <a:spcPts val="0"/>
              </a:spcAft>
              <a:buNone/>
            </a:pPr>
            <a:r>
              <a:rPr b="1" lang="en" sz="2100">
                <a:solidFill>
                  <a:schemeClr val="dk1"/>
                </a:solidFill>
              </a:rPr>
              <a:t>Aula 1 Comunes 1</a:t>
            </a:r>
            <a:endParaRPr b="1" sz="2100">
              <a:solidFill>
                <a:schemeClr val="dk1"/>
              </a:solidFill>
            </a:endParaRPr>
          </a:p>
          <a:p>
            <a:pPr indent="45720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8"/>
          <p:cNvSpPr txBox="1"/>
          <p:nvPr/>
        </p:nvSpPr>
        <p:spPr>
          <a:xfrm>
            <a:off x="309419" y="4567775"/>
            <a:ext cx="1890600" cy="224100"/>
          </a:xfrm>
          <a:prstGeom prst="rect">
            <a:avLst/>
          </a:prstGeom>
          <a:noFill/>
          <a:ln>
            <a:noFill/>
          </a:ln>
        </p:spPr>
        <p:txBody>
          <a:bodyPr anchorCtr="0" anchor="t" bIns="0" lIns="0" spcFirstLastPara="1" rIns="0" wrap="square" tIns="12700">
            <a:noAutofit/>
          </a:bodyPr>
          <a:lstStyle/>
          <a:p>
            <a:pPr indent="0" lvl="0" marL="0" marR="0" rtl="0" algn="ctr">
              <a:lnSpc>
                <a:spcPct val="100000"/>
              </a:lnSpc>
              <a:spcBef>
                <a:spcPts val="0"/>
              </a:spcBef>
              <a:spcAft>
                <a:spcPts val="0"/>
              </a:spcAft>
              <a:buNone/>
            </a:pPr>
            <a:r>
              <a:rPr lang="en" sz="1800"/>
              <a:t>Agustín Godoy C.</a:t>
            </a:r>
            <a:endParaRPr sz="1800"/>
          </a:p>
        </p:txBody>
      </p:sp>
      <p:pic>
        <p:nvPicPr>
          <p:cNvPr id="106" name="Google Shape;106;p18" title="Kosser.jpg"/>
          <p:cNvPicPr preferRelativeResize="0"/>
          <p:nvPr/>
        </p:nvPicPr>
        <p:blipFill rotWithShape="1">
          <a:blip r:embed="rId3">
            <a:alphaModFix/>
          </a:blip>
          <a:srcRect b="4462" l="0" r="0" t="4471"/>
          <a:stretch/>
        </p:blipFill>
        <p:spPr>
          <a:xfrm>
            <a:off x="550769" y="3160875"/>
            <a:ext cx="1371600" cy="1371600"/>
          </a:xfrm>
          <a:prstGeom prst="ellipse">
            <a:avLst/>
          </a:prstGeom>
          <a:noFill/>
          <a:ln cap="flat" cmpd="sng" w="9525">
            <a:solidFill>
              <a:schemeClr val="dk2"/>
            </a:solidFill>
            <a:prstDash val="solid"/>
            <a:round/>
            <a:headEnd len="sm" w="sm" type="none"/>
            <a:tailEnd len="sm" w="sm" type="none"/>
          </a:ln>
        </p:spPr>
      </p:pic>
      <p:sp>
        <p:nvSpPr>
          <p:cNvPr id="107" name="Google Shape;107;p18"/>
          <p:cNvSpPr/>
          <p:nvPr/>
        </p:nvSpPr>
        <p:spPr>
          <a:xfrm>
            <a:off x="2599667" y="879156"/>
            <a:ext cx="1371600" cy="1758900"/>
          </a:xfrm>
          <a:prstGeom prst="ellipse">
            <a:avLst/>
          </a:prstGeom>
          <a:blipFill rotWithShape="1">
            <a:blip r:embed="rId4">
              <a:alphaModFix/>
            </a:blip>
            <a:stretch>
              <a:fillRect b="0" l="0" r="0" t="0"/>
            </a:stretch>
          </a:blip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08" name="Google Shape;108;p18"/>
          <p:cNvSpPr txBox="1"/>
          <p:nvPr/>
        </p:nvSpPr>
        <p:spPr>
          <a:xfrm>
            <a:off x="2385941" y="2663825"/>
            <a:ext cx="1890600" cy="224100"/>
          </a:xfrm>
          <a:prstGeom prst="rect">
            <a:avLst/>
          </a:prstGeom>
          <a:noFill/>
          <a:ln>
            <a:noFill/>
          </a:ln>
        </p:spPr>
        <p:txBody>
          <a:bodyPr anchorCtr="0" anchor="t" bIns="0" lIns="0" spcFirstLastPara="1" rIns="0" wrap="square" tIns="12700">
            <a:noAutofit/>
          </a:bodyPr>
          <a:lstStyle/>
          <a:p>
            <a:pPr indent="0" lvl="0" marL="0" marR="0" rtl="0" algn="ctr">
              <a:lnSpc>
                <a:spcPct val="100000"/>
              </a:lnSpc>
              <a:spcBef>
                <a:spcPts val="0"/>
              </a:spcBef>
              <a:spcAft>
                <a:spcPts val="0"/>
              </a:spcAft>
              <a:buNone/>
            </a:pPr>
            <a:r>
              <a:rPr lang="en" sz="1800"/>
              <a:t>Delfina Braggio</a:t>
            </a:r>
            <a:endParaRPr sz="1800"/>
          </a:p>
        </p:txBody>
      </p:sp>
      <p:sp>
        <p:nvSpPr>
          <p:cNvPr id="109" name="Google Shape;109;p18"/>
          <p:cNvSpPr txBox="1"/>
          <p:nvPr/>
        </p:nvSpPr>
        <p:spPr>
          <a:xfrm>
            <a:off x="4365825" y="4688150"/>
            <a:ext cx="2005800" cy="224100"/>
          </a:xfrm>
          <a:prstGeom prst="rect">
            <a:avLst/>
          </a:prstGeom>
          <a:noFill/>
          <a:ln>
            <a:noFill/>
          </a:ln>
        </p:spPr>
        <p:txBody>
          <a:bodyPr anchorCtr="0" anchor="t" bIns="0" lIns="0" spcFirstLastPara="1" rIns="0" wrap="square" tIns="12700">
            <a:noAutofit/>
          </a:bodyPr>
          <a:lstStyle/>
          <a:p>
            <a:pPr indent="0" lvl="0" marL="12700" marR="0" rtl="0" algn="ctr">
              <a:lnSpc>
                <a:spcPct val="100000"/>
              </a:lnSpc>
              <a:spcBef>
                <a:spcPts val="0"/>
              </a:spcBef>
              <a:spcAft>
                <a:spcPts val="0"/>
              </a:spcAft>
              <a:buNone/>
            </a:pPr>
            <a:r>
              <a:rPr lang="en" sz="1800"/>
              <a:t>Fiorella Mangas</a:t>
            </a:r>
            <a:endParaRPr sz="1800"/>
          </a:p>
          <a:p>
            <a:pPr indent="0" lvl="0" marL="0" marR="0" rtl="0" algn="l">
              <a:lnSpc>
                <a:spcPct val="100000"/>
              </a:lnSpc>
              <a:spcBef>
                <a:spcPts val="0"/>
              </a:spcBef>
              <a:spcAft>
                <a:spcPts val="0"/>
              </a:spcAft>
              <a:buNone/>
            </a:pPr>
            <a:r>
              <a:t/>
            </a:r>
            <a:endParaRPr sz="1800"/>
          </a:p>
        </p:txBody>
      </p:sp>
      <p:pic>
        <p:nvPicPr>
          <p:cNvPr id="110" name="Google Shape;110;p18" title="Fiorella.jpg"/>
          <p:cNvPicPr preferRelativeResize="0"/>
          <p:nvPr/>
        </p:nvPicPr>
        <p:blipFill rotWithShape="1">
          <a:blip r:embed="rId5">
            <a:alphaModFix/>
          </a:blip>
          <a:srcRect b="0" l="189" r="189" t="0"/>
          <a:stretch/>
        </p:blipFill>
        <p:spPr>
          <a:xfrm>
            <a:off x="4535079" y="3013177"/>
            <a:ext cx="1579200" cy="1585200"/>
          </a:xfrm>
          <a:prstGeom prst="ellipse">
            <a:avLst/>
          </a:prstGeom>
          <a:noFill/>
          <a:ln cap="flat" cmpd="sng" w="9525">
            <a:solidFill>
              <a:schemeClr val="dk2"/>
            </a:solidFill>
            <a:prstDash val="solid"/>
            <a:round/>
            <a:headEnd len="sm" w="sm" type="none"/>
            <a:tailEnd len="sm" w="sm" type="none"/>
          </a:ln>
        </p:spPr>
      </p:pic>
      <p:sp>
        <p:nvSpPr>
          <p:cNvPr id="111" name="Google Shape;111;p18"/>
          <p:cNvSpPr txBox="1"/>
          <p:nvPr/>
        </p:nvSpPr>
        <p:spPr>
          <a:xfrm>
            <a:off x="0" y="-25750"/>
            <a:ext cx="9144000" cy="763800"/>
          </a:xfrm>
          <a:prstGeom prst="rect">
            <a:avLst/>
          </a:prstGeom>
          <a:noFill/>
          <a:ln>
            <a:noFill/>
          </a:ln>
        </p:spPr>
        <p:txBody>
          <a:bodyPr anchorCtr="0" anchor="ctr" bIns="0" lIns="0" spcFirstLastPara="1" rIns="0" wrap="square" tIns="12050">
            <a:noAutofit/>
          </a:bodyPr>
          <a:lstStyle/>
          <a:p>
            <a:pPr indent="0" lvl="0" marL="0" marR="0" rtl="0" algn="l">
              <a:lnSpc>
                <a:spcPct val="100000"/>
              </a:lnSpc>
              <a:spcBef>
                <a:spcPts val="0"/>
              </a:spcBef>
              <a:spcAft>
                <a:spcPts val="0"/>
              </a:spcAft>
              <a:buNone/>
            </a:pPr>
            <a:r>
              <a:rPr lang="en" sz="3000">
                <a:solidFill>
                  <a:schemeClr val="dk1"/>
                </a:solidFill>
              </a:rPr>
              <a:t> Martes - Comisión 2 - DNI terminado en PAR</a:t>
            </a:r>
            <a:endParaRPr sz="3000">
              <a:solidFill>
                <a:srgbClr val="000099"/>
              </a:solidFill>
            </a:endParaRPr>
          </a:p>
        </p:txBody>
      </p:sp>
      <p:sp>
        <p:nvSpPr>
          <p:cNvPr id="112" name="Google Shape;112;p18"/>
          <p:cNvSpPr txBox="1"/>
          <p:nvPr/>
        </p:nvSpPr>
        <p:spPr>
          <a:xfrm>
            <a:off x="5450875" y="1001600"/>
            <a:ext cx="3490500" cy="136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a:solidFill>
                  <a:schemeClr val="dk1"/>
                </a:solidFill>
              </a:rPr>
              <a:t>Martes de 18 a 21hs </a:t>
            </a:r>
            <a:endParaRPr b="1" sz="2600">
              <a:solidFill>
                <a:schemeClr val="dk1"/>
              </a:solidFill>
            </a:endParaRPr>
          </a:p>
          <a:p>
            <a:pPr indent="0" lvl="0" marL="0" rtl="0" algn="l">
              <a:spcBef>
                <a:spcPts val="0"/>
              </a:spcBef>
              <a:spcAft>
                <a:spcPts val="0"/>
              </a:spcAft>
              <a:buNone/>
            </a:pPr>
            <a:r>
              <a:t/>
            </a:r>
            <a:endParaRPr b="1" sz="1600">
              <a:solidFill>
                <a:schemeClr val="dk1"/>
              </a:solidFill>
            </a:endParaRPr>
          </a:p>
          <a:p>
            <a:pPr indent="457200" lvl="0" marL="0" rtl="0" algn="l">
              <a:spcBef>
                <a:spcPts val="0"/>
              </a:spcBef>
              <a:spcAft>
                <a:spcPts val="0"/>
              </a:spcAft>
              <a:buNone/>
            </a:pPr>
            <a:r>
              <a:rPr b="1" lang="en" sz="2100">
                <a:solidFill>
                  <a:schemeClr val="dk1"/>
                </a:solidFill>
              </a:rPr>
              <a:t>Aula 2 Comunes 1</a:t>
            </a:r>
            <a:endParaRPr b="1" sz="2100">
              <a:solidFill>
                <a:schemeClr val="dk1"/>
              </a:solidFill>
            </a:endParaRPr>
          </a:p>
          <a:p>
            <a:pPr indent="45720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