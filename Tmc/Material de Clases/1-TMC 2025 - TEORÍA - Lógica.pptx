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Helvetica Neue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E93A90-7BC2-4B80-B5AB-D700D07FBC39}">
  <a:tblStyle styleId="{43E93A90-7BC2-4B80-B5AB-D700D07FBC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B743488-22C1-46C6-B57F-B09B50B2154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5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0a04e065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1e0a04e06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0a04e065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1e0a04e065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cc37421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ccc37421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cc37421e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ccc37421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c9f46354e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2c9f46354e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cc37421e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ccc37421e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cc37421e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ccc37421e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ccc37421e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ccc37421e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ccc37421e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ccc37421e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ccc37421e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ccc37421e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ccc37421e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ccc37421e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cc37421e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ccc37421e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ccc37421e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ccc37421e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ccc37421e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ccc37421e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ccc37421e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ccc37421e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ccc37421e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ccc37421e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ccc37421e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ccc37421e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ccc37421e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ccc37421e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ccc37421e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ccc37421e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ccc37421e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ccc37421e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ccc37421e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ccc37421e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ccc37421e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ccc37421e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ccc37421e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ccc37421e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ccc37421e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ccc37421e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ccc37421e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ccc37421e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ccc37421e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ccc37421e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ccc37421e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ccc37421e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ccc37421e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ccc37421e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ccc37421e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ccc37421e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ccc37421e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ccc37421e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4654500"/>
            <a:ext cx="9144000" cy="48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TUDAI / TUARI - Fac.Cs.Exactas - UNICEN</a:t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13187" l="2625" r="65390" t="15642"/>
          <a:stretch/>
        </p:blipFill>
        <p:spPr>
          <a:xfrm>
            <a:off x="4084563" y="3759650"/>
            <a:ext cx="974875" cy="89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0" y="622200"/>
            <a:ext cx="9144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TALLER DE MATEMÁTICA COMPUTACIONAL</a:t>
            </a:r>
            <a:endParaRPr b="0" i="0" sz="3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0" y="2374800"/>
            <a:ext cx="91440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Unidad #1 - Lógica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Aprender 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identificar proposiciones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lógicas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Aprender 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construir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resolver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tablas de verdad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Identificar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tautologías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contradicciones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contingencias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Aprender a trabajar con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cuantificadores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Herramienta fundamental de la </a:t>
            </a:r>
            <a:r>
              <a:rPr b="1" lang="en" sz="1800" u="sng">
                <a:latin typeface="Helvetica Neue"/>
                <a:ea typeface="Helvetica Neue"/>
                <a:cs typeface="Helvetica Neue"/>
                <a:sym typeface="Helvetica Neue"/>
              </a:rPr>
              <a:t>computación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→ Relación con el </a:t>
            </a:r>
            <a:r>
              <a:rPr lang="en" sz="1800" u="sng">
                <a:latin typeface="Helvetica Neue"/>
                <a:ea typeface="Helvetica Neue"/>
                <a:cs typeface="Helvetica Neue"/>
                <a:sym typeface="Helvetica Neue"/>
              </a:rPr>
              <a:t>sistema binario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, puertas lógicas y el </a:t>
            </a:r>
            <a:r>
              <a:rPr lang="en" sz="1800" u="sng">
                <a:latin typeface="Helvetica Neue"/>
                <a:ea typeface="Helvetica Neue"/>
                <a:cs typeface="Helvetica Neue"/>
                <a:sym typeface="Helvetica Neue"/>
              </a:rPr>
              <a:t>álgebra de Boole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Programación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→ Todos los lenguajes implementan </a:t>
            </a:r>
            <a:r>
              <a:rPr lang="en" sz="1800" u="sng">
                <a:latin typeface="Helvetica Neue"/>
                <a:ea typeface="Helvetica Neue"/>
                <a:cs typeface="Helvetica Neue"/>
                <a:sym typeface="Helvetica Neue"/>
              </a:rPr>
              <a:t>operadores lógicos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para permitirnos tomar </a:t>
            </a:r>
            <a:r>
              <a:rPr lang="en" sz="1800" u="sng">
                <a:latin typeface="Helvetica Neue"/>
                <a:ea typeface="Helvetica Neue"/>
                <a:cs typeface="Helvetica Neue"/>
                <a:sym typeface="Helvetica Neue"/>
              </a:rPr>
              <a:t>decisiones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en función de </a:t>
            </a:r>
            <a:r>
              <a:rPr lang="en" sz="1800" u="sng">
                <a:latin typeface="Helvetica Neue"/>
                <a:ea typeface="Helvetica Neue"/>
                <a:cs typeface="Helvetica Neue"/>
                <a:sym typeface="Helvetica Neue"/>
              </a:rPr>
              <a:t>condiciones</a:t>
            </a:r>
            <a:endParaRPr sz="1800" u="sng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Inteligencia artificial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→ Modelos primitivos recurrían al </a:t>
            </a:r>
            <a:r>
              <a:rPr lang="en" sz="1800" u="sng">
                <a:latin typeface="Helvetica Neue"/>
                <a:ea typeface="Helvetica Neue"/>
                <a:cs typeface="Helvetica Neue"/>
                <a:sym typeface="Helvetica Neue"/>
              </a:rPr>
              <a:t>razonamiento lógico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a partir de reglas y cláusulas para dar una respuesta automática a una consulta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Bases de datos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→ Las </a:t>
            </a:r>
            <a:r>
              <a:rPr lang="en" sz="1800" u="sng">
                <a:latin typeface="Helvetica Neue"/>
                <a:ea typeface="Helvetica Neue"/>
                <a:cs typeface="Helvetica Neue"/>
                <a:sym typeface="Helvetica Neue"/>
              </a:rPr>
              <a:t>consultas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que hacemos a las bases de datos deben satisfacer un criterio lógico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qué lógica en TUDAI?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Optimizar condicionales y criterios de consultas en bases de datos.</a:t>
            </a:r>
            <a:b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Mejorar nuestra capacidad para abstraer escenarios en variables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Ayudarnos a debuggear mejor nuestro código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Prepararnos para mejorar nuestras habilidades para aprender programación más avanzada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nos va a permitir saber lógica?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 lógica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 una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expresión informativa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declarativa, que puede ser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falsa o verdadera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pero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ambas a la vez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preguntas NO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son proposiciones lógicas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sentencias imperativas NO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son proposiciones lógicas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expresiones matemáticas 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son proposiciones lógicas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 una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expresión sea falsa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no implica que no sea una proposición lógic</a:t>
            </a:r>
            <a:r>
              <a:rPr i="1" lang="en" sz="1800"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solo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significa que su “valor de verdad” es falso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Por ejemplo: “El sol es un planeta”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 lógica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0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= 1 + 3            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es una proposición lógica con valor de verdad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Mañana estará soleado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es una expresión declarativa. Su valor de verdad se definirá mañana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 o no ser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es una expresión declarativa. Su valor de verdad es siempre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V, 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una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Tautología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Hagan todos los ejercicios del práctico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es una sentencia imperativa, una orden, no se le puede asignar valor de verdad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¿Cómo te llamás?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es una pregunta.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 lógica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Proposiciones compuestas y operadores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285050" y="1165025"/>
            <a:ext cx="8626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Las proposiciones simples pueden estar combinadas por medio de operadores lógicos y formar proposiciones compuestas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Ejemplos: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Hoy es lunes </a:t>
            </a:r>
            <a:r>
              <a:rPr b="1" lang="en" sz="1900"/>
              <a:t>y </a:t>
            </a:r>
            <a:r>
              <a:rPr lang="en" sz="1900"/>
              <a:t>mañana es </a:t>
            </a:r>
            <a:r>
              <a:rPr lang="en" sz="1900"/>
              <a:t>martes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Si</a:t>
            </a:r>
            <a:r>
              <a:rPr lang="en" sz="1900"/>
              <a:t> hoy llueve </a:t>
            </a:r>
            <a:r>
              <a:rPr b="1" lang="en" sz="1900"/>
              <a:t>entonces</a:t>
            </a:r>
            <a:r>
              <a:rPr lang="en" sz="1900"/>
              <a:t> mañana estará soleado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2+2=4 </a:t>
            </a:r>
            <a:r>
              <a:rPr b="1" lang="en" sz="1900"/>
              <a:t>o</a:t>
            </a:r>
            <a:r>
              <a:rPr lang="en" sz="1900"/>
              <a:t> ahora es de noche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Proposiciones compuestas y operadores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285050" y="1165025"/>
            <a:ext cx="86262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Operado</a:t>
            </a:r>
            <a:r>
              <a:rPr lang="en" sz="1800"/>
              <a:t>res: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 (negación): ¬p, ~p. Tiene como función negar una proposición.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AND (conjunción): p∧q. Se utiliza para conectar dos proposiciones que se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deben cumplir para que se pueda obtener un resultado verdadero.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OR (disyunción): p∨q. Se obtiene un resultado verdadero cuando alguna de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las proposiciones es verdadera.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XOR (disyunción exclusiva): p⊻q. El resultado es verdadero si alguna de las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proposiciones es cierta, pero no ambas.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CONDICIONAL (o implicancia): p→q. Se lee “si p entonces q”.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BICONDICIONAL (sí y sólo si): p↔q. Se lee “p si y solo si q”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Precedencia de operadores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6215725" y="1165025"/>
            <a:ext cx="2695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NOTA:</a:t>
            </a:r>
            <a:r>
              <a:rPr lang="en" sz="1600">
                <a:solidFill>
                  <a:schemeClr val="dk1"/>
                </a:solidFill>
              </a:rPr>
              <a:t> A menos que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esté indicado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con paréntesis,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los operadores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se asocian a izquierda</a:t>
            </a:r>
            <a:r>
              <a:rPr lang="en" sz="1600">
                <a:solidFill>
                  <a:schemeClr val="dk1"/>
                </a:solidFill>
              </a:rPr>
              <a:t>,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Ejemplos: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→Q→R ≡ (</a:t>
            </a:r>
            <a:r>
              <a:rPr lang="en" sz="1600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→Q)→R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↔Q↔R ≡ (</a:t>
            </a:r>
            <a:r>
              <a:rPr lang="en" sz="1600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↔Q)↔R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∧Q∧R ≡ (</a:t>
            </a:r>
            <a:r>
              <a:rPr lang="en" sz="1600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∧Q)∧R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∨Q∨R ≡ (</a:t>
            </a:r>
            <a:r>
              <a:rPr lang="en" sz="1600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∨Q)∨R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438200" y="126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2744500"/>
                <a:gridCol w="274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595959"/>
                          </a:solidFill>
                        </a:rPr>
                        <a:t>Precedencia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595959"/>
                          </a:solidFill>
                        </a:rPr>
                        <a:t>Operador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()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¬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∧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⊻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∨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→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</a:rPr>
                        <a:t>↔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 una técnica para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determinar el valor de verdad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una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 lógica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dados todos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posibles valores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las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variables lógicas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usarla, la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 lógica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tiene que estar escrita en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lenguaje proposicional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partir del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de la tabla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se define si una proposición es una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Tautología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una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Contingencia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una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Contradicción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Dos proposiciones son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equivalentes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para los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mismos valores de las variables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proposicionales, el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de la tabla es el mismo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0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Tablas de verdad</a:t>
            </a:r>
            <a:endParaRPr b="0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21" name="Google Shape;121;p23"/>
          <p:cNvGraphicFramePr/>
          <p:nvPr/>
        </p:nvGraphicFramePr>
        <p:xfrm>
          <a:off x="527413" y="172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395325"/>
                <a:gridCol w="3953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~p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2" name="Google Shape;122;p23"/>
          <p:cNvGraphicFramePr/>
          <p:nvPr/>
        </p:nvGraphicFramePr>
        <p:xfrm>
          <a:off x="1449263" y="172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389125"/>
                <a:gridCol w="401525"/>
                <a:gridCol w="537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pvq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3" name="Google Shape;123;p23"/>
          <p:cNvGraphicFramePr/>
          <p:nvPr/>
        </p:nvGraphicFramePr>
        <p:xfrm>
          <a:off x="2908963" y="172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389125"/>
                <a:gridCol w="401525"/>
                <a:gridCol w="537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Λ</a:t>
                      </a: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4" name="Google Shape;124;p23"/>
          <p:cNvGraphicFramePr/>
          <p:nvPr/>
        </p:nvGraphicFramePr>
        <p:xfrm>
          <a:off x="4368675" y="172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389125"/>
                <a:gridCol w="401525"/>
                <a:gridCol w="537850"/>
              </a:tblGrid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⊻</a:t>
                      </a: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5" name="Google Shape;125;p23"/>
          <p:cNvGraphicFramePr/>
          <p:nvPr/>
        </p:nvGraphicFramePr>
        <p:xfrm>
          <a:off x="5828375" y="172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389125"/>
                <a:gridCol w="401525"/>
                <a:gridCol w="537850"/>
              </a:tblGrid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➡</a:t>
                      </a: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6" name="Google Shape;126;p23"/>
          <p:cNvGraphicFramePr/>
          <p:nvPr/>
        </p:nvGraphicFramePr>
        <p:xfrm>
          <a:off x="7288075" y="172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389125"/>
                <a:gridCol w="401525"/>
                <a:gridCol w="537850"/>
              </a:tblGrid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↔️</a:t>
                      </a:r>
                      <a:r>
                        <a:rPr b="1" lang="en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7" name="Google Shape;127;p23"/>
          <p:cNvSpPr txBox="1"/>
          <p:nvPr/>
        </p:nvSpPr>
        <p:spPr>
          <a:xfrm>
            <a:off x="4653025" y="1166550"/>
            <a:ext cx="7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XOR</a:t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1809500" y="1166550"/>
            <a:ext cx="5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</a:t>
            </a:r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205225" y="1166550"/>
            <a:ext cx="7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</a:t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690625" y="1166550"/>
            <a:ext cx="7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</a:t>
            </a:r>
            <a:endParaRPr/>
          </a:p>
        </p:txBody>
      </p:sp>
      <p:sp>
        <p:nvSpPr>
          <p:cNvPr id="131" name="Google Shape;131;p23"/>
          <p:cNvSpPr txBox="1"/>
          <p:nvPr/>
        </p:nvSpPr>
        <p:spPr>
          <a:xfrm>
            <a:off x="5752175" y="1166550"/>
            <a:ext cx="145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CONDICIONAL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7472425" y="1166550"/>
            <a:ext cx="9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BI-COND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Proposición:  (P ∨ Q) ⊻ (R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P)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AutoNum type="arabicPeriod"/>
            </a:pPr>
            <a:r>
              <a:rPr b="0" i="1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Cuántas variables lógicas (k) tiene la proposición?</a:t>
            </a: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k=3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AutoNum type="arabicPeriod"/>
            </a:pPr>
            <a:r>
              <a:rPr b="0" i="1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Cuántas filas (n) tendrá la tabla?</a:t>
            </a: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Esto es </a:t>
            </a: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n= 2</a:t>
            </a:r>
            <a:r>
              <a:rPr b="1" baseline="3000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AutoNum type="arabicPeriod"/>
            </a:pPr>
            <a:r>
              <a:rPr b="0" i="1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Ordenar las variables en orden alfabético. </a:t>
            </a: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P,Q,R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AutoNum type="arabicPeriod"/>
            </a:pPr>
            <a:r>
              <a:rPr b="0" i="1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Armar las primeras k columnas de la tabla de verdad, con las variables ordenadas. Luego completar las columnas con los valores de verdad posibles para cada variable. Para ello, siga el siguiente procedimiento:</a:t>
            </a:r>
            <a:endParaRPr b="0" i="1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AutoNum type="alphaLcPeriod"/>
            </a:pPr>
            <a:r>
              <a:rPr b="0" i="1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Primer columna: </a:t>
            </a:r>
            <a:r>
              <a:rPr b="0" i="1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Comenzando de la fila 1 y hasta la fila n, coloque de forma intercalada n/2 valores F y n/2 valores V.</a:t>
            </a:r>
            <a:endParaRPr b="0" i="1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AutoNum type="alphaLcPeriod"/>
            </a:pPr>
            <a:r>
              <a:rPr b="0" i="1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Segunda columna: Comenzando de la fila 1 y hasta la fila n, coloque de forma intercalada n/4 valores F y n/4 valores V.</a:t>
            </a:r>
            <a:endParaRPr b="0" i="1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AutoNum type="alphaLcPeriod"/>
            </a:pPr>
            <a:r>
              <a:rPr b="0" i="1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i-ésima columna: Comenzando de la fila 1 y hasta la fila n, coloque de forma intercalada n/(2</a:t>
            </a:r>
            <a:r>
              <a:rPr b="0" baseline="30000" i="1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valores F y n/(2</a:t>
            </a:r>
            <a:r>
              <a:rPr b="0" baseline="30000" i="1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valores V.</a:t>
            </a:r>
            <a:endParaRPr b="0" i="1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/>
        </p:nvSpPr>
        <p:spPr>
          <a:xfrm>
            <a:off x="-75" y="848375"/>
            <a:ext cx="61404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Proposición:  (P ∨ Q) ⊻ (R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P)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se siguen los pasos 1 a 4 a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rajatabla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conseguimos tener en cada fila una combinación de los valores de verdad de las variables diferente, y a su vez, en las n filas, tendremos todas las combinaciones posibles.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45" name="Google Shape;145;p25"/>
          <p:cNvGraphicFramePr/>
          <p:nvPr/>
        </p:nvGraphicFramePr>
        <p:xfrm>
          <a:off x="6332375" y="143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{EB743488-22C1-46C6-B57F-B09B50B21541}</a:tableStyleId>
              </a:tblPr>
              <a:tblGrid>
                <a:gridCol w="489650"/>
                <a:gridCol w="489650"/>
                <a:gridCol w="489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Q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R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Proposición:  (P ∨ Q) ⊻ (R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P)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rabicPeriod" startAt="5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Completar el resto de las columnas con las operaciones lógicas de la proposición.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Tenga cuidado en respetar el orden de precedencia de operadores!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52" name="Google Shape;152;p26"/>
          <p:cNvGraphicFramePr/>
          <p:nvPr/>
        </p:nvGraphicFramePr>
        <p:xfrm>
          <a:off x="1170375" y="2075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{EB743488-22C1-46C6-B57F-B09B50B21541}</a:tableStyleId>
              </a:tblPr>
              <a:tblGrid>
                <a:gridCol w="860450"/>
                <a:gridCol w="860450"/>
                <a:gridCol w="860450"/>
                <a:gridCol w="860450"/>
                <a:gridCol w="860450"/>
                <a:gridCol w="2461700"/>
              </a:tblGrid>
              <a:tr h="393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Q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R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(P ∨ Q)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(R ∧ P)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(P ∨ Q) ⊻ (R ∧ P)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Proposición:  (P ∨ Q) ⊻ (R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P)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rabicPeriod" startAt="5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Completar el resto de las columnas con las operaciones lógicas de la proposición.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Tenga cuidado en respetar el orden de precedencia de operadores!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59" name="Google Shape;159;p27"/>
          <p:cNvGraphicFramePr/>
          <p:nvPr/>
        </p:nvGraphicFramePr>
        <p:xfrm>
          <a:off x="1170375" y="2075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{EB743488-22C1-46C6-B57F-B09B50B21541}</a:tableStyleId>
              </a:tblPr>
              <a:tblGrid>
                <a:gridCol w="860450"/>
                <a:gridCol w="860450"/>
                <a:gridCol w="860450"/>
                <a:gridCol w="860450"/>
                <a:gridCol w="860450"/>
                <a:gridCol w="2461700"/>
              </a:tblGrid>
              <a:tr h="393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Q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R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(P ∨ Q)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(R ∧ P)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(P ∨ Q) ⊻ (R ∧ P)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Proposición:  (P ∨ Q) ⊻ (R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P)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rabicPeriod" startAt="5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Completar el resto de las columnas con las operaciones lógicas de la proposición.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Tenga cuidado en respetar el orden de precedencia de operadores!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6" name="Google Shape;166;p28"/>
          <p:cNvGraphicFramePr/>
          <p:nvPr/>
        </p:nvGraphicFramePr>
        <p:xfrm>
          <a:off x="1170375" y="2075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{EB743488-22C1-46C6-B57F-B09B50B21541}</a:tableStyleId>
              </a:tblPr>
              <a:tblGrid>
                <a:gridCol w="860450"/>
                <a:gridCol w="860450"/>
                <a:gridCol w="860450"/>
                <a:gridCol w="860450"/>
                <a:gridCol w="860450"/>
                <a:gridCol w="2461700"/>
              </a:tblGrid>
              <a:tr h="393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Q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R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(P ∨ Q)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(R ∧ P)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(P ∨ Q) ⊻ (R ∧ P)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Proposición:  (P ∨ Q) ⊻ (R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P)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rabicPeriod" startAt="5"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Completar el resto de las columnas con las operaciones lógicas de la proposición.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Tenga cuidado en respetar el orden de precedencia de operadores!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73" name="Google Shape;173;p29"/>
          <p:cNvGraphicFramePr/>
          <p:nvPr/>
        </p:nvGraphicFramePr>
        <p:xfrm>
          <a:off x="1170375" y="2075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{EB743488-22C1-46C6-B57F-B09B50B21541}</a:tableStyleId>
              </a:tblPr>
              <a:tblGrid>
                <a:gridCol w="860450"/>
                <a:gridCol w="860450"/>
                <a:gridCol w="860450"/>
                <a:gridCol w="860450"/>
                <a:gridCol w="860450"/>
                <a:gridCol w="2461700"/>
              </a:tblGrid>
              <a:tr h="393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P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Q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R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(P ∨ Q)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(R ∧ P)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/>
                        <a:t>(P ∨ Q) ⊻ (R ∧ P)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27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Proposición:  (P ∨ Q) ⊻ (R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P)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última columna, contiene los valores de verdad de la proposición para cada entrada (fila)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siempre seguimos la misma metodología, podremos determinar si dos  proposiciones son equivalentes verificando que: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dos proposiciones tengan las mismas variables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eriod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 la columna final de las tablas sean iguales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Pregunta: Qué pasa si no ordenamos las variables de la misma forma  pero las columnas finales de las tablas son iguales? Son equivalentes las proposiciones? Por qué?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Qué es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Luego de completar una tabla de verdad, su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 la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última columna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resultado puede ser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Contingencia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algunas filas con valor V y otras con F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Tautología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todas las filas con valor V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Contradicción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todas las filas con valor F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de una </a:t>
            </a: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Tabla de verdad</a:t>
            </a:r>
            <a:r>
              <a:rPr b="0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6" name="Google Shape;1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8621" y="2895217"/>
            <a:ext cx="2197193" cy="110186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7" name="Google Shape;18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785" y="2895221"/>
            <a:ext cx="2366709" cy="200161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7272" y="2895217"/>
            <a:ext cx="1206174" cy="65851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31"/>
          <p:cNvPicPr preferRelativeResize="0"/>
          <p:nvPr/>
        </p:nvPicPr>
        <p:blipFill rotWithShape="1">
          <a:blip r:embed="rId3">
            <a:alphaModFix/>
          </a:blip>
          <a:srcRect b="22697" l="14282" r="78126" t="43246"/>
          <a:stretch/>
        </p:blipFill>
        <p:spPr>
          <a:xfrm>
            <a:off x="6930475" y="3144200"/>
            <a:ext cx="166775" cy="3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Cuando una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 lógica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expresa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condiciones o definiciones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sobre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elementos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un determinado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conjunto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muchas veces se desea expresar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cuántos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elementos de ese conjunto hacen que la </a:t>
            </a: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 sea verdadera o falsa</a:t>
            </a:r>
            <a:r>
              <a:rPr b="0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Hay dos tipos de cuantificadores,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Existencial, ∃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Expresa que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 menos un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elemento del conjunto hace que la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proposición sea verdadera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Universal, ∀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Expresa que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elementos</a:t>
            </a: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 conjunto hacen que la proposición sea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verdadera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Cuantificadores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/>
        </p:nvSpPr>
        <p:spPr>
          <a:xfrm>
            <a:off x="-75" y="848375"/>
            <a:ext cx="4572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Existencial, ∃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∃y : y + 1 = 0,                               Verdadero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y perteneciente a los números enteros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∃x : x² + 1 = 0,                              Falso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x perteneciente a los números reales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∃c : H(c) ^ A(c),                             Verdadero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c perteneciente al conjunto de tipos de cervezas, y las proposiciones con argumentos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H(p): p es un tipo de cerveza con graduación alcohólica mayor a 0%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A(p): p es un tipo de cerveza apta para celíaco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Cuantificadores - Ejemplos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4571925" y="848375"/>
            <a:ext cx="4572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Universal, ∀</a:t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∀n : n + 1 &gt; 0,                               Verdadero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n perteneciente a los números naturales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∀x : x² = 0,                                     Falso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x perteneciente a los números reales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∀s : M(s) v G(s),                             Falso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s perteneciente al conjunto de tipos de sidras, y las proposiciones con argumentos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M(p): p es un tipo de sidra hecha a partir de manzana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G(p): p es un tipo de sidra sin alcohol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/>
        </p:nvSpPr>
        <p:spPr>
          <a:xfrm>
            <a:off x="-75" y="2218900"/>
            <a:ext cx="45720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Existencial, ∃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∃y : y + 1 = 0,                              Verdadero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y perteneciente a los números naturales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~(∃x) : x² ≥ 0,                               Falso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x perteneciente a los números reales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∃c : H(c) ^ A(c),                            Verdadero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c perteneciente al conjunto de tipos de cervezas, y las proposiciones con argumentos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H(p) y A(p) las definidas anteriormente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3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Cuantificadores - Relación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4571925" y="2218900"/>
            <a:ext cx="45720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Universal, ∀</a:t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~(∀y) : y + 1 ≠ 0,                            Verdadero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y perteneciente a los números naturales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∀x : x² &lt; 0,                                     Falso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x perteneciente a los números reales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~(∀c) : ~H(c) v ~A(c),                     Verdadero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c perteneciente al conjunto de tipos de cervezas, y las proposiciones con argumentos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H(p) y A(p) las definidas anteriormente</a:t>
            </a:r>
            <a:endParaRPr b="0" i="1" sz="16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14550" y="858475"/>
            <a:ext cx="90576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cuantificadores se encuentran relacionados mediante la negación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~(∀</a:t>
            </a:r>
            <a:r>
              <a:rPr b="0" i="1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0" i="1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≡ ∃</a:t>
            </a:r>
            <a:r>
              <a:rPr b="0" i="1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~</a:t>
            </a:r>
            <a:r>
              <a:rPr b="0" i="1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~(∃</a:t>
            </a:r>
            <a:r>
              <a:rPr b="0" i="1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0" i="1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≡ ∀</a:t>
            </a:r>
            <a:r>
              <a:rPr b="0" i="1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~</a:t>
            </a:r>
            <a:r>
              <a:rPr b="0" i="1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35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Indicar si cada una de las siguientes oraciones son proposiciones lógicas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COVID-19 es una bacteria  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Lávate las manos con agua y jabón regularmente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alumnos de TUDAI están es sus casas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Quedate en casa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¿La cuarentena sirve para reducir la circulación del virus COVID-19?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Pablito clavó un clavito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clavito clavó pablito?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36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Indicar si cada una de las siguientes oraciones son proposiciones lógicas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COVID-19 es una bacteria  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Lávate las manos con agua y jabón regularmente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alumnos de TUDAI están es sus casas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Quedate en casa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¿La cuarentena sirve para reducir la circulación del virus COVID-19?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Pablito clavó un clavito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clavito clavó pablito?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p37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Indicar si cada una de las siguientes oraciones son proposiciones lógicas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COVID-19 es una bacteria  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Lávate las manos con agua y jabón regularmente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alumnos de TUDAI están es sus casas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Quedate en casa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¿La cuarentena sirve para reducir la circulación del virus COVID-19?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Pablito clavó un clavito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clavito clavó pablito?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Indicar si cada una de las siguientes oraciones son proposiciones lógicas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COVID-19 es una bacteria  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Lávate las manos con agua y jabón regularmente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alumnos de TUDAI están es sus casas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Quedate en casa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¿La cuarentena sirve para reducir la circulación del virus COVID-19?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Pablito clavó un clavito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clavito clavó pablito?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39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Indicar si cada una de las siguientes oraciones son proposiciones lógicas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COVID-19 es una bacteria  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Lávate las manos con agua y jabón regularmente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alumnos de TUDAI están es sus casas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Quedate en casa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¿La cuarentena sirve para reducir la circulación del virus COVID-19?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Pablito clavó un clavito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clavito clavó pablito?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40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Indicar si cada una de las siguientes oraciones son proposiciones lógicas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COVID-19 es una bacteria  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Lávate las manos con agua y jabón regularmente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alumnos de TUDAI están es sus casas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Quedate en casa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¿La cuarentena sirve para reducir la circulación del virus COVID-19?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Pablito clavó un clavito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clavito clavó pablito?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41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Indicar si cada una de las siguientes oraciones son proposiciones lógicas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COVID-19 es una bacteria  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Lávate las manos con agua y jabón regularmente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alumnos de TUDAI están es sus casas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Quedate en casa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¿La cuarentena sirve para reducir la circulación del virus COVID-19?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Pablito clavó un clavito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clavito clavó pablito?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42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Indicar si cada una de las siguientes oraciones son proposiciones lógicas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COVID-19 es una bacteria  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Lávate las manos con agua y jabón regularmente 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alumnos de TUDAI están es sus casas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Quedate en casa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¿La cuarentena sirve para reducir la circulación del virus COVID-19?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Pablito clavó un clavito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SÍ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clavito clavó pablito? </a:t>
            </a: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43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44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71" name="Google Shape;271;p44"/>
          <p:cNvGraphicFramePr/>
          <p:nvPr/>
        </p:nvGraphicFramePr>
        <p:xfrm>
          <a:off x="952475" y="20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~(P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r>
                        <a:rPr lang="en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7" name="Google Shape;277;p45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78" name="Google Shape;278;p45"/>
          <p:cNvGraphicFramePr/>
          <p:nvPr/>
        </p:nvGraphicFramePr>
        <p:xfrm>
          <a:off x="952475" y="20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~(P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r>
                        <a:rPr lang="en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46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85" name="Google Shape;285;p46"/>
          <p:cNvGraphicFramePr/>
          <p:nvPr/>
        </p:nvGraphicFramePr>
        <p:xfrm>
          <a:off x="952475" y="20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~(P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r>
                        <a:rPr lang="en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p47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92" name="Google Shape;292;p47"/>
          <p:cNvGraphicFramePr/>
          <p:nvPr/>
        </p:nvGraphicFramePr>
        <p:xfrm>
          <a:off x="952475" y="20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~(P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r>
                        <a:rPr lang="en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F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48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99" name="Google Shape;299;p48"/>
          <p:cNvGraphicFramePr/>
          <p:nvPr/>
        </p:nvGraphicFramePr>
        <p:xfrm>
          <a:off x="952475" y="20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~(P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r>
                        <a:rPr lang="en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F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5" name="Google Shape;305;p49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06" name="Google Shape;306;p49"/>
          <p:cNvGraphicFramePr/>
          <p:nvPr/>
        </p:nvGraphicFramePr>
        <p:xfrm>
          <a:off x="952475" y="20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~(P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r>
                        <a:rPr lang="en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F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50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13" name="Google Shape;313;p50"/>
          <p:cNvGraphicFramePr/>
          <p:nvPr/>
        </p:nvGraphicFramePr>
        <p:xfrm>
          <a:off x="952475" y="20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~(P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r>
                        <a:rPr lang="en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F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F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51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Mostrar si las siguientes proposiciones son equivalentes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~(P ^ Q) ≡ ~P v ~Q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20" name="Google Shape;320;p51"/>
          <p:cNvGraphicFramePr/>
          <p:nvPr/>
        </p:nvGraphicFramePr>
        <p:xfrm>
          <a:off x="952475" y="20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{43E93A90-7BC2-4B80-B5AB-D700D07FBC39}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~(P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^ Q</a:t>
                      </a:r>
                      <a:r>
                        <a:rPr lang="en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~P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" sz="1600"/>
                        <a:t>~Q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F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F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1" name="Google Shape;321;p51"/>
          <p:cNvSpPr txBox="1"/>
          <p:nvPr/>
        </p:nvSpPr>
        <p:spPr>
          <a:xfrm>
            <a:off x="2204700" y="4412275"/>
            <a:ext cx="473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Sus salidas coinciden, entonces son equivalentes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52"/>
          <p:cNvSpPr txBox="1"/>
          <p:nvPr/>
        </p:nvSpPr>
        <p:spPr>
          <a:xfrm>
            <a:off x="-14300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3) Traducir a lenguaje proposicional las siguientes oraciones (y viceversa), teniendo en cuenta que el conjunto sobre el que se está trabajando son todos los deportes, y se definen las siguientes proposiciones y constantes: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f: Fútbol;                    E(d): d es un deporte de equipos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t: Tenis;			     P(d): d es un deporte que se juega con pelota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R(d): d es un deporte que se juega con raqueta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E(f);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P(t);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Algunos deportes se juegan con pelota.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deportes se juegan con raqueta.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Ningún deporte por equipos se juega con raqueta. 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3" name="Google Shape;333;p53"/>
          <p:cNvSpPr txBox="1"/>
          <p:nvPr/>
        </p:nvSpPr>
        <p:spPr>
          <a:xfrm>
            <a:off x="-14300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3) Traducir a lenguaje proposicional las siguientes oraciones (y viceversa), teniendo en cuenta que el conjunto sobre el que se está trabajando son todos los deportes, y se definen las siguientes proposiciones y constantes: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f: Fútbol;                    E(d): d es un deporte de equipos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t: Tenis;			     P(d): d es un deporte que se juega con pelota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R(d): d es un deporte que se juega con raqueta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E(f);    	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El fútbol es un deporte de equipos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P(t);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Algunos deportes se juegan con pelota.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deportes se juegan con raqueta.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Ningún deporte por equipos se juega con raqueta. 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54"/>
          <p:cNvSpPr txBox="1"/>
          <p:nvPr/>
        </p:nvSpPr>
        <p:spPr>
          <a:xfrm>
            <a:off x="-14300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3) Traducir a lenguaje proposicional las siguientes oraciones (y viceversa), teniendo en cuenta que el conjunto sobre el que se está trabajando son todos los deportes, y se definen las siguientes proposiciones y constantes: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f: Fútbol;                    E(d): d es un deporte de equipos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t: Tenis;			     P(d): d es un deporte que se juega con pelota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R(d): d es un deporte que se juega con raqueta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E(f);    	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El fútbol es un deporte de equipos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P(t); 	El Tenis es un deporte que se juega con pelota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Algunos deportes se juegan con pelota.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deportes se juegan con raqueta.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Ningún deporte por equipos se juega con raqueta. 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p55"/>
          <p:cNvSpPr txBox="1"/>
          <p:nvPr/>
        </p:nvSpPr>
        <p:spPr>
          <a:xfrm>
            <a:off x="-14300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3) Traducir a lenguaje proposicional las siguientes oraciones (y viceversa), teniendo en cuenta que el conjunto sobre el que se está trabajando son todos los deportes, y se definen las siguientes proposiciones y constantes: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f: Fútbol;                    E(d): d es un deporte de equipos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t: Tenis;			     P(d): d es un deporte que se juega con pelota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R(d): d es un deporte que se juega con raqueta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E(f);    	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El fútbol es un deporte de equipos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P(t); 	El Tenis es un deporte que se juega con pelota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Algunos deportes se juegan con pelota.   ∃d ∈ D</a:t>
            </a:r>
            <a:r>
              <a:rPr b="1" lang="en" sz="1800">
                <a:latin typeface="Helvetica Neue"/>
                <a:ea typeface="Helvetica Neue"/>
                <a:cs typeface="Helvetica Neue"/>
                <a:sym typeface="Helvetica Neue"/>
              </a:rPr>
              <a:t> : P(d)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deportes se juegan con raqueta.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Ningún deporte por equipos se juega con raqueta. 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1" name="Google Shape;351;p56"/>
          <p:cNvSpPr txBox="1"/>
          <p:nvPr/>
        </p:nvSpPr>
        <p:spPr>
          <a:xfrm>
            <a:off x="-14300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3) Traducir a lenguaje proposicional las siguientes oraciones (y viceversa), teniendo en cuenta que el conjunto sobre el que se está trabajando son todos los deportes, y se definen las siguientes proposiciones y constantes: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f: Fútbol;                    E(d): d es un deporte de equipos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t: Tenis;			     P(d): d es un deporte que se juega con pelota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R(d): d es un deporte que se juega con raqueta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E(f);    	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El fútbol es un deporte de equipos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P(t); 	El Tenis es un deporte que se juega con pelota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Algunos deportes se juegan con pelota.   ∃d ∈ D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: P(d)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deportes se juegan con raqueta. </a:t>
            </a:r>
            <a:r>
              <a:rPr b="1"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∀</a:t>
            </a:r>
            <a:r>
              <a:rPr b="1"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 ∈ D : R(d)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Ningún deporte por equipos se juega con raqueta.   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Ejercicios Propuestos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57"/>
          <p:cNvSpPr txBox="1"/>
          <p:nvPr/>
        </p:nvSpPr>
        <p:spPr>
          <a:xfrm>
            <a:off x="-14300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3) Traducir a lenguaje proposicional las siguientes oraciones (y viceversa), teniendo en cuenta que el conjunto sobre el que se está trabajando son todos los deportes, y se definen las siguientes proposiciones y constantes:</a:t>
            </a:r>
            <a:endParaRPr b="1" i="1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f: Fútbol;                    E(d): d es un deporte de equipos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t: Tenis;			     P(d): d es un deporte que se juega con pelota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R(d): d es un deporte que se juega con raqueta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E(f);    	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El fútbol es un deporte de equipos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P(t); 	El Tenis es un deporte que se juega con pelota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Algunos deportes se juegan con pelota.   ∃d ∈ D</a:t>
            </a: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 : P(d)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los deportes se juegan con raqueta. 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∀d ∈ D : R(d) </a:t>
            </a:r>
            <a:endParaRPr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lphaLcParenR"/>
            </a:pPr>
            <a:r>
              <a:rPr b="1" i="0" lang="en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Ningún deporte por equipos se juega con raqueta.    </a:t>
            </a:r>
            <a:r>
              <a:rPr b="1"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∄d ∈ D : E(d) ⋀ R(d)  </a:t>
            </a:r>
            <a:endParaRPr b="1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