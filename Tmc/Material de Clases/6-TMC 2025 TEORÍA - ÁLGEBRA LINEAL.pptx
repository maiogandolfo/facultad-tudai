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5143500" cx="9144000"/>
  <p:notesSz cx="6858000" cy="9144000"/>
  <p:embeddedFontLst>
    <p:embeddedFont>
      <p:font typeface="Helvetica Neue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HelveticaNeue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HelveticaNeue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58" Type="http://schemas.openxmlformats.org/officeDocument/2006/relationships/font" Target="fonts/HelveticaNeue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d9d60fb5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d9d60fb5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9d60fb5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d9d60fb5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d9d60fb50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d9d60fb50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d9d60fb5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d9d60fb5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9d60fb50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d9d60fb50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9d60fb50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d9d60fb50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b39f2348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db39f2348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a4933bd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da4933bd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9d60fb50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d9d60fb50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9d60fb50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d9d60fb50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9d60fb50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d9d60fb50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9d60fb50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d9d60fb50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9d60fb50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d9d60fb50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9d60fb50f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d9d60fb50f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d9d60fb50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d9d60fb50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d9d60fb50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d9d60fb50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d9d60fb50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d9d60fb50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d9d60fb50f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d9d60fb50f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d9d60fb50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d9d60fb50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9d60fb50f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d9d60fb50f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9d60fb50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d9d60fb50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d9d60fb50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d9d60fb50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d9d60fb50f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d9d60fb50f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d9d60fb50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d9d60fb50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9d60fb50f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d9d60fb50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da4933bd6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da4933bd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a4933bd6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da4933bd6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d9d60fb50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d9d60fb50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d9d60fb50f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d9d60fb50f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d9d60fb50f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d9d60fb50f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d9d60fb50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d9d60fb50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d9d60fb50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d9d60fb50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d9d60fb50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d9d60fb50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d9d60fb50f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d9d60fb50f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9d60fb50f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d9d60fb50f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d9d60fb50f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d9d60fb50f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d9d60fb50f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d9d60fb50f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d9d60fb50f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d9d60fb50f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9d60fb50f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d9d60fb50f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d9d60fb50f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d9d60fb50f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9d60fb50f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d9d60fb50f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d9d60fb50f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d9d60fb50f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d9d60fb50f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d9d60fb50f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d9d60fb50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d9d60fb50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dd919b24f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dd919b24f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d919b24f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dd919b24f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d9d60fb50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d9d60fb50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d9d60fb50f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d9d60fb50f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d9d60fb50f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d9d60fb50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d9d60fb50f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d9d60fb50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9d60fb50f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d9d60fb50f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d9d60fb50f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d9d60fb50f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4654500"/>
            <a:ext cx="9144000" cy="48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TUDAI - Fac.Cs.Exactas - UNICEN</a:t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13187" l="2625" r="65389" t="15643"/>
          <a:stretch/>
        </p:blipFill>
        <p:spPr>
          <a:xfrm>
            <a:off x="4084563" y="3759650"/>
            <a:ext cx="974875" cy="8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0" y="622200"/>
            <a:ext cx="9144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TALLER DE MATEMÁTICA COMPUTACIONAL</a:t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0" y="2374800"/>
            <a:ext cx="9144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Unidad #</a:t>
            </a:r>
            <a:r>
              <a:rPr lang="es" sz="2400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b="0" i="0" lang="e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s" sz="2400">
                <a:latin typeface="Helvetica Neue"/>
                <a:ea typeface="Helvetica Neue"/>
                <a:cs typeface="Helvetica Neue"/>
                <a:sym typeface="Helvetica Neue"/>
              </a:rPr>
              <a:t>Álgebra lineal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Identificar vectores y matrices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Aprender a operar con vectores y matrices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Aplicar cálculo matricial para resolver problemas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El álgebra lineal es una </a:t>
            </a:r>
            <a:r>
              <a:rPr b="1" lang="es" sz="1800">
                <a:solidFill>
                  <a:schemeClr val="dk2"/>
                </a:solidFill>
              </a:rPr>
              <a:t>rama de las matemáticas</a:t>
            </a:r>
            <a:r>
              <a:rPr lang="es" sz="1800">
                <a:solidFill>
                  <a:schemeClr val="dk2"/>
                </a:solidFill>
              </a:rPr>
              <a:t> que estudia conceptos tales como </a:t>
            </a:r>
            <a:r>
              <a:rPr b="1" lang="es" sz="1800">
                <a:solidFill>
                  <a:schemeClr val="dk2"/>
                </a:solidFill>
              </a:rPr>
              <a:t>vectores</a:t>
            </a:r>
            <a:r>
              <a:rPr lang="es" sz="1800">
                <a:solidFill>
                  <a:schemeClr val="dk2"/>
                </a:solidFill>
              </a:rPr>
              <a:t>, </a:t>
            </a:r>
            <a:r>
              <a:rPr b="1" lang="es" sz="1800">
                <a:solidFill>
                  <a:schemeClr val="dk2"/>
                </a:solidFill>
              </a:rPr>
              <a:t>matrices</a:t>
            </a:r>
            <a:r>
              <a:rPr lang="es" sz="1800">
                <a:solidFill>
                  <a:schemeClr val="dk2"/>
                </a:solidFill>
              </a:rPr>
              <a:t> y </a:t>
            </a:r>
            <a:r>
              <a:rPr b="1" lang="es" sz="1800">
                <a:solidFill>
                  <a:schemeClr val="dk2"/>
                </a:solidFill>
              </a:rPr>
              <a:t>sistemas de ecuaciones lineales,</a:t>
            </a:r>
            <a:r>
              <a:rPr lang="es" sz="1800">
                <a:solidFill>
                  <a:schemeClr val="dk2"/>
                </a:solidFill>
              </a:rPr>
              <a:t> entre otros.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Es ampliamente utilizada en áreas desde la computación gráfica hasta el modelado computacional.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es el álgebra lineal?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Un vector es una tupla de </a:t>
            </a:r>
            <a:r>
              <a:rPr b="1" lang="es" sz="1800">
                <a:solidFill>
                  <a:schemeClr val="dk2"/>
                </a:solidFill>
              </a:rPr>
              <a:t>n </a:t>
            </a:r>
            <a:r>
              <a:rPr lang="es" sz="1800">
                <a:solidFill>
                  <a:schemeClr val="dk2"/>
                </a:solidFill>
              </a:rPr>
              <a:t>números.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Ejemplos:</a:t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v = (0, -1, 3.5) ∈ ℝ</a:t>
            </a:r>
            <a:r>
              <a:rPr baseline="30000" lang="es" sz="1800">
                <a:solidFill>
                  <a:schemeClr val="dk2"/>
                </a:solidFill>
              </a:rPr>
              <a:t>3</a:t>
            </a:r>
            <a:endParaRPr baseline="30000"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w = (1, 2, 3, 4, 5, 6) ∈ ℝ</a:t>
            </a:r>
            <a:r>
              <a:rPr baseline="30000" lang="es" sz="1800">
                <a:solidFill>
                  <a:schemeClr val="dk2"/>
                </a:solidFill>
              </a:rPr>
              <a:t>6</a:t>
            </a:r>
            <a:endParaRPr baseline="30000"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conjunto de todos los vectores reales de dimensión </a:t>
            </a:r>
            <a:r>
              <a:rPr b="1" lang="es" sz="1800">
                <a:solidFill>
                  <a:schemeClr val="dk2"/>
                </a:solidFill>
              </a:rPr>
              <a:t>n </a:t>
            </a:r>
            <a:r>
              <a:rPr lang="es" sz="1800">
                <a:solidFill>
                  <a:schemeClr val="dk2"/>
                </a:solidFill>
              </a:rPr>
              <a:t>se expresa como ℝ</a:t>
            </a:r>
            <a:r>
              <a:rPr b="1" baseline="30000" lang="es" sz="1800">
                <a:solidFill>
                  <a:schemeClr val="dk2"/>
                </a:solidFill>
              </a:rPr>
              <a:t>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baseline="30000" sz="18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-75" y="848375"/>
            <a:ext cx="9144000" cy="42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Podemos representar gráficamente un vector en el espacio </a:t>
            </a:r>
            <a:r>
              <a:rPr lang="es" sz="1800">
                <a:solidFill>
                  <a:schemeClr val="dk2"/>
                </a:solidFill>
              </a:rPr>
              <a:t>ℝ</a:t>
            </a:r>
            <a:r>
              <a:rPr b="1"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Ejemplo: v = (-3, -1)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Podemos referirnos a cada elemento de un vector teniendo en cuenta su posición.</a:t>
            </a:r>
            <a:endParaRPr sz="1800">
              <a:solidFill>
                <a:schemeClr val="dk2"/>
              </a:solidFill>
            </a:endParaRPr>
          </a:p>
          <a:p>
            <a:pPr indent="-34290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s" sz="1800">
                <a:solidFill>
                  <a:schemeClr val="dk2"/>
                </a:solidFill>
              </a:rPr>
              <a:t>La primer posición siempre es la número 1.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r>
              <a:rPr lang="es" sz="1800">
                <a:solidFill>
                  <a:schemeClr val="dk2"/>
                </a:solidFill>
              </a:rPr>
              <a:t> w = (1,-2,10,15) ∈ ℝ</a:t>
            </a:r>
            <a:r>
              <a:rPr baseline="30000" lang="es" sz="1800">
                <a:solidFill>
                  <a:schemeClr val="dk2"/>
                </a:solidFill>
              </a:rPr>
              <a:t>4</a:t>
            </a:r>
            <a:r>
              <a:rPr lang="es" sz="1800">
                <a:solidFill>
                  <a:schemeClr val="dk2"/>
                </a:solidFill>
              </a:rPr>
              <a:t>                  </a:t>
            </a:r>
            <a:r>
              <a:rPr i="1" lang="es" sz="1800">
                <a:solidFill>
                  <a:schemeClr val="dk2"/>
                </a:solidFill>
              </a:rPr>
              <a:t>w(3) = ???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baseline="30000" sz="1800">
              <a:solidFill>
                <a:schemeClr val="dk2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175" y="1474250"/>
            <a:ext cx="2777251" cy="16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-75" y="848375"/>
            <a:ext cx="9144000" cy="42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Podemos representar gráficamente un vector en el espacio ℝ</a:t>
            </a:r>
            <a:r>
              <a:rPr b="1"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Ejemplo: v = (-3, -1)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Podemos referirnos a cada elemento de un vector teniendo en cuenta su posición.</a:t>
            </a:r>
            <a:endParaRPr sz="1800">
              <a:solidFill>
                <a:schemeClr val="dk2"/>
              </a:solidFill>
            </a:endParaRPr>
          </a:p>
          <a:p>
            <a:pPr indent="-34290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s" sz="1800">
                <a:solidFill>
                  <a:schemeClr val="dk2"/>
                </a:solidFill>
              </a:rPr>
              <a:t>La primer posición siempre es la número 1. 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r>
              <a:rPr lang="es" sz="1800">
                <a:solidFill>
                  <a:schemeClr val="dk2"/>
                </a:solidFill>
              </a:rPr>
              <a:t> w = (1,-2,</a:t>
            </a:r>
            <a:r>
              <a:rPr b="1" lang="es" sz="1800">
                <a:solidFill>
                  <a:srgbClr val="E06666"/>
                </a:solidFill>
              </a:rPr>
              <a:t>10</a:t>
            </a:r>
            <a:r>
              <a:rPr lang="es" sz="1800">
                <a:solidFill>
                  <a:schemeClr val="dk2"/>
                </a:solidFill>
              </a:rPr>
              <a:t>,15) </a:t>
            </a:r>
            <a:r>
              <a:rPr lang="es" sz="1800">
                <a:solidFill>
                  <a:schemeClr val="dk2"/>
                </a:solidFill>
              </a:rPr>
              <a:t> ∈ ℝ</a:t>
            </a:r>
            <a:r>
              <a:rPr baseline="30000" lang="es" sz="1800">
                <a:solidFill>
                  <a:schemeClr val="dk2"/>
                </a:solidFill>
              </a:rPr>
              <a:t>4</a:t>
            </a:r>
            <a:r>
              <a:rPr lang="es" sz="1800">
                <a:solidFill>
                  <a:schemeClr val="dk2"/>
                </a:solidFill>
              </a:rPr>
              <a:t>                      </a:t>
            </a:r>
            <a:r>
              <a:rPr i="1" lang="es" sz="1800">
                <a:solidFill>
                  <a:schemeClr val="dk2"/>
                </a:solidFill>
              </a:rPr>
              <a:t>w(3) = 10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baseline="30000" sz="1800">
              <a:solidFill>
                <a:schemeClr val="dk2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175" y="1474250"/>
            <a:ext cx="2777251" cy="16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-75" y="848375"/>
            <a:ext cx="9144000" cy="42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Podemos representar gráficamente un vector en el espacio ℝ</a:t>
            </a:r>
            <a:r>
              <a:rPr b="1"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Ejemplo: v = (-3, -1)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Podemos referirnos a cada elemento de un vector teniendo en cuenta su posición.</a:t>
            </a:r>
            <a:endParaRPr sz="1800">
              <a:solidFill>
                <a:schemeClr val="dk2"/>
              </a:solidFill>
            </a:endParaRPr>
          </a:p>
          <a:p>
            <a:pPr indent="-34290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s" sz="1800">
                <a:solidFill>
                  <a:schemeClr val="dk2"/>
                </a:solidFill>
              </a:rPr>
              <a:t>La primer posición siempre es la número 1.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r>
              <a:rPr lang="es" sz="1800">
                <a:solidFill>
                  <a:schemeClr val="dk2"/>
                </a:solidFill>
              </a:rPr>
              <a:t> w = (1,-2,</a:t>
            </a:r>
            <a:r>
              <a:rPr b="1" lang="es" sz="1800">
                <a:solidFill>
                  <a:srgbClr val="E06666"/>
                </a:solidFill>
              </a:rPr>
              <a:t>10</a:t>
            </a:r>
            <a:r>
              <a:rPr lang="es" sz="1800">
                <a:solidFill>
                  <a:schemeClr val="dk2"/>
                </a:solidFill>
              </a:rPr>
              <a:t>,15)  ∈ ℝ</a:t>
            </a:r>
            <a:r>
              <a:rPr baseline="30000" lang="es" sz="1800">
                <a:solidFill>
                  <a:schemeClr val="dk2"/>
                </a:solidFill>
              </a:rPr>
              <a:t>4</a:t>
            </a:r>
            <a:r>
              <a:rPr lang="es" sz="1800">
                <a:solidFill>
                  <a:schemeClr val="dk2"/>
                </a:solidFill>
              </a:rPr>
              <a:t>                      </a:t>
            </a:r>
            <a:r>
              <a:rPr i="1" lang="es" sz="1800">
                <a:solidFill>
                  <a:schemeClr val="dk2"/>
                </a:solidFill>
              </a:rPr>
              <a:t>w(3) = 10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baseline="30000" sz="1800">
              <a:solidFill>
                <a:schemeClr val="dk2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175" y="1474250"/>
            <a:ext cx="2777251" cy="16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/>
          <p:nvPr/>
        </p:nvSpPr>
        <p:spPr>
          <a:xfrm>
            <a:off x="7143200" y="4002575"/>
            <a:ext cx="1024800" cy="63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w(3) = w</a:t>
            </a:r>
            <a:r>
              <a:rPr baseline="-25000" lang="es"/>
              <a:t>3</a:t>
            </a:r>
            <a:endParaRPr baseline="-25000"/>
          </a:p>
        </p:txBody>
      </p:sp>
      <p:cxnSp>
        <p:nvCxnSpPr>
          <p:cNvPr id="98" name="Google Shape;98;p19"/>
          <p:cNvCxnSpPr>
            <a:stCxn id="97" idx="1"/>
          </p:cNvCxnSpPr>
          <p:nvPr/>
        </p:nvCxnSpPr>
        <p:spPr>
          <a:xfrm rot="10800000">
            <a:off x="6387200" y="4317875"/>
            <a:ext cx="756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-75" y="848375"/>
            <a:ext cx="9144000" cy="3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Producto de un vector por un escalar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Suma entre vectores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Norma de un vector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Producto interno (o producto escalar), entre dos vectores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Ángulo entre dos vectores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baseline="30000" sz="1800">
              <a:solidFill>
                <a:schemeClr val="dk2"/>
              </a:solidFill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con 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-75" y="848375"/>
            <a:ext cx="62901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Cuando multiplicamos un vector por una constante, debemos multiplicar cada uno de sus elementos por esa constante.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El resultado es un vector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Helvetica Neue"/>
              <a:buChar char="○"/>
            </a:pPr>
            <a:r>
              <a:rPr lang="es" sz="1800">
                <a:solidFill>
                  <a:schemeClr val="dk2"/>
                </a:solidFill>
              </a:rPr>
              <a:t>De igual dimensión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Helvetica Neue"/>
              <a:buChar char="○"/>
            </a:pPr>
            <a:r>
              <a:rPr lang="es" sz="1800">
                <a:solidFill>
                  <a:schemeClr val="dk2"/>
                </a:solidFill>
              </a:rPr>
              <a:t>Con la misma dirección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○"/>
            </a:pPr>
            <a:r>
              <a:rPr lang="es" sz="1800">
                <a:solidFill>
                  <a:schemeClr val="dk2"/>
                </a:solidFill>
              </a:rPr>
              <a:t>El sentido del vector resultante será el mismo que el vector original si k&gt;0, o será el sentido contrario si k&lt;0</a:t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por un escalar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6790587" y="1896747"/>
            <a:ext cx="1730700" cy="210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-75" y="848375"/>
            <a:ext cx="9144000" cy="42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latin typeface="Helvetica Neue"/>
                <a:ea typeface="Helvetica Neue"/>
                <a:cs typeface="Helvetica Neue"/>
                <a:sym typeface="Helvetica Neue"/>
              </a:rPr>
              <a:t>Ejemplo: </a:t>
            </a: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v=(1,2)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-2v = ??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por un escalar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702" y="980575"/>
            <a:ext cx="3519700" cy="4010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2"/>
          <p:cNvCxnSpPr/>
          <p:nvPr/>
        </p:nvCxnSpPr>
        <p:spPr>
          <a:xfrm flipH="1">
            <a:off x="4425700" y="3279225"/>
            <a:ext cx="2285700" cy="35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22"/>
          <p:cNvSpPr txBox="1"/>
          <p:nvPr/>
        </p:nvSpPr>
        <p:spPr>
          <a:xfrm>
            <a:off x="2679025" y="333255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k&lt;0 cambia el sentido</a:t>
            </a:r>
            <a:endParaRPr/>
          </a:p>
        </p:txBody>
      </p:sp>
      <p:cxnSp>
        <p:nvCxnSpPr>
          <p:cNvPr id="121" name="Google Shape;121;p22"/>
          <p:cNvCxnSpPr/>
          <p:nvPr/>
        </p:nvCxnSpPr>
        <p:spPr>
          <a:xfrm flipH="1">
            <a:off x="4007775" y="3460875"/>
            <a:ext cx="2636700" cy="9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22"/>
          <p:cNvSpPr txBox="1"/>
          <p:nvPr/>
        </p:nvSpPr>
        <p:spPr>
          <a:xfrm>
            <a:off x="1628675" y="4125500"/>
            <a:ext cx="23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|k|&gt;1 el vector es más largo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/>
        </p:nvSpPr>
        <p:spPr>
          <a:xfrm>
            <a:off x="-75" y="848375"/>
            <a:ext cx="90369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s" sz="1800">
                <a:solidFill>
                  <a:schemeClr val="dk2"/>
                </a:solidFill>
              </a:rPr>
              <a:t>La suma de los vectores u y v es un nuevo vector w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Helvetica Neue"/>
              <a:buChar char="○"/>
            </a:pPr>
            <a:r>
              <a:rPr lang="es" sz="1800">
                <a:solidFill>
                  <a:schemeClr val="dk2"/>
                </a:solidFill>
              </a:rPr>
              <a:t>Cada elemento w</a:t>
            </a:r>
            <a:r>
              <a:rPr baseline="-25000" lang="es" sz="1800">
                <a:solidFill>
                  <a:schemeClr val="dk2"/>
                </a:solidFill>
              </a:rPr>
              <a:t>i</a:t>
            </a:r>
            <a:r>
              <a:rPr lang="es" sz="1800">
                <a:solidFill>
                  <a:schemeClr val="dk2"/>
                </a:solidFill>
              </a:rPr>
              <a:t> es la suma de los elementos de u</a:t>
            </a:r>
            <a:r>
              <a:rPr baseline="-25000" lang="es" sz="1800">
                <a:solidFill>
                  <a:schemeClr val="dk2"/>
                </a:solidFill>
              </a:rPr>
              <a:t>i</a:t>
            </a:r>
            <a:r>
              <a:rPr lang="es" sz="1800">
                <a:solidFill>
                  <a:schemeClr val="dk2"/>
                </a:solidFill>
              </a:rPr>
              <a:t> y v</a:t>
            </a:r>
            <a:r>
              <a:rPr baseline="-25000" lang="es" sz="1800">
                <a:solidFill>
                  <a:schemeClr val="dk2"/>
                </a:solidFill>
              </a:rPr>
              <a:t>i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Helvetica Neue"/>
              <a:buChar char="○"/>
            </a:pPr>
            <a:r>
              <a:rPr lang="es" sz="1800">
                <a:solidFill>
                  <a:schemeClr val="dk2"/>
                </a:solidFill>
              </a:rPr>
              <a:t>Para que la suma sea posible, los vectores deben tener </a:t>
            </a:r>
            <a:r>
              <a:rPr b="1" lang="es" sz="1800">
                <a:solidFill>
                  <a:schemeClr val="dk2"/>
                </a:solidFill>
              </a:rPr>
              <a:t>la misma dimensión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173399" y="2714919"/>
            <a:ext cx="8797200" cy="221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66800" y="973350"/>
            <a:ext cx="90369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= (3 , 1), v = (1 , 2)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421100" y="2109750"/>
            <a:ext cx="9927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+ v ?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/>
        </p:nvSpPr>
        <p:spPr>
          <a:xfrm>
            <a:off x="5474375" y="2109750"/>
            <a:ext cx="113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- v ?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00" y="2519250"/>
            <a:ext cx="3286438" cy="230832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66800" y="973350"/>
            <a:ext cx="90369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= (</a:t>
            </a:r>
            <a:r>
              <a:rPr b="1" lang="es" sz="18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es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v = (</a:t>
            </a:r>
            <a:r>
              <a:rPr b="1" lang="es" sz="18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es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316150" y="2109750"/>
            <a:ext cx="32184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+ v = (</a:t>
            </a:r>
            <a:r>
              <a:rPr b="1" lang="es" sz="18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+ 1 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es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+ 2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(4 , 3)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5454325" y="2109750"/>
            <a:ext cx="321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- v = ?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1925025" y="4020550"/>
            <a:ext cx="3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</a:t>
            </a:r>
            <a:endParaRPr/>
          </a:p>
        </p:txBody>
      </p:sp>
      <p:sp>
        <p:nvSpPr>
          <p:cNvPr id="148" name="Google Shape;148;p25"/>
          <p:cNvSpPr txBox="1"/>
          <p:nvPr/>
        </p:nvSpPr>
        <p:spPr>
          <a:xfrm>
            <a:off x="1002625" y="3620350"/>
            <a:ext cx="3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</a:t>
            </a:r>
            <a:endParaRPr/>
          </a:p>
        </p:txBody>
      </p:sp>
      <p:sp>
        <p:nvSpPr>
          <p:cNvPr id="149" name="Google Shape;149;p25"/>
          <p:cNvSpPr txBox="1"/>
          <p:nvPr/>
        </p:nvSpPr>
        <p:spPr>
          <a:xfrm rot="-1771720">
            <a:off x="1521847" y="3473312"/>
            <a:ext cx="690258" cy="4002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 + v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00" y="2519250"/>
            <a:ext cx="3286438" cy="230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7545" y="2728601"/>
            <a:ext cx="3286429" cy="199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66800" y="973350"/>
            <a:ext cx="90369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= (</a:t>
            </a:r>
            <a:r>
              <a:rPr b="1" lang="es" sz="18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es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v = (</a:t>
            </a:r>
            <a:r>
              <a:rPr b="1" lang="es" sz="18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es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316150" y="2109750"/>
            <a:ext cx="32184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+ v = (</a:t>
            </a:r>
            <a:r>
              <a:rPr b="1" lang="es" sz="18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+ 1 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lang="es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+ 2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(4 , 3)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5454325" y="2109750"/>
            <a:ext cx="321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- v = (</a:t>
            </a:r>
            <a:r>
              <a:rPr b="1" lang="es" sz="1800">
                <a:solidFill>
                  <a:srgbClr val="CC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3 - 1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</a:t>
            </a:r>
            <a:r>
              <a:rPr b="1" lang="es" sz="18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1 - 2</a:t>
            </a:r>
            <a:r>
              <a:rPr b="1" lang="e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(2 , -1)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1925025" y="4020550"/>
            <a:ext cx="3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</a:t>
            </a:r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1002625" y="3620350"/>
            <a:ext cx="3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</a:t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 rot="-1771720">
            <a:off x="1521847" y="3473312"/>
            <a:ext cx="690258" cy="4002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 + v</a:t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7158800" y="3664950"/>
            <a:ext cx="3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</a:t>
            </a:r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6306575" y="3324925"/>
            <a:ext cx="3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</a:t>
            </a:r>
            <a:endParaRPr/>
          </a:p>
        </p:txBody>
      </p:sp>
      <p:sp>
        <p:nvSpPr>
          <p:cNvPr id="165" name="Google Shape;165;p26"/>
          <p:cNvSpPr txBox="1"/>
          <p:nvPr/>
        </p:nvSpPr>
        <p:spPr>
          <a:xfrm rot="1376614">
            <a:off x="6414840" y="4164771"/>
            <a:ext cx="690311" cy="4000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 - v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 flipH="1">
            <a:off x="0" y="848375"/>
            <a:ext cx="90369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La norma euclídea de un vector determina su longitud, para un vector v</a:t>
            </a:r>
            <a:r>
              <a:rPr lang="es" sz="1800">
                <a:solidFill>
                  <a:schemeClr val="dk2"/>
                </a:solidFill>
              </a:rPr>
              <a:t>∈ ℝ</a:t>
            </a:r>
            <a:r>
              <a:rPr baseline="30000" lang="es" sz="1800">
                <a:solidFill>
                  <a:schemeClr val="dk2"/>
                </a:solidFill>
              </a:rPr>
              <a:t>n</a:t>
            </a:r>
            <a:r>
              <a:rPr lang="es" sz="1800">
                <a:solidFill>
                  <a:schemeClr val="dk2"/>
                </a:solidFill>
              </a:rPr>
              <a:t>, se calcula de la siguiente manera: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1779655" y="1789850"/>
            <a:ext cx="4686300" cy="615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27"/>
          <p:cNvSpPr txBox="1"/>
          <p:nvPr/>
        </p:nvSpPr>
        <p:spPr>
          <a:xfrm>
            <a:off x="170450" y="2727150"/>
            <a:ext cx="60558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r>
              <a:rPr lang="es" sz="1800">
                <a:solidFill>
                  <a:schemeClr val="dk2"/>
                </a:solidFill>
              </a:rPr>
              <a:t> v = (1, 2, 0, 3, 1, -3, -1)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|v| = √ [1</a:t>
            </a:r>
            <a:r>
              <a:rPr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+ 2</a:t>
            </a:r>
            <a:r>
              <a:rPr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+ 0</a:t>
            </a:r>
            <a:r>
              <a:rPr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+ 3</a:t>
            </a:r>
            <a:r>
              <a:rPr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+ 1</a:t>
            </a:r>
            <a:r>
              <a:rPr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+ (-3)</a:t>
            </a:r>
            <a:r>
              <a:rPr baseline="30000" lang="es" sz="1800">
                <a:solidFill>
                  <a:schemeClr val="dk2"/>
                </a:solidFill>
              </a:rPr>
              <a:t>2 </a:t>
            </a:r>
            <a:r>
              <a:rPr lang="es" sz="1800">
                <a:solidFill>
                  <a:schemeClr val="dk2"/>
                </a:solidFill>
              </a:rPr>
              <a:t>+ (-1)</a:t>
            </a:r>
            <a:r>
              <a:rPr baseline="30000" lang="es" sz="1800">
                <a:solidFill>
                  <a:schemeClr val="dk2"/>
                </a:solidFill>
              </a:rPr>
              <a:t>2</a:t>
            </a:r>
            <a:r>
              <a:rPr lang="es" sz="1800">
                <a:solidFill>
                  <a:schemeClr val="dk2"/>
                </a:solidFill>
              </a:rPr>
              <a:t>]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|v| = √ [1 + 4 + 0 + 9 + 1</a:t>
            </a:r>
            <a:r>
              <a:rPr baseline="30000" lang="es" sz="1800">
                <a:solidFill>
                  <a:schemeClr val="dk2"/>
                </a:solidFill>
              </a:rPr>
              <a:t> </a:t>
            </a:r>
            <a:r>
              <a:rPr lang="es" sz="1800">
                <a:solidFill>
                  <a:schemeClr val="dk2"/>
                </a:solidFill>
              </a:rPr>
              <a:t>+ 9</a:t>
            </a:r>
            <a:r>
              <a:rPr baseline="30000" lang="es" sz="1800">
                <a:solidFill>
                  <a:schemeClr val="dk2"/>
                </a:solidFill>
              </a:rPr>
              <a:t> </a:t>
            </a:r>
            <a:r>
              <a:rPr lang="es" sz="1800">
                <a:solidFill>
                  <a:schemeClr val="dk2"/>
                </a:solidFill>
              </a:rPr>
              <a:t>+ 1]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|v| = 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</a:t>
            </a: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(propiedad)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 flipH="1">
            <a:off x="86025" y="4387650"/>
            <a:ext cx="90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La igualdad se da cuando los vectores tienen la misma dirección (son paralelos)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4932950" y="1724925"/>
            <a:ext cx="4110900" cy="9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075" y="1383650"/>
            <a:ext cx="3513050" cy="27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1443800" y="2553650"/>
            <a:ext cx="39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|u|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 rot="-2269053">
            <a:off x="1554102" y="1313417"/>
            <a:ext cx="5775430" cy="4002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|u+v|</a:t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 rot="-1162027">
            <a:off x="2340715" y="1912173"/>
            <a:ext cx="431518" cy="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|v|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interno (o producto escalar)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0" name="Google Shape;190;p29"/>
          <p:cNvGrpSpPr/>
          <p:nvPr/>
        </p:nvGrpSpPr>
        <p:grpSpPr>
          <a:xfrm>
            <a:off x="3916768" y="1470671"/>
            <a:ext cx="5090464" cy="3160502"/>
            <a:chOff x="2431475" y="1040524"/>
            <a:chExt cx="6460800" cy="3832770"/>
          </a:xfrm>
        </p:grpSpPr>
        <p:sp>
          <p:nvSpPr>
            <p:cNvPr id="191" name="Google Shape;191;p29"/>
            <p:cNvSpPr/>
            <p:nvPr/>
          </p:nvSpPr>
          <p:spPr>
            <a:xfrm>
              <a:off x="2431475" y="1040524"/>
              <a:ext cx="6460800" cy="32079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29"/>
            <p:cNvSpPr txBox="1"/>
            <p:nvPr/>
          </p:nvSpPr>
          <p:spPr>
            <a:xfrm>
              <a:off x="3988664" y="3752268"/>
              <a:ext cx="6510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2700">
              <a:no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Calibri"/>
                  <a:ea typeface="Calibri"/>
                  <a:cs typeface="Calibri"/>
                  <a:sym typeface="Calibri"/>
                </a:rPr>
                <a:t>1 X N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9"/>
            <p:cNvSpPr txBox="1"/>
            <p:nvPr/>
          </p:nvSpPr>
          <p:spPr>
            <a:xfrm>
              <a:off x="5522964" y="4300594"/>
              <a:ext cx="7914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60650">
              <a:no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Calibri"/>
                  <a:ea typeface="Calibri"/>
                  <a:cs typeface="Calibri"/>
                  <a:sym typeface="Calibri"/>
                </a:rPr>
                <a:t>N X 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31900" marR="0" rtl="0" algn="l">
                <a:lnSpc>
                  <a:spcPct val="100000"/>
                </a:lnSpc>
                <a:spcBef>
                  <a:spcPts val="1165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9"/>
            <p:cNvSpPr txBox="1"/>
            <p:nvPr/>
          </p:nvSpPr>
          <p:spPr>
            <a:xfrm>
              <a:off x="7570683" y="3752268"/>
              <a:ext cx="6510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2700">
              <a:no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Calibri"/>
                  <a:ea typeface="Calibri"/>
                  <a:cs typeface="Calibri"/>
                  <a:sym typeface="Calibri"/>
                </a:rPr>
                <a:t>1 X 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29"/>
          <p:cNvSpPr txBox="1"/>
          <p:nvPr/>
        </p:nvSpPr>
        <p:spPr>
          <a:xfrm>
            <a:off x="-110275" y="891375"/>
            <a:ext cx="3800100" cy="3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El resultado del producto interno de dos</a:t>
            </a:r>
            <a:r>
              <a:rPr lang="es" sz="1800">
                <a:solidFill>
                  <a:schemeClr val="dk2"/>
                </a:solidFill>
              </a:rPr>
              <a:t> vectores es un valor real.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>
                <a:solidFill>
                  <a:schemeClr val="dk2"/>
                </a:solidFill>
              </a:rPr>
              <a:t>Es la sumatoria del producto miembro a miembro de los elementos de los vectores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>
                <a:solidFill>
                  <a:schemeClr val="dk2"/>
                </a:solidFill>
              </a:rPr>
              <a:t>Para que sea posible, los vectores deben tener </a:t>
            </a:r>
            <a:r>
              <a:rPr b="1" lang="es" sz="1800">
                <a:solidFill>
                  <a:schemeClr val="dk2"/>
                </a:solidFill>
              </a:rPr>
              <a:t>la misma dimensión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escalar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-110275" y="891375"/>
            <a:ext cx="38001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 = (2, 4, 9)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v = (1, -2)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u.v = ??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2344150" y="1814775"/>
            <a:ext cx="48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06666"/>
                </a:solidFill>
              </a:rPr>
              <a:t>No se puede!! u y v no tienen la misma dimensión</a:t>
            </a:r>
            <a:endParaRPr b="1">
              <a:solidFill>
                <a:srgbClr val="E0666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escalar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-110275" y="891375"/>
            <a:ext cx="38001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 = (2, 4, 9)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v = (1, -2, 0)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u.v = ??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escalar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-110275" y="891375"/>
            <a:ext cx="38001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 = (2, 4, 9)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v = (1, -2, 0)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u.v = ??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escalar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-110275" y="891375"/>
            <a:ext cx="43293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 = (</a:t>
            </a:r>
            <a:r>
              <a:rPr lang="es" sz="1800">
                <a:solidFill>
                  <a:srgbClr val="CC0000"/>
                </a:solidFill>
              </a:rPr>
              <a:t>2</a:t>
            </a:r>
            <a:r>
              <a:rPr lang="es" sz="1800">
                <a:solidFill>
                  <a:schemeClr val="dk2"/>
                </a:solidFill>
              </a:rPr>
              <a:t>, </a:t>
            </a:r>
            <a:r>
              <a:rPr lang="es" sz="1800">
                <a:solidFill>
                  <a:srgbClr val="6AA84F"/>
                </a:solidFill>
              </a:rPr>
              <a:t>4</a:t>
            </a:r>
            <a:r>
              <a:rPr lang="es" sz="1800">
                <a:solidFill>
                  <a:schemeClr val="dk2"/>
                </a:solidFill>
              </a:rPr>
              <a:t>, </a:t>
            </a:r>
            <a:r>
              <a:rPr lang="es" sz="1800">
                <a:solidFill>
                  <a:srgbClr val="3C78D8"/>
                </a:solidFill>
              </a:rPr>
              <a:t>9</a:t>
            </a:r>
            <a:r>
              <a:rPr lang="es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v = (</a:t>
            </a:r>
            <a:r>
              <a:rPr lang="es" sz="1800">
                <a:solidFill>
                  <a:srgbClr val="CC0000"/>
                </a:solidFill>
              </a:rPr>
              <a:t>1</a:t>
            </a:r>
            <a:r>
              <a:rPr lang="es" sz="1800">
                <a:solidFill>
                  <a:schemeClr val="dk2"/>
                </a:solidFill>
              </a:rPr>
              <a:t>, </a:t>
            </a:r>
            <a:r>
              <a:rPr lang="es" sz="1800">
                <a:solidFill>
                  <a:srgbClr val="6AA84F"/>
                </a:solidFill>
              </a:rPr>
              <a:t>-2</a:t>
            </a:r>
            <a:r>
              <a:rPr lang="es" sz="1800">
                <a:solidFill>
                  <a:schemeClr val="dk2"/>
                </a:solidFill>
              </a:rPr>
              <a:t>, </a:t>
            </a:r>
            <a:r>
              <a:rPr lang="es" sz="1800">
                <a:solidFill>
                  <a:srgbClr val="3D85C6"/>
                </a:solidFill>
              </a:rPr>
              <a:t>0</a:t>
            </a:r>
            <a:r>
              <a:rPr lang="es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u.v = </a:t>
            </a:r>
            <a:r>
              <a:rPr lang="es" sz="1800">
                <a:solidFill>
                  <a:srgbClr val="CC0000"/>
                </a:solidFill>
              </a:rPr>
              <a:t>2 x 1</a:t>
            </a:r>
            <a:r>
              <a:rPr lang="es" sz="1800">
                <a:solidFill>
                  <a:schemeClr val="dk2"/>
                </a:solidFill>
              </a:rPr>
              <a:t> + </a:t>
            </a:r>
            <a:r>
              <a:rPr lang="es" sz="1800">
                <a:solidFill>
                  <a:srgbClr val="6AA84F"/>
                </a:solidFill>
              </a:rPr>
              <a:t>4 x (-2)</a:t>
            </a:r>
            <a:r>
              <a:rPr lang="es" sz="1800">
                <a:solidFill>
                  <a:schemeClr val="dk2"/>
                </a:solidFill>
              </a:rPr>
              <a:t> + </a:t>
            </a:r>
            <a:r>
              <a:rPr lang="es" sz="1800">
                <a:solidFill>
                  <a:srgbClr val="3D85C6"/>
                </a:solidFill>
              </a:rPr>
              <a:t>9 x 0</a:t>
            </a:r>
            <a:r>
              <a:rPr lang="es" sz="1800">
                <a:solidFill>
                  <a:schemeClr val="dk2"/>
                </a:solidFill>
              </a:rPr>
              <a:t> = -6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Ángulo entre 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480336" y="1781701"/>
            <a:ext cx="3527400" cy="83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34"/>
          <p:cNvSpPr txBox="1"/>
          <p:nvPr/>
        </p:nvSpPr>
        <p:spPr>
          <a:xfrm>
            <a:off x="250650" y="1114938"/>
            <a:ext cx="57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Propiedad del producto escalar: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3418975" y="3027950"/>
            <a:ext cx="322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ángulo formado entre los dos vectores</a:t>
            </a:r>
            <a:endParaRPr/>
          </a:p>
        </p:txBody>
      </p:sp>
      <p:cxnSp>
        <p:nvCxnSpPr>
          <p:cNvPr id="229" name="Google Shape;229;p34"/>
          <p:cNvCxnSpPr/>
          <p:nvPr/>
        </p:nvCxnSpPr>
        <p:spPr>
          <a:xfrm>
            <a:off x="3810000" y="2366200"/>
            <a:ext cx="491400" cy="7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Ángulo entre 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149" y="2092251"/>
            <a:ext cx="3379163" cy="202659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 txBox="1"/>
          <p:nvPr/>
        </p:nvSpPr>
        <p:spPr>
          <a:xfrm>
            <a:off x="0" y="994388"/>
            <a:ext cx="85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r>
              <a:rPr lang="es" sz="1800">
                <a:solidFill>
                  <a:schemeClr val="dk2"/>
                </a:solidFill>
              </a:rPr>
              <a:t>¿Cuál es el ángulo formado entre los vectores (-1,3) y (6,2)?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240625" y="2817400"/>
            <a:ext cx="4973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</a:t>
            </a:r>
            <a:r>
              <a:rPr lang="es" sz="1800">
                <a:solidFill>
                  <a:schemeClr val="dk2"/>
                </a:solidFill>
              </a:rPr>
              <a:t>1 x 6 + 3 x 2 = √[(-1)</a:t>
            </a:r>
            <a:r>
              <a:rPr baseline="30000" lang="es" sz="1800">
                <a:solidFill>
                  <a:schemeClr val="dk2"/>
                </a:solidFill>
              </a:rPr>
              <a:t>2</a:t>
            </a:r>
            <a:r>
              <a:rPr lang="es" sz="1800">
                <a:solidFill>
                  <a:schemeClr val="dk2"/>
                </a:solidFill>
              </a:rPr>
              <a:t> + 3</a:t>
            </a:r>
            <a:r>
              <a:rPr baseline="30000" lang="es" sz="1800">
                <a:solidFill>
                  <a:schemeClr val="dk2"/>
                </a:solidFill>
              </a:rPr>
              <a:t>2</a:t>
            </a:r>
            <a:r>
              <a:rPr lang="es" sz="1800">
                <a:solidFill>
                  <a:schemeClr val="dk2"/>
                </a:solidFill>
              </a:rPr>
              <a:t>] √</a:t>
            </a:r>
            <a:r>
              <a:rPr lang="es" sz="1800">
                <a:solidFill>
                  <a:schemeClr val="dk2"/>
                </a:solidFill>
              </a:rPr>
              <a:t>[6</a:t>
            </a:r>
            <a:r>
              <a:rPr baseline="30000" lang="es" sz="1800">
                <a:solidFill>
                  <a:schemeClr val="dk2"/>
                </a:solidFill>
              </a:rPr>
              <a:t>2</a:t>
            </a:r>
            <a:r>
              <a:rPr lang="es" sz="1800">
                <a:solidFill>
                  <a:schemeClr val="dk2"/>
                </a:solidFill>
              </a:rPr>
              <a:t> + 2</a:t>
            </a:r>
            <a:r>
              <a:rPr baseline="30000" lang="es" sz="1800">
                <a:solidFill>
                  <a:schemeClr val="dk2"/>
                </a:solidFill>
              </a:rPr>
              <a:t>2</a:t>
            </a:r>
            <a:r>
              <a:rPr lang="es" sz="1800">
                <a:solidFill>
                  <a:schemeClr val="dk2"/>
                </a:solidFill>
              </a:rPr>
              <a:t>] cosፀ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0 = √10 √40 cosፀ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0 = cosፀ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ፀ = 90º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35"/>
          <p:cNvSpPr/>
          <p:nvPr/>
        </p:nvSpPr>
        <p:spPr>
          <a:xfrm>
            <a:off x="367225" y="1740963"/>
            <a:ext cx="2751000" cy="591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9" name="Google Shape;239;p35"/>
          <p:cNvSpPr txBox="1"/>
          <p:nvPr/>
        </p:nvSpPr>
        <p:spPr>
          <a:xfrm>
            <a:off x="5313975" y="4371475"/>
            <a:ext cx="308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vectores son ortogonales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Ángulo entre vectores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 flipH="1">
            <a:off x="0" y="915175"/>
            <a:ext cx="903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Dos vectores son ortogonales si el ángulo que forman es de 90º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Dos vectores son paralelos si el ángulo que forman es de 0º o de 180º</a:t>
            </a:r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575" y="1997775"/>
            <a:ext cx="4014204" cy="290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0279" y="1997775"/>
            <a:ext cx="1866531" cy="290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0" y="863550"/>
            <a:ext cx="9056100" cy="4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Una matriz es arreglo bidimensional de </a:t>
            </a:r>
            <a:r>
              <a:rPr b="1" lang="es"/>
              <a:t>n</a:t>
            </a:r>
            <a:r>
              <a:rPr lang="es"/>
              <a:t>x</a:t>
            </a:r>
            <a:r>
              <a:rPr b="1" lang="es"/>
              <a:t>m</a:t>
            </a:r>
            <a:r>
              <a:rPr b="1" lang="es"/>
              <a:t> </a:t>
            </a:r>
            <a:r>
              <a:rPr lang="es"/>
              <a:t>números. </a:t>
            </a:r>
            <a:r>
              <a:rPr i="1" lang="es"/>
              <a:t>Donde siempre se indica la cantidad de filas (n) y luego la cantidad de columnas (m)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conjunto de todas las matrices de dimensión </a:t>
            </a:r>
            <a:r>
              <a:rPr b="1" lang="es"/>
              <a:t>n</a:t>
            </a:r>
            <a:r>
              <a:rPr lang="es"/>
              <a:t>x</a:t>
            </a:r>
            <a:r>
              <a:rPr b="1" lang="es"/>
              <a:t>m </a:t>
            </a:r>
            <a:r>
              <a:rPr lang="es"/>
              <a:t>se expresa como ℝ</a:t>
            </a:r>
            <a:r>
              <a:rPr b="1" baseline="30000" lang="es"/>
              <a:t>n</a:t>
            </a:r>
            <a:r>
              <a:rPr baseline="30000" lang="es"/>
              <a:t>x</a:t>
            </a:r>
            <a:r>
              <a:rPr b="1" baseline="30000" lang="es"/>
              <a:t>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 = 			               	∈ R</a:t>
            </a:r>
            <a:r>
              <a:rPr b="1" baseline="30000" lang="es"/>
              <a:t>n</a:t>
            </a:r>
            <a:r>
              <a:rPr baseline="30000" lang="es"/>
              <a:t>x</a:t>
            </a:r>
            <a:r>
              <a:rPr b="1" baseline="30000" lang="es"/>
              <a:t>m</a:t>
            </a:r>
            <a:endParaRPr b="1" baseline="30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baseline="30000"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referirnos a cada elemento de una matriz teniendo en cuenta su posición.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Ejemplo:</a:t>
            </a:r>
            <a:r>
              <a:rPr lang="es"/>
              <a:t> M =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M(2,1) = -2 </a:t>
            </a:r>
            <a:endParaRPr b="1" baseline="30000"/>
          </a:p>
        </p:txBody>
      </p:sp>
      <p:sp>
        <p:nvSpPr>
          <p:cNvPr id="254" name="Google Shape;254;p37"/>
          <p:cNvSpPr/>
          <p:nvPr/>
        </p:nvSpPr>
        <p:spPr>
          <a:xfrm>
            <a:off x="663450" y="2105900"/>
            <a:ext cx="2023800" cy="1413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1,1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1,2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1,3</a:t>
            </a:r>
            <a:r>
              <a:rPr lang="es">
                <a:solidFill>
                  <a:schemeClr val="dk1"/>
                </a:solidFill>
              </a:rPr>
              <a:t> ...  a</a:t>
            </a:r>
            <a:r>
              <a:rPr baseline="-25000" lang="es">
                <a:solidFill>
                  <a:schemeClr val="dk1"/>
                </a:solidFill>
              </a:rPr>
              <a:t>1,m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2,1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2,2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2,3</a:t>
            </a:r>
            <a:r>
              <a:rPr lang="es">
                <a:solidFill>
                  <a:schemeClr val="dk1"/>
                </a:solidFill>
              </a:rPr>
              <a:t> … a</a:t>
            </a:r>
            <a:r>
              <a:rPr baseline="-25000" lang="es">
                <a:solidFill>
                  <a:schemeClr val="dk1"/>
                </a:solidFill>
              </a:rPr>
              <a:t>2,m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… 		      	  ...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baseline="-25000" lang="es">
                <a:solidFill>
                  <a:schemeClr val="dk1"/>
                </a:solidFill>
              </a:rPr>
              <a:t>,1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baseline="-25000" lang="es">
                <a:solidFill>
                  <a:schemeClr val="dk1"/>
                </a:solidFill>
              </a:rPr>
              <a:t>,2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baseline="-25000" lang="es">
                <a:solidFill>
                  <a:schemeClr val="dk1"/>
                </a:solidFill>
              </a:rPr>
              <a:t>,3</a:t>
            </a:r>
            <a:r>
              <a:rPr lang="es">
                <a:solidFill>
                  <a:schemeClr val="dk1"/>
                </a:solidFill>
              </a:rPr>
              <a:t> ... a</a:t>
            </a:r>
            <a:r>
              <a:rPr baseline="-25000" lang="es">
                <a:solidFill>
                  <a:schemeClr val="dk1"/>
                </a:solidFill>
              </a:rPr>
              <a:t>n</a:t>
            </a:r>
            <a:r>
              <a:rPr baseline="-25000" lang="es">
                <a:solidFill>
                  <a:schemeClr val="dk1"/>
                </a:solidFill>
              </a:rPr>
              <a:t>,m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7"/>
          <p:cNvSpPr/>
          <p:nvPr/>
        </p:nvSpPr>
        <p:spPr>
          <a:xfrm>
            <a:off x="2033800" y="40526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1 	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-2</a:t>
            </a:r>
            <a:r>
              <a:rPr lang="es">
                <a:solidFill>
                  <a:schemeClr val="dk1"/>
                </a:solidFill>
              </a:rPr>
              <a:t>	</a:t>
            </a:r>
            <a:r>
              <a:rPr lang="es">
                <a:solidFill>
                  <a:schemeClr val="dk1"/>
                </a:solidFill>
              </a:rPr>
              <a:t>7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0" y="863550"/>
            <a:ext cx="9056100" cy="4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Una matriz es arreglo bidimensional de </a:t>
            </a:r>
            <a:r>
              <a:rPr b="1" lang="es"/>
              <a:t>n</a:t>
            </a:r>
            <a:r>
              <a:rPr lang="es"/>
              <a:t>x</a:t>
            </a:r>
            <a:r>
              <a:rPr b="1" lang="es"/>
              <a:t>m </a:t>
            </a:r>
            <a:r>
              <a:rPr lang="es"/>
              <a:t>números. </a:t>
            </a:r>
            <a:r>
              <a:rPr i="1" lang="es"/>
              <a:t>Donde siempre se indica la cantidad de filas (n) y luego la cantidad de columnas (m)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conjunto de todas </a:t>
            </a:r>
            <a:r>
              <a:rPr lang="es"/>
              <a:t>las matrices de dimensión</a:t>
            </a:r>
            <a:r>
              <a:rPr lang="es"/>
              <a:t> </a:t>
            </a:r>
            <a:r>
              <a:rPr b="1" lang="es"/>
              <a:t>n</a:t>
            </a:r>
            <a:r>
              <a:rPr lang="es"/>
              <a:t>x</a:t>
            </a:r>
            <a:r>
              <a:rPr b="1" lang="es"/>
              <a:t>m </a:t>
            </a:r>
            <a:r>
              <a:rPr lang="es"/>
              <a:t>se expresa como ℝ</a:t>
            </a:r>
            <a:r>
              <a:rPr b="1" baseline="30000" lang="es"/>
              <a:t>n</a:t>
            </a:r>
            <a:r>
              <a:rPr baseline="30000" lang="es"/>
              <a:t>x</a:t>
            </a:r>
            <a:r>
              <a:rPr b="1" baseline="30000" lang="es"/>
              <a:t>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 = 			               	∈ R</a:t>
            </a:r>
            <a:r>
              <a:rPr b="1" baseline="30000" lang="es"/>
              <a:t>n</a:t>
            </a:r>
            <a:r>
              <a:rPr baseline="30000" lang="es"/>
              <a:t>x</a:t>
            </a:r>
            <a:r>
              <a:rPr b="1" baseline="30000" lang="es"/>
              <a:t>m</a:t>
            </a:r>
            <a:endParaRPr b="1" baseline="30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baseline="30000"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referirnos a cada elemento de una matriz teniendo en cuenta su posición.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Ejemplo:</a:t>
            </a:r>
            <a:r>
              <a:rPr lang="es"/>
              <a:t> M =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M(2,1) = -2 </a:t>
            </a:r>
            <a:endParaRPr b="1" baseline="30000"/>
          </a:p>
        </p:txBody>
      </p:sp>
      <p:sp>
        <p:nvSpPr>
          <p:cNvPr id="262" name="Google Shape;262;p38"/>
          <p:cNvSpPr/>
          <p:nvPr/>
        </p:nvSpPr>
        <p:spPr>
          <a:xfrm>
            <a:off x="663450" y="2105900"/>
            <a:ext cx="2023800" cy="1413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1,1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1,2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1,3</a:t>
            </a:r>
            <a:r>
              <a:rPr lang="es">
                <a:solidFill>
                  <a:schemeClr val="dk1"/>
                </a:solidFill>
              </a:rPr>
              <a:t> ...  a</a:t>
            </a:r>
            <a:r>
              <a:rPr baseline="-25000" lang="es">
                <a:solidFill>
                  <a:schemeClr val="dk1"/>
                </a:solidFill>
              </a:rPr>
              <a:t>1,m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2,1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2,2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2,3</a:t>
            </a:r>
            <a:r>
              <a:rPr lang="es">
                <a:solidFill>
                  <a:schemeClr val="dk1"/>
                </a:solidFill>
              </a:rPr>
              <a:t> … a</a:t>
            </a:r>
            <a:r>
              <a:rPr baseline="-25000" lang="es">
                <a:solidFill>
                  <a:schemeClr val="dk1"/>
                </a:solidFill>
              </a:rPr>
              <a:t>2,m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… 		      	  ...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baseline="-25000" lang="es">
                <a:solidFill>
                  <a:schemeClr val="dk1"/>
                </a:solidFill>
              </a:rPr>
              <a:t>n,1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n,2</a:t>
            </a:r>
            <a:r>
              <a:rPr lang="es">
                <a:solidFill>
                  <a:schemeClr val="dk1"/>
                </a:solidFill>
              </a:rPr>
              <a:t> 	a</a:t>
            </a:r>
            <a:r>
              <a:rPr baseline="-25000" lang="es">
                <a:solidFill>
                  <a:schemeClr val="dk1"/>
                </a:solidFill>
              </a:rPr>
              <a:t>n,3</a:t>
            </a:r>
            <a:r>
              <a:rPr lang="es">
                <a:solidFill>
                  <a:schemeClr val="dk1"/>
                </a:solidFill>
              </a:rPr>
              <a:t> ... a</a:t>
            </a:r>
            <a:r>
              <a:rPr baseline="-25000" lang="es">
                <a:solidFill>
                  <a:schemeClr val="dk1"/>
                </a:solidFill>
              </a:rPr>
              <a:t>n,m</a:t>
            </a:r>
            <a:endParaRPr baseline="-2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8"/>
          <p:cNvSpPr/>
          <p:nvPr/>
        </p:nvSpPr>
        <p:spPr>
          <a:xfrm>
            <a:off x="2033800" y="40526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1 	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-2</a:t>
            </a:r>
            <a:r>
              <a:rPr lang="es">
                <a:solidFill>
                  <a:schemeClr val="dk1"/>
                </a:solidFill>
              </a:rPr>
              <a:t>	7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/>
        </p:nvSpPr>
        <p:spPr>
          <a:xfrm>
            <a:off x="-75" y="848375"/>
            <a:ext cx="9144000" cy="25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Suma entre matrices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Producto de una matriz por un escalar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Producto entre dos matrices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baseline="30000" sz="1800">
              <a:solidFill>
                <a:schemeClr val="dk2"/>
              </a:solidFill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con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resultado de la suma de dos matrices es una matriz.</a:t>
            </a:r>
            <a:endParaRPr/>
          </a:p>
          <a:p>
            <a:pPr indent="-342900" lvl="1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/>
              <a:t>Es la suma elemento a elemento de las matrices</a:t>
            </a:r>
            <a:endParaRPr sz="1800"/>
          </a:p>
          <a:p>
            <a:pPr indent="-342900" lvl="1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/>
              <a:t>Para que sea posible, las matrices deben tener </a:t>
            </a:r>
            <a:r>
              <a:rPr b="1" lang="es" sz="1800"/>
              <a:t>las mismas dimensiones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resultado de la suma de dos matrices es una matriz.</a:t>
            </a:r>
            <a:endParaRPr/>
          </a:p>
          <a:p>
            <a:pPr indent="-342900" lvl="1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/>
              <a:t>Es la suma elemento a elemento de las matrices</a:t>
            </a:r>
            <a:endParaRPr sz="1800"/>
          </a:p>
          <a:p>
            <a:pPr indent="-342900" lvl="1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/>
              <a:t>Para que sea posible, las matrices deben tener </a:t>
            </a:r>
            <a:r>
              <a:rPr b="1" lang="es" sz="1800"/>
              <a:t>las mismas dimensiones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Ejemplo: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 = 					N =</a:t>
            </a:r>
            <a:r>
              <a:rPr b="1" lang="es" sz="1400">
                <a:solidFill>
                  <a:schemeClr val="dk1"/>
                </a:solidFill>
              </a:rPr>
              <a:t> 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 + N = 	??			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282" name="Google Shape;282;p41"/>
          <p:cNvSpPr/>
          <p:nvPr/>
        </p:nvSpPr>
        <p:spPr>
          <a:xfrm>
            <a:off x="543225" y="318377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1 	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-2	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3" name="Google Shape;283;p41"/>
          <p:cNvSpPr/>
          <p:nvPr/>
        </p:nvSpPr>
        <p:spPr>
          <a:xfrm>
            <a:off x="2855425" y="318377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3 	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0     -2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Suma 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resultado de la suma de dos matrices es una matriz.</a:t>
            </a:r>
            <a:endParaRPr/>
          </a:p>
          <a:p>
            <a:pPr indent="-342900" lvl="1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/>
              <a:t>Es la suma elemento a elemento de las matrices</a:t>
            </a:r>
            <a:endParaRPr sz="1800"/>
          </a:p>
          <a:p>
            <a:pPr indent="-342900" lvl="1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s" sz="1800"/>
              <a:t>Para que sea posible, las matrices deben tener </a:t>
            </a:r>
            <a:r>
              <a:rPr b="1" lang="es" sz="1800"/>
              <a:t>las mismas dimensiones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Ejemplo: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 = 					N =</a:t>
            </a:r>
            <a:r>
              <a:rPr b="1" lang="es" sz="1400">
                <a:solidFill>
                  <a:schemeClr val="dk1"/>
                </a:solidFill>
              </a:rPr>
              <a:t> 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 + N = 					=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290" name="Google Shape;290;p42"/>
          <p:cNvSpPr/>
          <p:nvPr/>
        </p:nvSpPr>
        <p:spPr>
          <a:xfrm>
            <a:off x="580900" y="324167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CC0000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</a:t>
            </a:r>
            <a:r>
              <a:rPr b="1" lang="es">
                <a:solidFill>
                  <a:srgbClr val="3C78D8"/>
                </a:solidFill>
              </a:rPr>
              <a:t>4</a:t>
            </a:r>
            <a:endParaRPr b="1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F1C232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</a:t>
            </a:r>
            <a:r>
              <a:rPr b="1" lang="es">
                <a:solidFill>
                  <a:srgbClr val="6AA84F"/>
                </a:solidFill>
              </a:rPr>
              <a:t>7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2779225" y="318377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CC0000"/>
                </a:solidFill>
              </a:rPr>
              <a:t>3 </a:t>
            </a:r>
            <a:r>
              <a:rPr b="1" lang="es">
                <a:solidFill>
                  <a:schemeClr val="dk1"/>
                </a:solidFill>
              </a:rPr>
              <a:t>	</a:t>
            </a:r>
            <a:r>
              <a:rPr b="1" lang="es">
                <a:solidFill>
                  <a:srgbClr val="3C78D8"/>
                </a:solidFill>
              </a:rPr>
              <a:t>5</a:t>
            </a:r>
            <a:endParaRPr b="1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F1C232"/>
                </a:solidFill>
              </a:rPr>
              <a:t>0</a:t>
            </a:r>
            <a:r>
              <a:rPr b="1" lang="es">
                <a:solidFill>
                  <a:schemeClr val="dk1"/>
                </a:solidFill>
              </a:rPr>
              <a:t>     </a:t>
            </a:r>
            <a:r>
              <a:rPr b="1" lang="es">
                <a:solidFill>
                  <a:srgbClr val="6AA84F"/>
                </a:solidFill>
              </a:rPr>
              <a:t>-2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962750" y="4291900"/>
            <a:ext cx="17526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CC0000"/>
                </a:solidFill>
              </a:rPr>
              <a:t>1 + 3	 </a:t>
            </a:r>
            <a:r>
              <a:rPr b="1" lang="es">
                <a:solidFill>
                  <a:schemeClr val="dk1"/>
                </a:solidFill>
              </a:rPr>
              <a:t>	</a:t>
            </a:r>
            <a:r>
              <a:rPr b="1" lang="es">
                <a:solidFill>
                  <a:srgbClr val="3D85C6"/>
                </a:solidFill>
              </a:rPr>
              <a:t>4 + 5</a:t>
            </a:r>
            <a:endParaRPr b="1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F1C232"/>
                </a:solidFill>
              </a:rPr>
              <a:t>-2 + 0</a:t>
            </a:r>
            <a:r>
              <a:rPr b="1" lang="es">
                <a:solidFill>
                  <a:schemeClr val="dk1"/>
                </a:solidFill>
              </a:rPr>
              <a:t>	</a:t>
            </a:r>
            <a:r>
              <a:rPr b="1" lang="es">
                <a:solidFill>
                  <a:srgbClr val="6AA84F"/>
                </a:solidFill>
              </a:rPr>
              <a:t>7 +(- 2)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293" name="Google Shape;293;p42"/>
          <p:cNvSpPr/>
          <p:nvPr/>
        </p:nvSpPr>
        <p:spPr>
          <a:xfrm>
            <a:off x="3084600" y="4291900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CC0000"/>
                </a:solidFill>
              </a:rPr>
              <a:t>4</a:t>
            </a:r>
            <a:r>
              <a:rPr b="1" lang="es">
                <a:solidFill>
                  <a:schemeClr val="dk1"/>
                </a:solidFill>
              </a:rPr>
              <a:t> 	</a:t>
            </a:r>
            <a:r>
              <a:rPr b="1" lang="es">
                <a:solidFill>
                  <a:srgbClr val="3D85C6"/>
                </a:solidFill>
              </a:rPr>
              <a:t>9</a:t>
            </a:r>
            <a:endParaRPr b="1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F1C232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</a:t>
            </a:r>
            <a:r>
              <a:rPr b="1" lang="es">
                <a:solidFill>
                  <a:srgbClr val="6AA84F"/>
                </a:solidFill>
              </a:rPr>
              <a:t>5</a:t>
            </a:r>
            <a:endParaRPr b="1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por un escalar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multiplicamos una matriz por un escalar, debemos multiplicar cada uno de sus elementos por ese valor.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resultado es una matriz de iguales dimensiones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Ejemplo: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300" name="Google Shape;300;p43"/>
          <p:cNvSpPr/>
          <p:nvPr/>
        </p:nvSpPr>
        <p:spPr>
          <a:xfrm>
            <a:off x="885700" y="286067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247525" y="2860675"/>
            <a:ext cx="6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M =</a:t>
            </a:r>
            <a:endParaRPr/>
          </a:p>
        </p:txBody>
      </p:sp>
      <p:sp>
        <p:nvSpPr>
          <p:cNvPr id="302" name="Google Shape;302;p43"/>
          <p:cNvSpPr txBox="1"/>
          <p:nvPr/>
        </p:nvSpPr>
        <p:spPr>
          <a:xfrm>
            <a:off x="247525" y="3879750"/>
            <a:ext cx="10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3 M =</a:t>
            </a:r>
            <a:r>
              <a:rPr lang="es"/>
              <a:t> </a:t>
            </a:r>
            <a:endParaRPr/>
          </a:p>
        </p:txBody>
      </p:sp>
      <p:sp>
        <p:nvSpPr>
          <p:cNvPr id="303" name="Google Shape;303;p43"/>
          <p:cNvSpPr/>
          <p:nvPr/>
        </p:nvSpPr>
        <p:spPr>
          <a:xfrm>
            <a:off x="1076725" y="3802050"/>
            <a:ext cx="9273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3</a:t>
            </a:r>
            <a:r>
              <a:rPr b="1" lang="es">
                <a:solidFill>
                  <a:schemeClr val="dk1"/>
                </a:solidFill>
              </a:rPr>
              <a:t> 	12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-6	21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p44"/>
          <p:cNvSpPr txBox="1"/>
          <p:nvPr>
            <p:ph idx="1" type="body"/>
          </p:nvPr>
        </p:nvSpPr>
        <p:spPr>
          <a:xfrm>
            <a:off x="171325" y="2916825"/>
            <a:ext cx="8520600" cy="19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El resultado de multiplicar una matriz de A </a:t>
            </a:r>
            <a:r>
              <a:rPr b="1" baseline="-25000" lang="es">
                <a:solidFill>
                  <a:srgbClr val="CC0000"/>
                </a:solidFill>
              </a:rPr>
              <a:t>n</a:t>
            </a:r>
            <a:r>
              <a:rPr b="1" baseline="-25000" lang="es"/>
              <a:t> x </a:t>
            </a:r>
            <a:r>
              <a:rPr b="1" baseline="-25000" lang="es">
                <a:solidFill>
                  <a:srgbClr val="93C47D"/>
                </a:solidFill>
              </a:rPr>
              <a:t>m</a:t>
            </a:r>
            <a:r>
              <a:rPr b="1" lang="es"/>
              <a:t> por una matriz B </a:t>
            </a:r>
            <a:r>
              <a:rPr b="1" baseline="-25000" lang="es">
                <a:solidFill>
                  <a:srgbClr val="93C47D"/>
                </a:solidFill>
              </a:rPr>
              <a:t>m</a:t>
            </a:r>
            <a:r>
              <a:rPr b="1" baseline="-25000" lang="es"/>
              <a:t> x </a:t>
            </a:r>
            <a:r>
              <a:rPr b="1" baseline="-25000" lang="es">
                <a:solidFill>
                  <a:srgbClr val="3D85C6"/>
                </a:solidFill>
              </a:rPr>
              <a:t>p</a:t>
            </a:r>
            <a:r>
              <a:rPr b="1" lang="es"/>
              <a:t> es una matriz C </a:t>
            </a:r>
            <a:r>
              <a:rPr b="1" baseline="-25000" lang="es">
                <a:solidFill>
                  <a:srgbClr val="CC0000"/>
                </a:solidFill>
              </a:rPr>
              <a:t>n</a:t>
            </a:r>
            <a:r>
              <a:rPr b="1" baseline="-25000" lang="es"/>
              <a:t> x </a:t>
            </a:r>
            <a:r>
              <a:rPr b="1" baseline="-25000" lang="es">
                <a:solidFill>
                  <a:srgbClr val="3C78D8"/>
                </a:solidFill>
              </a:rPr>
              <a:t>p</a:t>
            </a:r>
            <a:endParaRPr b="1" baseline="-25000">
              <a:solidFill>
                <a:srgbClr val="3C78D8"/>
              </a:solidFill>
            </a:endParaRPr>
          </a:p>
        </p:txBody>
      </p:sp>
      <p:sp>
        <p:nvSpPr>
          <p:cNvPr id="310" name="Google Shape;310;p44"/>
          <p:cNvSpPr/>
          <p:nvPr/>
        </p:nvSpPr>
        <p:spPr>
          <a:xfrm>
            <a:off x="130941" y="1156212"/>
            <a:ext cx="8882100" cy="134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311" name="Google Shape;311;p44"/>
          <p:cNvCxnSpPr/>
          <p:nvPr/>
        </p:nvCxnSpPr>
        <p:spPr>
          <a:xfrm>
            <a:off x="5283875" y="3378875"/>
            <a:ext cx="321000" cy="57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44"/>
          <p:cNvCxnSpPr/>
          <p:nvPr/>
        </p:nvCxnSpPr>
        <p:spPr>
          <a:xfrm flipH="1">
            <a:off x="6757675" y="3358825"/>
            <a:ext cx="471300" cy="59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3" name="Google Shape;313;p44"/>
          <p:cNvSpPr txBox="1"/>
          <p:nvPr/>
        </p:nvSpPr>
        <p:spPr>
          <a:xfrm>
            <a:off x="4862750" y="4020550"/>
            <a:ext cx="319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número de columnas de A debe coincidir con el número de filas de B</a:t>
            </a:r>
            <a:endParaRPr/>
          </a:p>
        </p:txBody>
      </p:sp>
      <p:cxnSp>
        <p:nvCxnSpPr>
          <p:cNvPr id="314" name="Google Shape;314;p44"/>
          <p:cNvCxnSpPr/>
          <p:nvPr/>
        </p:nvCxnSpPr>
        <p:spPr>
          <a:xfrm>
            <a:off x="1122950" y="3654075"/>
            <a:ext cx="1404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44"/>
          <p:cNvSpPr txBox="1"/>
          <p:nvPr/>
        </p:nvSpPr>
        <p:spPr>
          <a:xfrm>
            <a:off x="171325" y="4115175"/>
            <a:ext cx="421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matriz resultado tiene el mismo número de filas que A y el mismo número de columnas que 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45"/>
          <p:cNvSpPr txBox="1"/>
          <p:nvPr/>
        </p:nvSpPr>
        <p:spPr>
          <a:xfrm>
            <a:off x="60150" y="902375"/>
            <a:ext cx="9013800" cy="17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A</a:t>
            </a:r>
            <a:r>
              <a:rPr baseline="-25000" lang="es" sz="1800"/>
              <a:t>nxm</a:t>
            </a:r>
            <a:r>
              <a:rPr lang="es" sz="1800"/>
              <a:t> *  B</a:t>
            </a:r>
            <a:r>
              <a:rPr baseline="-25000" lang="es" sz="1800"/>
              <a:t>mxp</a:t>
            </a:r>
            <a:r>
              <a:rPr lang="es" sz="1800"/>
              <a:t> = C</a:t>
            </a:r>
            <a:r>
              <a:rPr baseline="-25000" lang="es" sz="1800"/>
              <a:t>nxp</a:t>
            </a:r>
            <a:endParaRPr baseline="-2500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Cada elemento C</a:t>
            </a:r>
            <a:r>
              <a:rPr baseline="-25000" lang="es" sz="1800">
                <a:solidFill>
                  <a:schemeClr val="dk2"/>
                </a:solidFill>
              </a:rPr>
              <a:t>ij</a:t>
            </a:r>
            <a:r>
              <a:rPr lang="es" sz="1800">
                <a:solidFill>
                  <a:schemeClr val="dk2"/>
                </a:solidFill>
              </a:rPr>
              <a:t> de C lo calculamos haciendo el producto escalar entre la fila i de A y la columna j de B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22" name="Google Shape;322;p45"/>
          <p:cNvSpPr/>
          <p:nvPr/>
        </p:nvSpPr>
        <p:spPr>
          <a:xfrm>
            <a:off x="885700" y="286067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23" name="Google Shape;323;p45"/>
          <p:cNvSpPr txBox="1"/>
          <p:nvPr/>
        </p:nvSpPr>
        <p:spPr>
          <a:xfrm>
            <a:off x="247525" y="2860675"/>
            <a:ext cx="6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A</a:t>
            </a:r>
            <a:r>
              <a:rPr b="1" lang="es" sz="1800">
                <a:solidFill>
                  <a:schemeClr val="dk2"/>
                </a:solidFill>
              </a:rPr>
              <a:t> =</a:t>
            </a:r>
            <a:endParaRPr/>
          </a:p>
        </p:txBody>
      </p:sp>
      <p:sp>
        <p:nvSpPr>
          <p:cNvPr id="324" name="Google Shape;324;p45"/>
          <p:cNvSpPr/>
          <p:nvPr/>
        </p:nvSpPr>
        <p:spPr>
          <a:xfrm>
            <a:off x="2933775" y="275307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25" name="Google Shape;325;p45"/>
          <p:cNvSpPr txBox="1"/>
          <p:nvPr/>
        </p:nvSpPr>
        <p:spPr>
          <a:xfrm>
            <a:off x="2284875" y="2813725"/>
            <a:ext cx="6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B</a:t>
            </a:r>
            <a:r>
              <a:rPr b="1" lang="es" sz="1800">
                <a:solidFill>
                  <a:schemeClr val="dk2"/>
                </a:solidFill>
              </a:rPr>
              <a:t> =</a:t>
            </a:r>
            <a:endParaRPr/>
          </a:p>
        </p:txBody>
      </p:sp>
      <p:sp>
        <p:nvSpPr>
          <p:cNvPr id="326" name="Google Shape;326;p45"/>
          <p:cNvSpPr txBox="1"/>
          <p:nvPr/>
        </p:nvSpPr>
        <p:spPr>
          <a:xfrm>
            <a:off x="247525" y="3739825"/>
            <a:ext cx="13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A * B = ??</a:t>
            </a:r>
            <a:endParaRPr b="1" sz="1800"/>
          </a:p>
        </p:txBody>
      </p:sp>
      <p:sp>
        <p:nvSpPr>
          <p:cNvPr id="327" name="Google Shape;327;p45"/>
          <p:cNvSpPr txBox="1"/>
          <p:nvPr/>
        </p:nvSpPr>
        <p:spPr>
          <a:xfrm>
            <a:off x="1564225" y="3770575"/>
            <a:ext cx="71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</a:rPr>
              <a:t>No se puede! La cantidad de columnas de A es distinto a la cantidad de filas de B</a:t>
            </a:r>
            <a:endParaRPr baseline="-25000">
              <a:solidFill>
                <a:srgbClr val="CC0000"/>
              </a:solidFill>
            </a:endParaRPr>
          </a:p>
        </p:txBody>
      </p:sp>
      <p:sp>
        <p:nvSpPr>
          <p:cNvPr id="328" name="Google Shape;328;p45"/>
          <p:cNvSpPr txBox="1"/>
          <p:nvPr/>
        </p:nvSpPr>
        <p:spPr>
          <a:xfrm>
            <a:off x="247525" y="4351425"/>
            <a:ext cx="157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B * A = ??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4" name="Google Shape;334;p46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35" name="Google Shape;335;p46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36" name="Google Shape;336;p46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A</a:t>
            </a:r>
            <a:r>
              <a:rPr b="1" baseline="-25000" lang="es" sz="1800">
                <a:solidFill>
                  <a:srgbClr val="CC0000"/>
                </a:solidFill>
              </a:rPr>
              <a:t>2</a:t>
            </a:r>
            <a:r>
              <a:rPr b="1" baseline="-25000" lang="es" sz="1800">
                <a:solidFill>
                  <a:schemeClr val="dk2"/>
                </a:solidFill>
              </a:rPr>
              <a:t>x</a:t>
            </a:r>
            <a:r>
              <a:rPr b="1" baseline="-25000" lang="es" sz="1800">
                <a:solidFill>
                  <a:srgbClr val="6AA84F"/>
                </a:solidFill>
              </a:rPr>
              <a:t>2</a:t>
            </a:r>
            <a:r>
              <a:rPr b="1" lang="es" sz="1800">
                <a:solidFill>
                  <a:schemeClr val="dk2"/>
                </a:solidFill>
              </a:rPr>
              <a:t> =</a:t>
            </a:r>
            <a:endParaRPr/>
          </a:p>
        </p:txBody>
      </p:sp>
      <p:sp>
        <p:nvSpPr>
          <p:cNvPr id="337" name="Google Shape;337;p46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38" name="Google Shape;338;p46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B</a:t>
            </a:r>
            <a:r>
              <a:rPr b="1" baseline="-25000" lang="es" sz="1800">
                <a:solidFill>
                  <a:srgbClr val="3D85C6"/>
                </a:solidFill>
              </a:rPr>
              <a:t>3</a:t>
            </a:r>
            <a:r>
              <a:rPr b="1" baseline="-25000" lang="es" sz="1800">
                <a:solidFill>
                  <a:schemeClr val="dk2"/>
                </a:solidFill>
              </a:rPr>
              <a:t>x</a:t>
            </a:r>
            <a:r>
              <a:rPr b="1" baseline="-25000" lang="es" sz="1800">
                <a:solidFill>
                  <a:srgbClr val="CC0000"/>
                </a:solidFill>
              </a:rPr>
              <a:t>2</a:t>
            </a:r>
            <a:r>
              <a:rPr b="1" lang="es" sz="1800">
                <a:solidFill>
                  <a:schemeClr val="dk2"/>
                </a:solidFill>
              </a:rPr>
              <a:t> =</a:t>
            </a:r>
            <a:endParaRPr/>
          </a:p>
        </p:txBody>
      </p:sp>
      <p:sp>
        <p:nvSpPr>
          <p:cNvPr id="339" name="Google Shape;339;p46"/>
          <p:cNvSpPr txBox="1"/>
          <p:nvPr/>
        </p:nvSpPr>
        <p:spPr>
          <a:xfrm>
            <a:off x="322850" y="3150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C</a:t>
            </a:r>
            <a:r>
              <a:rPr b="1" baseline="-25000" lang="es" sz="1800">
                <a:solidFill>
                  <a:srgbClr val="3D85C6"/>
                </a:solidFill>
              </a:rPr>
              <a:t>3</a:t>
            </a:r>
            <a:r>
              <a:rPr b="1" baseline="-25000" lang="es" sz="1800">
                <a:solidFill>
                  <a:schemeClr val="dk2"/>
                </a:solidFill>
              </a:rPr>
              <a:t>x</a:t>
            </a:r>
            <a:r>
              <a:rPr b="1" baseline="-25000" lang="es" sz="1800">
                <a:solidFill>
                  <a:srgbClr val="6AA84F"/>
                </a:solidFill>
              </a:rPr>
              <a:t>2</a:t>
            </a:r>
            <a:r>
              <a:rPr b="1" lang="es" sz="1800">
                <a:solidFill>
                  <a:schemeClr val="dk2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p46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47" name="Google Shape;347;p47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93C47D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93C47D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9" name="Google Shape;349;p47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CC0000"/>
                </a:solidFill>
              </a:rPr>
              <a:t>1 	4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50" name="Google Shape;350;p47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2" name="Google Shape;352;p47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rgbClr val="CC0000"/>
                </a:solidFill>
              </a:rPr>
              <a:t>1</a:t>
            </a:r>
            <a:r>
              <a:rPr baseline="-25000" lang="es" sz="3400">
                <a:solidFill>
                  <a:srgbClr val="93C47D"/>
                </a:solidFill>
              </a:rPr>
              <a:t>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53" name="Google Shape;353;p47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1x1+4x(-2) </a:t>
            </a:r>
            <a:r>
              <a:rPr lang="es" sz="1900">
                <a:solidFill>
                  <a:schemeClr val="dk1"/>
                </a:solidFill>
              </a:rPr>
              <a:t>		</a:t>
            </a: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		 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		 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48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61" name="Google Shape;361;p48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93C47D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93C47D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2" name="Google Shape;362;p48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3" name="Google Shape;363;p48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CC0000"/>
                </a:solidFill>
              </a:rPr>
              <a:t>1 	4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64" name="Google Shape;364;p48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48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48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rgbClr val="CC0000"/>
                </a:solidFill>
              </a:rPr>
              <a:t>1</a:t>
            </a:r>
            <a:r>
              <a:rPr baseline="-25000" lang="es" sz="3400">
                <a:solidFill>
                  <a:srgbClr val="93C47D"/>
                </a:solidFill>
              </a:rPr>
              <a:t>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67" name="Google Shape;367;p48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	</a:t>
            </a: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		 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		 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68" name="Google Shape;368;p48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p49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75" name="Google Shape;375;p49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93C47D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93C47D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76" name="Google Shape;376;p49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7" name="Google Shape;377;p49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/>
              <a:t>1 	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-2	7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78" name="Google Shape;378;p49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9" name="Google Shape;379;p49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49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rgbClr val="CC0000"/>
                </a:solidFill>
              </a:rPr>
              <a:t>2</a:t>
            </a:r>
            <a:r>
              <a:rPr baseline="-25000" lang="es" sz="3400">
                <a:solidFill>
                  <a:srgbClr val="93C47D"/>
                </a:solidFill>
              </a:rPr>
              <a:t>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81" name="Google Shape;381;p49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	</a:t>
            </a: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-2x1+7x(-2)</a:t>
            </a:r>
            <a:r>
              <a:rPr lang="es" sz="2400">
                <a:solidFill>
                  <a:schemeClr val="dk1"/>
                </a:solidFill>
              </a:rPr>
              <a:t>	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		 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82" name="Google Shape;382;p49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p50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89" name="Google Shape;389;p50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93C47D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93C47D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90" name="Google Shape;390;p50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1" name="Google Shape;391;p50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/>
              <a:t>1 	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-2	7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92" name="Google Shape;392;p50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3" name="Google Shape;393;p50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4" name="Google Shape;394;p50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rgbClr val="CC0000"/>
                </a:solidFill>
              </a:rPr>
              <a:t>2</a:t>
            </a:r>
            <a:r>
              <a:rPr baseline="-25000" lang="es" sz="3400">
                <a:solidFill>
                  <a:srgbClr val="93C47D"/>
                </a:solidFill>
              </a:rPr>
              <a:t>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95" name="Google Shape;395;p50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	</a:t>
            </a: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-16</a:t>
            </a:r>
            <a:r>
              <a:rPr lang="es" sz="3400">
                <a:solidFill>
                  <a:schemeClr val="dk1"/>
                </a:solidFill>
              </a:rPr>
              <a:t>	 		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		 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396" name="Google Shape;396;p50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p51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03" name="Google Shape;403;p51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93C47D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93C47D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04" name="Google Shape;404;p51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p51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/>
              <a:t>1 	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 4	0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406" name="Google Shape;406;p51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7" name="Google Shape;407;p51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8" name="Google Shape;408;p51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rgbClr val="CC0000"/>
                </a:solidFill>
              </a:rPr>
              <a:t>3</a:t>
            </a:r>
            <a:r>
              <a:rPr baseline="-25000" lang="es" sz="3400">
                <a:solidFill>
                  <a:srgbClr val="93C47D"/>
                </a:solidFill>
              </a:rPr>
              <a:t>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09" name="Google Shape;409;p51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	</a:t>
            </a: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-16	 		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4x1+0x(-2)</a:t>
            </a:r>
            <a:r>
              <a:rPr lang="es" sz="3400">
                <a:solidFill>
                  <a:schemeClr val="dk1"/>
                </a:solidFill>
              </a:rPr>
              <a:t>	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10" name="Google Shape;410;p51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52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17" name="Google Shape;417;p52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93C47D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93C47D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7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18" name="Google Shape;418;p52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9" name="Google Shape;419;p52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/>
              <a:t>1 	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 4	0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420" name="Google Shape;420;p52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1" name="Google Shape;421;p52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2" name="Google Shape;422;p52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rgbClr val="CC0000"/>
                </a:solidFill>
              </a:rPr>
              <a:t>3</a:t>
            </a:r>
            <a:r>
              <a:rPr baseline="-25000" lang="es" sz="3400">
                <a:solidFill>
                  <a:srgbClr val="93C47D"/>
                </a:solidFill>
              </a:rPr>
              <a:t>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23" name="Google Shape;423;p52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	</a:t>
            </a: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-16	 		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  4</a:t>
            </a:r>
            <a:r>
              <a:rPr lang="es" sz="3400">
                <a:solidFill>
                  <a:schemeClr val="dk1"/>
                </a:solidFill>
              </a:rPr>
              <a:t>			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24" name="Google Shape;424;p52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0" name="Google Shape;430;p53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31" name="Google Shape;431;p53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/>
              <a:t>1 	</a:t>
            </a:r>
            <a:r>
              <a:rPr b="1" lang="es">
                <a:solidFill>
                  <a:srgbClr val="93C47D"/>
                </a:solidFill>
              </a:rPr>
              <a:t>4</a:t>
            </a:r>
            <a:endParaRPr b="1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-2	</a:t>
            </a:r>
            <a:r>
              <a:rPr b="1" lang="es">
                <a:solidFill>
                  <a:srgbClr val="93C47D"/>
                </a:solidFill>
              </a:rPr>
              <a:t>7</a:t>
            </a:r>
            <a:endParaRPr b="1">
              <a:solidFill>
                <a:srgbClr val="93C47D"/>
              </a:solidFill>
            </a:endParaRPr>
          </a:p>
        </p:txBody>
      </p:sp>
      <p:sp>
        <p:nvSpPr>
          <p:cNvPr id="432" name="Google Shape;432;p53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3" name="Google Shape;433;p53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FF0000"/>
                </a:solidFill>
              </a:rPr>
              <a:t>1 	4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34" name="Google Shape;434;p53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5" name="Google Shape;435;p53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6" name="Google Shape;436;p53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</a:t>
            </a: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rgbClr val="CC0000"/>
                </a:solidFill>
              </a:rPr>
              <a:t>1</a:t>
            </a:r>
            <a:r>
              <a:rPr baseline="-25000" lang="es" sz="3400">
                <a:solidFill>
                  <a:srgbClr val="93C47D"/>
                </a:solidFill>
              </a:rPr>
              <a:t>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37" name="Google Shape;437;p53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</a:t>
            </a:r>
            <a:r>
              <a:rPr lang="es" sz="2400">
                <a:solidFill>
                  <a:schemeClr val="dk1"/>
                </a:solidFill>
              </a:rPr>
              <a:t>1x4+4x7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-16	 		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  4			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38" name="Google Shape;438;p53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4" name="Google Shape;444;p54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/>
              <a:t>1 	</a:t>
            </a:r>
            <a:r>
              <a:rPr b="1" lang="es">
                <a:solidFill>
                  <a:srgbClr val="93C47D"/>
                </a:solidFill>
              </a:rPr>
              <a:t>4</a:t>
            </a:r>
            <a:endParaRPr b="1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-2	</a:t>
            </a:r>
            <a:r>
              <a:rPr b="1" lang="es">
                <a:solidFill>
                  <a:srgbClr val="93C47D"/>
                </a:solidFill>
              </a:rPr>
              <a:t>7</a:t>
            </a:r>
            <a:endParaRPr b="1">
              <a:solidFill>
                <a:srgbClr val="93C47D"/>
              </a:solidFill>
            </a:endParaRPr>
          </a:p>
        </p:txBody>
      </p:sp>
      <p:sp>
        <p:nvSpPr>
          <p:cNvPr id="446" name="Google Shape;446;p54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7" name="Google Shape;447;p54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FF0000"/>
                </a:solidFill>
              </a:rPr>
              <a:t>1 	4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48" name="Google Shape;448;p54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9" name="Google Shape;449;p54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0" name="Google Shape;450;p54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rgbClr val="CC0000"/>
                </a:solidFill>
              </a:rPr>
              <a:t>1</a:t>
            </a:r>
            <a:r>
              <a:rPr baseline="-25000" lang="es" sz="3400">
                <a:solidFill>
                  <a:srgbClr val="93C47D"/>
                </a:solidFill>
              </a:rPr>
              <a:t>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51" name="Google Shape;451;p54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	</a:t>
            </a:r>
            <a:r>
              <a:rPr lang="es" sz="3400">
                <a:solidFill>
                  <a:schemeClr val="dk1"/>
                </a:solidFill>
              </a:rPr>
              <a:t>32</a:t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-16	 		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  4			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52" name="Google Shape;452;p54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5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Producto entre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55"/>
          <p:cNvSpPr txBox="1"/>
          <p:nvPr/>
        </p:nvSpPr>
        <p:spPr>
          <a:xfrm>
            <a:off x="60150" y="902375"/>
            <a:ext cx="9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Ejemplo: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459" name="Google Shape;459;p55"/>
          <p:cNvSpPr/>
          <p:nvPr/>
        </p:nvSpPr>
        <p:spPr>
          <a:xfrm>
            <a:off x="3053375" y="1456925"/>
            <a:ext cx="829200" cy="555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/>
              <a:t>1 	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-2	7</a:t>
            </a:r>
            <a:endParaRPr b="1"/>
          </a:p>
        </p:txBody>
      </p:sp>
      <p:sp>
        <p:nvSpPr>
          <p:cNvPr id="460" name="Google Shape;460;p55"/>
          <p:cNvSpPr txBox="1"/>
          <p:nvPr/>
        </p:nvSpPr>
        <p:spPr>
          <a:xfrm>
            <a:off x="2262800" y="145692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</a:t>
            </a:r>
            <a:r>
              <a:rPr b="1" baseline="-25000" lang="es" sz="1800">
                <a:solidFill>
                  <a:schemeClr val="dk1"/>
                </a:solidFill>
              </a:rPr>
              <a:t>2x2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1" name="Google Shape;461;p55"/>
          <p:cNvSpPr/>
          <p:nvPr/>
        </p:nvSpPr>
        <p:spPr>
          <a:xfrm>
            <a:off x="1048825" y="1443225"/>
            <a:ext cx="829200" cy="670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4	0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62" name="Google Shape;462;p55"/>
          <p:cNvSpPr txBox="1"/>
          <p:nvPr/>
        </p:nvSpPr>
        <p:spPr>
          <a:xfrm>
            <a:off x="247525" y="15038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3" name="Google Shape;463;p55"/>
          <p:cNvSpPr txBox="1"/>
          <p:nvPr/>
        </p:nvSpPr>
        <p:spPr>
          <a:xfrm>
            <a:off x="322850" y="3150275"/>
            <a:ext cx="79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</a:t>
            </a:r>
            <a:r>
              <a:rPr b="1" baseline="-25000" lang="es" sz="1800">
                <a:solidFill>
                  <a:schemeClr val="dk1"/>
                </a:solidFill>
              </a:rPr>
              <a:t>3x2</a:t>
            </a:r>
            <a:r>
              <a:rPr b="1" lang="es" sz="1800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4" name="Google Shape;464;p55"/>
          <p:cNvSpPr/>
          <p:nvPr/>
        </p:nvSpPr>
        <p:spPr>
          <a:xfrm>
            <a:off x="1161125" y="3046025"/>
            <a:ext cx="18921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11</a:t>
            </a:r>
            <a:r>
              <a:rPr lang="es" sz="3400">
                <a:solidFill>
                  <a:schemeClr val="dk1"/>
                </a:solidFill>
              </a:rPr>
              <a:t> 	C</a:t>
            </a:r>
            <a:r>
              <a:rPr baseline="-25000" lang="es" sz="3400">
                <a:solidFill>
                  <a:schemeClr val="dk1"/>
                </a:solidFill>
              </a:rPr>
              <a:t>12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21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22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C</a:t>
            </a:r>
            <a:r>
              <a:rPr baseline="-25000" lang="es" sz="3400">
                <a:solidFill>
                  <a:schemeClr val="dk1"/>
                </a:solidFill>
              </a:rPr>
              <a:t>31</a:t>
            </a:r>
            <a:r>
              <a:rPr lang="es" sz="3400">
                <a:solidFill>
                  <a:schemeClr val="dk1"/>
                </a:solidFill>
              </a:rPr>
              <a:t>	C</a:t>
            </a:r>
            <a:r>
              <a:rPr baseline="-25000" lang="es" sz="3400">
                <a:solidFill>
                  <a:schemeClr val="dk1"/>
                </a:solidFill>
              </a:rPr>
              <a:t>32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65" name="Google Shape;465;p55"/>
          <p:cNvSpPr/>
          <p:nvPr/>
        </p:nvSpPr>
        <p:spPr>
          <a:xfrm>
            <a:off x="3682275" y="3046025"/>
            <a:ext cx="3386400" cy="1576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  </a:t>
            </a:r>
            <a:r>
              <a:rPr lang="es" sz="3400">
                <a:solidFill>
                  <a:schemeClr val="dk1"/>
                </a:solidFill>
              </a:rPr>
              <a:t>-7</a:t>
            </a:r>
            <a:r>
              <a:rPr lang="es" sz="1900">
                <a:solidFill>
                  <a:schemeClr val="dk1"/>
                </a:solidFill>
              </a:rPr>
              <a:t> 				</a:t>
            </a:r>
            <a:r>
              <a:rPr lang="es" sz="3400">
                <a:solidFill>
                  <a:schemeClr val="dk1"/>
                </a:solidFill>
              </a:rPr>
              <a:t>32</a:t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-16	 			41</a:t>
            </a:r>
            <a:endParaRPr baseline="-25000"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400">
                <a:solidFill>
                  <a:schemeClr val="dk1"/>
                </a:solidFill>
              </a:rPr>
              <a:t>  4				16</a:t>
            </a:r>
            <a:endParaRPr baseline="-25000" sz="3400">
              <a:solidFill>
                <a:schemeClr val="dk1"/>
              </a:solidFill>
            </a:endParaRPr>
          </a:p>
        </p:txBody>
      </p:sp>
      <p:sp>
        <p:nvSpPr>
          <p:cNvPr id="466" name="Google Shape;466;p55"/>
          <p:cNvSpPr txBox="1"/>
          <p:nvPr/>
        </p:nvSpPr>
        <p:spPr>
          <a:xfrm>
            <a:off x="3176200" y="3634025"/>
            <a:ext cx="4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/>
              <a:t>=</a:t>
            </a:r>
            <a:endParaRPr b="1"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6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Propiedades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2" name="Google Shape;472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Conmutativa respecto de la suma: 	A + B = B + 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Asociativa respecto de la suma:	(A + B) + C = A + (B + C)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Distributiva:						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k (A + B) = kA + kB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(k + r) A = kA + rA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A * (B + C) = A * B + A * C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No hay conmutatividad</a:t>
            </a:r>
            <a:r>
              <a:rPr lang="es"/>
              <a:t> respecto al producto: A * B ≠ B * A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7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Trasposición de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57"/>
          <p:cNvSpPr txBox="1"/>
          <p:nvPr>
            <p:ph idx="1" type="body"/>
          </p:nvPr>
        </p:nvSpPr>
        <p:spPr>
          <a:xfrm>
            <a:off x="311700" y="1152475"/>
            <a:ext cx="8520600" cy="13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trasposición de una matriz A es una operación que consiste en colocar las filas de A en forma de columna, respetando su orden. Se obtiene de esta manera otra matriz que se llamará la traspuesta de A y se representará por A</a:t>
            </a:r>
            <a:r>
              <a:rPr baseline="30000" lang="es"/>
              <a:t>t</a:t>
            </a:r>
            <a:r>
              <a:rPr lang="es"/>
              <a:t>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Ejemplo: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</a:t>
            </a:r>
            <a:r>
              <a:rPr b="1" baseline="-25000" lang="es"/>
              <a:t>3x2</a:t>
            </a:r>
            <a:r>
              <a:rPr b="1" lang="es"/>
              <a:t> = 					M</a:t>
            </a:r>
            <a:r>
              <a:rPr b="1" baseline="30000" lang="es"/>
              <a:t>t</a:t>
            </a:r>
            <a:r>
              <a:rPr b="1" lang="es"/>
              <a:t> =</a:t>
            </a:r>
            <a:r>
              <a:rPr b="1" lang="es" sz="1400">
                <a:solidFill>
                  <a:schemeClr val="dk1"/>
                </a:solidFill>
              </a:rPr>
              <a:t> </a:t>
            </a:r>
            <a:r>
              <a:rPr b="1" lang="es"/>
              <a:t>???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7"/>
          <p:cNvSpPr txBox="1"/>
          <p:nvPr/>
        </p:nvSpPr>
        <p:spPr>
          <a:xfrm>
            <a:off x="1020650" y="3317075"/>
            <a:ext cx="95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chemeClr val="dk1"/>
                </a:solidFill>
              </a:rPr>
              <a:t>1 	4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-2	7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 4	0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0" name="Google Shape;480;p57"/>
          <p:cNvSpPr/>
          <p:nvPr/>
        </p:nvSpPr>
        <p:spPr>
          <a:xfrm>
            <a:off x="1074350" y="3357375"/>
            <a:ext cx="698400" cy="7788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8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Trasposición de matrices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6" name="Google Shape;486;p58"/>
          <p:cNvSpPr txBox="1"/>
          <p:nvPr>
            <p:ph idx="1" type="body"/>
          </p:nvPr>
        </p:nvSpPr>
        <p:spPr>
          <a:xfrm>
            <a:off x="311700" y="1152475"/>
            <a:ext cx="8520600" cy="13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trasposición de una matriz A es una operación que consiste en colocar las filas de A en forma de columna, respetando su orden. Se obtiene de esta manera otra matriz que se llamará la traspuesta de A y se representará por A</a:t>
            </a:r>
            <a:r>
              <a:rPr baseline="30000" lang="es"/>
              <a:t>t</a:t>
            </a:r>
            <a:r>
              <a:rPr lang="es"/>
              <a:t>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Ejemplo: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</a:t>
            </a:r>
            <a:r>
              <a:rPr b="1" baseline="-25000" lang="es"/>
              <a:t>3x2</a:t>
            </a:r>
            <a:r>
              <a:rPr b="1" lang="es"/>
              <a:t> = 					M</a:t>
            </a:r>
            <a:r>
              <a:rPr b="1" baseline="30000" lang="es"/>
              <a:t>t</a:t>
            </a:r>
            <a:r>
              <a:rPr b="1" baseline="-25000" lang="es"/>
              <a:t>2x3</a:t>
            </a:r>
            <a:r>
              <a:rPr b="1" lang="es"/>
              <a:t> =</a:t>
            </a:r>
            <a:r>
              <a:rPr b="1" lang="es" sz="1400">
                <a:solidFill>
                  <a:schemeClr val="dk1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8"/>
          <p:cNvSpPr txBox="1"/>
          <p:nvPr/>
        </p:nvSpPr>
        <p:spPr>
          <a:xfrm>
            <a:off x="1020650" y="3317075"/>
            <a:ext cx="95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</a:rPr>
              <a:t> </a:t>
            </a:r>
            <a:r>
              <a:rPr b="1" lang="es">
                <a:solidFill>
                  <a:srgbClr val="FF0000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 	</a:t>
            </a:r>
            <a:r>
              <a:rPr b="1" lang="es">
                <a:solidFill>
                  <a:srgbClr val="1155CC"/>
                </a:solidFill>
              </a:rPr>
              <a:t>4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-2</a:t>
            </a:r>
            <a:r>
              <a:rPr b="1" lang="es">
                <a:solidFill>
                  <a:schemeClr val="dk1"/>
                </a:solidFill>
              </a:rPr>
              <a:t>	</a:t>
            </a:r>
            <a:r>
              <a:rPr b="1" lang="es">
                <a:solidFill>
                  <a:srgbClr val="1155CC"/>
                </a:solidFill>
              </a:rPr>
              <a:t>7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 </a:t>
            </a:r>
            <a:r>
              <a:rPr b="1" lang="es">
                <a:solidFill>
                  <a:srgbClr val="FF0000"/>
                </a:solidFill>
              </a:rPr>
              <a:t>4</a:t>
            </a:r>
            <a:r>
              <a:rPr b="1" lang="es">
                <a:solidFill>
                  <a:schemeClr val="dk1"/>
                </a:solidFill>
              </a:rPr>
              <a:t>	</a:t>
            </a:r>
            <a:r>
              <a:rPr b="1" lang="es">
                <a:solidFill>
                  <a:srgbClr val="1155CC"/>
                </a:solidFill>
              </a:rPr>
              <a:t>0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8" name="Google Shape;488;p58"/>
          <p:cNvSpPr/>
          <p:nvPr/>
        </p:nvSpPr>
        <p:spPr>
          <a:xfrm>
            <a:off x="1074350" y="3357375"/>
            <a:ext cx="698400" cy="7788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8"/>
          <p:cNvSpPr txBox="1"/>
          <p:nvPr/>
        </p:nvSpPr>
        <p:spPr>
          <a:xfrm>
            <a:off x="4069150" y="3258700"/>
            <a:ext cx="163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C0000"/>
                </a:solidFill>
              </a:rPr>
              <a:t>1 	-2	4	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155CC"/>
                </a:solidFill>
              </a:rPr>
              <a:t>4	7	0</a:t>
            </a:r>
            <a:endParaRPr b="1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8"/>
          <p:cNvSpPr/>
          <p:nvPr/>
        </p:nvSpPr>
        <p:spPr>
          <a:xfrm>
            <a:off x="3988575" y="3276800"/>
            <a:ext cx="1410000" cy="5640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Matriz identidad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6" name="Google Shape;496;p59"/>
          <p:cNvSpPr/>
          <p:nvPr/>
        </p:nvSpPr>
        <p:spPr>
          <a:xfrm>
            <a:off x="0" y="1438200"/>
            <a:ext cx="9144000" cy="2876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0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Matriz inversa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60"/>
          <p:cNvSpPr txBox="1"/>
          <p:nvPr>
            <p:ph idx="1" type="body"/>
          </p:nvPr>
        </p:nvSpPr>
        <p:spPr>
          <a:xfrm>
            <a:off x="111175" y="982025"/>
            <a:ext cx="362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inversa de una matriz M </a:t>
            </a:r>
            <a:r>
              <a:rPr b="1" lang="es"/>
              <a:t>cuadrada </a:t>
            </a:r>
            <a:r>
              <a:rPr lang="es"/>
              <a:t>se denota M</a:t>
            </a:r>
            <a:r>
              <a:rPr baseline="30000" lang="es"/>
              <a:t>-1 </a:t>
            </a:r>
            <a:r>
              <a:rPr lang="es"/>
              <a:t>y cumple que: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M * M</a:t>
            </a:r>
            <a:r>
              <a:rPr baseline="30000" lang="es"/>
              <a:t>-1</a:t>
            </a:r>
            <a:r>
              <a:rPr lang="es"/>
              <a:t> = M</a:t>
            </a:r>
            <a:r>
              <a:rPr baseline="30000" lang="es"/>
              <a:t>-1 </a:t>
            </a:r>
            <a:r>
              <a:rPr lang="es"/>
              <a:t>* M = 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 que una matriz tenga inversa su determinante debe ser distinto de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0"/>
          <p:cNvSpPr/>
          <p:nvPr/>
        </p:nvSpPr>
        <p:spPr>
          <a:xfrm>
            <a:off x="3998975" y="1381500"/>
            <a:ext cx="4600500" cy="326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1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 de ecuaciones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9" name="Google Shape;509;p61"/>
          <p:cNvSpPr txBox="1"/>
          <p:nvPr>
            <p:ph idx="1" type="body"/>
          </p:nvPr>
        </p:nvSpPr>
        <p:spPr>
          <a:xfrm>
            <a:off x="51025" y="921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usar matrices para resolver sistemas de ecuaciones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"/>
              <a:t>Ejemplo:</a:t>
            </a:r>
            <a:endParaRPr b="1"/>
          </a:p>
        </p:txBody>
      </p:sp>
      <p:sp>
        <p:nvSpPr>
          <p:cNvPr id="510" name="Google Shape;510;p61"/>
          <p:cNvSpPr txBox="1"/>
          <p:nvPr/>
        </p:nvSpPr>
        <p:spPr>
          <a:xfrm>
            <a:off x="3201750" y="1647000"/>
            <a:ext cx="24531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      Ax = b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A⁻¹A x = A</a:t>
            </a:r>
            <a:r>
              <a:rPr lang="es" sz="2400">
                <a:solidFill>
                  <a:schemeClr val="dk1"/>
                </a:solidFill>
              </a:rPr>
              <a:t>⁻¹ b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</a:rPr>
              <a:t>      I x = A⁻¹ b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</a:rPr>
              <a:t>        x = A⁻¹ b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511" name="Google Shape;511;p61"/>
          <p:cNvSpPr/>
          <p:nvPr/>
        </p:nvSpPr>
        <p:spPr>
          <a:xfrm>
            <a:off x="342875" y="1878000"/>
            <a:ext cx="50100" cy="837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1"/>
          <p:cNvSpPr txBox="1"/>
          <p:nvPr/>
        </p:nvSpPr>
        <p:spPr>
          <a:xfrm>
            <a:off x="423125" y="1927500"/>
            <a:ext cx="126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x + 2y = -2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2x - y = 1</a:t>
            </a:r>
            <a:endParaRPr sz="1800"/>
          </a:p>
        </p:txBody>
      </p:sp>
      <p:grpSp>
        <p:nvGrpSpPr>
          <p:cNvPr id="513" name="Google Shape;513;p61"/>
          <p:cNvGrpSpPr/>
          <p:nvPr/>
        </p:nvGrpSpPr>
        <p:grpSpPr>
          <a:xfrm>
            <a:off x="342875" y="2856400"/>
            <a:ext cx="1864600" cy="638700"/>
            <a:chOff x="342875" y="3085000"/>
            <a:chExt cx="1864600" cy="638700"/>
          </a:xfrm>
        </p:grpSpPr>
        <p:sp>
          <p:nvSpPr>
            <p:cNvPr id="514" name="Google Shape;514;p61"/>
            <p:cNvSpPr/>
            <p:nvPr/>
          </p:nvSpPr>
          <p:spPr>
            <a:xfrm>
              <a:off x="342875" y="3085000"/>
              <a:ext cx="741000" cy="638700"/>
            </a:xfrm>
            <a:prstGeom prst="bracketPair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1"/>
                  </a:solidFill>
                </a:rPr>
                <a:t>1    2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1"/>
                  </a:solidFill>
                </a:rPr>
                <a:t>2  -1</a:t>
              </a:r>
              <a:endParaRPr sz="1800"/>
            </a:p>
          </p:txBody>
        </p:sp>
        <p:sp>
          <p:nvSpPr>
            <p:cNvPr id="515" name="Google Shape;515;p61"/>
            <p:cNvSpPr/>
            <p:nvPr/>
          </p:nvSpPr>
          <p:spPr>
            <a:xfrm>
              <a:off x="1166275" y="3085000"/>
              <a:ext cx="280500" cy="638700"/>
            </a:xfrm>
            <a:prstGeom prst="bracketPair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1"/>
                  </a:solidFill>
                </a:rPr>
                <a:t>x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1"/>
                  </a:solidFill>
                </a:rPr>
                <a:t>y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516" name="Google Shape;516;p61"/>
            <p:cNvSpPr/>
            <p:nvPr/>
          </p:nvSpPr>
          <p:spPr>
            <a:xfrm>
              <a:off x="1757775" y="3085000"/>
              <a:ext cx="449700" cy="638700"/>
            </a:xfrm>
            <a:prstGeom prst="bracketPair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1"/>
                  </a:solidFill>
                </a:rPr>
                <a:t>-2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1"/>
                  </a:solidFill>
                </a:rPr>
                <a:t>1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517" name="Google Shape;517;p61"/>
            <p:cNvSpPr txBox="1"/>
            <p:nvPr/>
          </p:nvSpPr>
          <p:spPr>
            <a:xfrm>
              <a:off x="1451800" y="3204250"/>
              <a:ext cx="22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=</a:t>
              </a:r>
              <a:endParaRPr/>
            </a:p>
          </p:txBody>
        </p:sp>
      </p:grpSp>
      <p:sp>
        <p:nvSpPr>
          <p:cNvPr id="518" name="Google Shape;518;p61"/>
          <p:cNvSpPr txBox="1"/>
          <p:nvPr/>
        </p:nvSpPr>
        <p:spPr>
          <a:xfrm>
            <a:off x="541425" y="3549325"/>
            <a:ext cx="33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</a:t>
            </a:r>
            <a:endParaRPr/>
          </a:p>
        </p:txBody>
      </p:sp>
      <p:sp>
        <p:nvSpPr>
          <p:cNvPr id="519" name="Google Shape;519;p61"/>
          <p:cNvSpPr txBox="1"/>
          <p:nvPr/>
        </p:nvSpPr>
        <p:spPr>
          <a:xfrm>
            <a:off x="1163050" y="3549325"/>
            <a:ext cx="30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x</a:t>
            </a:r>
            <a:endParaRPr/>
          </a:p>
        </p:txBody>
      </p:sp>
      <p:sp>
        <p:nvSpPr>
          <p:cNvPr id="520" name="Google Shape;520;p61"/>
          <p:cNvSpPr txBox="1"/>
          <p:nvPr/>
        </p:nvSpPr>
        <p:spPr>
          <a:xfrm>
            <a:off x="1754675" y="3549325"/>
            <a:ext cx="4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</a:t>
            </a:r>
            <a:endParaRPr/>
          </a:p>
        </p:txBody>
      </p:sp>
      <p:sp>
        <p:nvSpPr>
          <p:cNvPr id="521" name="Google Shape;521;p61"/>
          <p:cNvSpPr/>
          <p:nvPr/>
        </p:nvSpPr>
        <p:spPr>
          <a:xfrm>
            <a:off x="342875" y="4003750"/>
            <a:ext cx="2805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22" name="Google Shape;522;p61"/>
          <p:cNvSpPr/>
          <p:nvPr/>
        </p:nvSpPr>
        <p:spPr>
          <a:xfrm>
            <a:off x="1754675" y="3949525"/>
            <a:ext cx="4497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-2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23" name="Google Shape;523;p61"/>
          <p:cNvSpPr txBox="1"/>
          <p:nvPr/>
        </p:nvSpPr>
        <p:spPr>
          <a:xfrm>
            <a:off x="628400" y="4123000"/>
            <a:ext cx="22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=</a:t>
            </a:r>
            <a:endParaRPr/>
          </a:p>
        </p:txBody>
      </p:sp>
      <p:sp>
        <p:nvSpPr>
          <p:cNvPr id="524" name="Google Shape;524;p61"/>
          <p:cNvSpPr txBox="1"/>
          <p:nvPr/>
        </p:nvSpPr>
        <p:spPr>
          <a:xfrm>
            <a:off x="1102900" y="4003750"/>
            <a:ext cx="583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A</a:t>
            </a:r>
            <a:r>
              <a:rPr baseline="30000" lang="es" sz="2100"/>
              <a:t>-1</a:t>
            </a:r>
            <a:endParaRPr baseline="30000" sz="2100"/>
          </a:p>
        </p:txBody>
      </p:sp>
      <p:sp>
        <p:nvSpPr>
          <p:cNvPr id="525" name="Google Shape;525;p61"/>
          <p:cNvSpPr txBox="1"/>
          <p:nvPr/>
        </p:nvSpPr>
        <p:spPr>
          <a:xfrm>
            <a:off x="1754675" y="4692325"/>
            <a:ext cx="57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 calculábamos A</a:t>
            </a:r>
            <a:r>
              <a:rPr baseline="30000" lang="es"/>
              <a:t>-1 </a:t>
            </a:r>
            <a:r>
              <a:rPr lang="es">
                <a:solidFill>
                  <a:schemeClr val="dk1"/>
                </a:solidFill>
              </a:rPr>
              <a:t>?</a:t>
            </a:r>
            <a:r>
              <a:rPr baseline="30000" lang="es"/>
              <a:t> </a:t>
            </a:r>
            <a:endParaRPr baseline="30000"/>
          </a:p>
        </p:txBody>
      </p:sp>
      <p:cxnSp>
        <p:nvCxnSpPr>
          <p:cNvPr id="526" name="Google Shape;526;p61"/>
          <p:cNvCxnSpPr>
            <a:stCxn id="524" idx="2"/>
            <a:endCxn id="525" idx="1"/>
          </p:cNvCxnSpPr>
          <p:nvPr/>
        </p:nvCxnSpPr>
        <p:spPr>
          <a:xfrm>
            <a:off x="1394650" y="4511650"/>
            <a:ext cx="360000" cy="38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2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2" name="Google Shape;532;p62"/>
          <p:cNvSpPr/>
          <p:nvPr/>
        </p:nvSpPr>
        <p:spPr>
          <a:xfrm>
            <a:off x="5456400" y="1152475"/>
            <a:ext cx="3375900" cy="2397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3" name="Google Shape;533;p62"/>
          <p:cNvSpPr/>
          <p:nvPr/>
        </p:nvSpPr>
        <p:spPr>
          <a:xfrm>
            <a:off x="1034675" y="1914300"/>
            <a:ext cx="7410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1    2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  -1</a:t>
            </a:r>
            <a:endParaRPr sz="1800"/>
          </a:p>
        </p:txBody>
      </p:sp>
      <p:sp>
        <p:nvSpPr>
          <p:cNvPr id="534" name="Google Shape;534;p62"/>
          <p:cNvSpPr txBox="1"/>
          <p:nvPr/>
        </p:nvSpPr>
        <p:spPr>
          <a:xfrm>
            <a:off x="471225" y="2033550"/>
            <a:ext cx="5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A =</a:t>
            </a:r>
            <a:endParaRPr sz="1800"/>
          </a:p>
        </p:txBody>
      </p:sp>
      <p:sp>
        <p:nvSpPr>
          <p:cNvPr id="535" name="Google Shape;535;p62"/>
          <p:cNvSpPr/>
          <p:nvPr/>
        </p:nvSpPr>
        <p:spPr>
          <a:xfrm>
            <a:off x="1114900" y="2712125"/>
            <a:ext cx="1602300" cy="837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-</a:t>
            </a:r>
            <a:r>
              <a:rPr lang="es" sz="1800">
                <a:solidFill>
                  <a:schemeClr val="dk1"/>
                </a:solidFill>
              </a:rPr>
              <a:t>1/-5    -2/-5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-2/-5  1/-5</a:t>
            </a:r>
            <a:endParaRPr sz="1800"/>
          </a:p>
        </p:txBody>
      </p:sp>
      <p:sp>
        <p:nvSpPr>
          <p:cNvPr id="536" name="Google Shape;536;p62"/>
          <p:cNvSpPr txBox="1"/>
          <p:nvPr/>
        </p:nvSpPr>
        <p:spPr>
          <a:xfrm>
            <a:off x="417950" y="2815925"/>
            <a:ext cx="74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A</a:t>
            </a:r>
            <a:r>
              <a:rPr baseline="30000" lang="es" sz="1800"/>
              <a:t>-1</a:t>
            </a:r>
            <a:r>
              <a:rPr lang="es" sz="1800"/>
              <a:t> =</a:t>
            </a:r>
            <a:endParaRPr sz="1800"/>
          </a:p>
        </p:txBody>
      </p:sp>
      <p:sp>
        <p:nvSpPr>
          <p:cNvPr id="537" name="Google Shape;537;p62"/>
          <p:cNvSpPr/>
          <p:nvPr/>
        </p:nvSpPr>
        <p:spPr>
          <a:xfrm>
            <a:off x="2969700" y="2712125"/>
            <a:ext cx="1602300" cy="837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1/5    2/5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2/5  -1/5</a:t>
            </a:r>
            <a:endParaRPr sz="1800"/>
          </a:p>
        </p:txBody>
      </p:sp>
      <p:sp>
        <p:nvSpPr>
          <p:cNvPr id="538" name="Google Shape;538;p62"/>
          <p:cNvSpPr txBox="1"/>
          <p:nvPr/>
        </p:nvSpPr>
        <p:spPr>
          <a:xfrm>
            <a:off x="2717200" y="2930975"/>
            <a:ext cx="2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=</a:t>
            </a:r>
            <a:endParaRPr/>
          </a:p>
        </p:txBody>
      </p:sp>
      <p:sp>
        <p:nvSpPr>
          <p:cNvPr id="539" name="Google Shape;539;p62"/>
          <p:cNvSpPr/>
          <p:nvPr/>
        </p:nvSpPr>
        <p:spPr>
          <a:xfrm>
            <a:off x="417950" y="3947125"/>
            <a:ext cx="2805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0" name="Google Shape;540;p62"/>
          <p:cNvSpPr/>
          <p:nvPr/>
        </p:nvSpPr>
        <p:spPr>
          <a:xfrm>
            <a:off x="2712875" y="3947125"/>
            <a:ext cx="4497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-2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1" name="Google Shape;541;p62"/>
          <p:cNvSpPr txBox="1"/>
          <p:nvPr/>
        </p:nvSpPr>
        <p:spPr>
          <a:xfrm>
            <a:off x="703475" y="4066375"/>
            <a:ext cx="22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=</a:t>
            </a:r>
            <a:endParaRPr/>
          </a:p>
        </p:txBody>
      </p:sp>
      <p:sp>
        <p:nvSpPr>
          <p:cNvPr id="542" name="Google Shape;542;p62"/>
          <p:cNvSpPr/>
          <p:nvPr/>
        </p:nvSpPr>
        <p:spPr>
          <a:xfrm>
            <a:off x="997475" y="3847525"/>
            <a:ext cx="1602300" cy="837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1/5    2/5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2/5  -1/5</a:t>
            </a:r>
            <a:endParaRPr sz="1800"/>
          </a:p>
        </p:txBody>
      </p:sp>
      <p:sp>
        <p:nvSpPr>
          <p:cNvPr id="543" name="Google Shape;543;p62"/>
          <p:cNvSpPr/>
          <p:nvPr/>
        </p:nvSpPr>
        <p:spPr>
          <a:xfrm>
            <a:off x="474425" y="1088875"/>
            <a:ext cx="2805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4" name="Google Shape;544;p62"/>
          <p:cNvSpPr/>
          <p:nvPr/>
        </p:nvSpPr>
        <p:spPr>
          <a:xfrm>
            <a:off x="1886225" y="1034650"/>
            <a:ext cx="4497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-2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5" name="Google Shape;545;p62"/>
          <p:cNvSpPr txBox="1"/>
          <p:nvPr/>
        </p:nvSpPr>
        <p:spPr>
          <a:xfrm>
            <a:off x="759950" y="1208125"/>
            <a:ext cx="22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=</a:t>
            </a:r>
            <a:endParaRPr/>
          </a:p>
        </p:txBody>
      </p:sp>
      <p:sp>
        <p:nvSpPr>
          <p:cNvPr id="546" name="Google Shape;546;p62"/>
          <p:cNvSpPr txBox="1"/>
          <p:nvPr/>
        </p:nvSpPr>
        <p:spPr>
          <a:xfrm>
            <a:off x="1234450" y="1088875"/>
            <a:ext cx="583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/>
              <a:t>A</a:t>
            </a:r>
            <a:r>
              <a:rPr baseline="30000" lang="es" sz="2100"/>
              <a:t>-1</a:t>
            </a:r>
            <a:endParaRPr baseline="30000" sz="2100"/>
          </a:p>
        </p:txBody>
      </p:sp>
      <p:sp>
        <p:nvSpPr>
          <p:cNvPr id="547" name="Google Shape;547;p62"/>
          <p:cNvSpPr/>
          <p:nvPr/>
        </p:nvSpPr>
        <p:spPr>
          <a:xfrm>
            <a:off x="3546000" y="3947125"/>
            <a:ext cx="449700" cy="638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-1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48" name="Google Shape;548;p62"/>
          <p:cNvSpPr txBox="1"/>
          <p:nvPr/>
        </p:nvSpPr>
        <p:spPr>
          <a:xfrm>
            <a:off x="3239388" y="4066375"/>
            <a:ext cx="22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=</a:t>
            </a:r>
            <a:endParaRPr/>
          </a:p>
        </p:txBody>
      </p:sp>
      <p:cxnSp>
        <p:nvCxnSpPr>
          <p:cNvPr id="549" name="Google Shape;549;p62"/>
          <p:cNvCxnSpPr/>
          <p:nvPr/>
        </p:nvCxnSpPr>
        <p:spPr>
          <a:xfrm>
            <a:off x="4071900" y="4266475"/>
            <a:ext cx="10374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0" name="Google Shape;550;p62"/>
          <p:cNvSpPr txBox="1"/>
          <p:nvPr/>
        </p:nvSpPr>
        <p:spPr>
          <a:xfrm>
            <a:off x="5213675" y="3968425"/>
            <a:ext cx="326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sistema de ecuaciones es válido para (x,y) = (0,-1)</a:t>
            </a:r>
            <a:endParaRPr/>
          </a:p>
        </p:txBody>
      </p:sp>
      <p:sp>
        <p:nvSpPr>
          <p:cNvPr id="551" name="Google Shape;551;p62"/>
          <p:cNvSpPr txBox="1"/>
          <p:nvPr/>
        </p:nvSpPr>
        <p:spPr>
          <a:xfrm>
            <a:off x="2346150" y="1955125"/>
            <a:ext cx="236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 - bc = -5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7" name="Google Shape;557;p63"/>
          <p:cNvSpPr txBox="1"/>
          <p:nvPr>
            <p:ph idx="1" type="body"/>
          </p:nvPr>
        </p:nvSpPr>
        <p:spPr>
          <a:xfrm>
            <a:off x="311700" y="1152475"/>
            <a:ext cx="398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Gráficamente</a:t>
            </a:r>
            <a:r>
              <a:rPr lang="es"/>
              <a:t> podemos ver que ambas funciones se intersecan en el punto (x , y) = (0 , -1)</a:t>
            </a:r>
            <a:endParaRPr/>
          </a:p>
        </p:txBody>
      </p:sp>
      <p:pic>
        <p:nvPicPr>
          <p:cNvPr id="558" name="Google Shape;55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452" y="1603650"/>
            <a:ext cx="4115147" cy="28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63"/>
          <p:cNvSpPr txBox="1"/>
          <p:nvPr/>
        </p:nvSpPr>
        <p:spPr>
          <a:xfrm rot="1603736">
            <a:off x="6747682" y="3398945"/>
            <a:ext cx="1313338" cy="6771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x + 2y = -2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3"/>
          <p:cNvSpPr txBox="1"/>
          <p:nvPr/>
        </p:nvSpPr>
        <p:spPr>
          <a:xfrm>
            <a:off x="6968300" y="1824800"/>
            <a:ext cx="11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2x - y = 1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4"/>
          <p:cNvSpPr txBox="1"/>
          <p:nvPr/>
        </p:nvSpPr>
        <p:spPr>
          <a:xfrm>
            <a:off x="0" y="10475"/>
            <a:ext cx="9144000" cy="837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" sz="3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Ejercicio</a:t>
            </a:r>
            <a:endParaRPr b="1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64"/>
          <p:cNvSpPr txBox="1"/>
          <p:nvPr>
            <p:ph idx="1" type="body"/>
          </p:nvPr>
        </p:nvSpPr>
        <p:spPr>
          <a:xfrm>
            <a:off x="0" y="848375"/>
            <a:ext cx="9144000" cy="4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Ana, Bernardo y Cecilia están vendiendo 4 comidas distintas: pizzas, empanadas, sandwiches y hamburguesas. Cada pizza la venden a $250, cada empanada a $45, cada sandwich a $170 y cada hamburguesa a $220. Si se sabe que Bernardo vendió 2 pizzas, 5 empanadas y un sandwich; Ana vendió 3 hamburguesas y una docena de empanadas y Cecilia vendió una unidad de cada comida, ¿Quién recaudó más plata?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600"/>
              <a:t>Podemos plantear este problema como una multiplicación entre dos matrices: una que registre las ventas de todos los vendedores y otra que registre los costos de cada comida</a:t>
            </a:r>
            <a:endParaRPr sz="1600"/>
          </a:p>
        </p:txBody>
      </p:sp>
      <p:grpSp>
        <p:nvGrpSpPr>
          <p:cNvPr id="567" name="Google Shape;567;p64"/>
          <p:cNvGrpSpPr/>
          <p:nvPr/>
        </p:nvGrpSpPr>
        <p:grpSpPr>
          <a:xfrm>
            <a:off x="210375" y="3346675"/>
            <a:ext cx="2346475" cy="1367700"/>
            <a:chOff x="210375" y="3194275"/>
            <a:chExt cx="2346475" cy="1367700"/>
          </a:xfrm>
        </p:grpSpPr>
        <p:grpSp>
          <p:nvGrpSpPr>
            <p:cNvPr id="568" name="Google Shape;568;p64"/>
            <p:cNvGrpSpPr/>
            <p:nvPr/>
          </p:nvGrpSpPr>
          <p:grpSpPr>
            <a:xfrm>
              <a:off x="210375" y="3194275"/>
              <a:ext cx="2346475" cy="1367700"/>
              <a:chOff x="401050" y="3525125"/>
              <a:chExt cx="2346475" cy="1367700"/>
            </a:xfrm>
          </p:grpSpPr>
          <p:sp>
            <p:nvSpPr>
              <p:cNvPr id="569" name="Google Shape;569;p64"/>
              <p:cNvSpPr/>
              <p:nvPr/>
            </p:nvSpPr>
            <p:spPr>
              <a:xfrm>
                <a:off x="774000" y="3925325"/>
                <a:ext cx="1895100" cy="967500"/>
              </a:xfrm>
              <a:prstGeom prst="bracketPair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800">
                    <a:solidFill>
                      <a:schemeClr val="dk1"/>
                    </a:solidFill>
                  </a:rPr>
                  <a:t> </a:t>
                </a:r>
                <a:endParaRPr sz="1800"/>
              </a:p>
            </p:txBody>
          </p:sp>
          <p:sp>
            <p:nvSpPr>
              <p:cNvPr id="570" name="Google Shape;570;p64"/>
              <p:cNvSpPr txBox="1"/>
              <p:nvPr/>
            </p:nvSpPr>
            <p:spPr>
              <a:xfrm>
                <a:off x="401050" y="4000500"/>
                <a:ext cx="2808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/>
                  <a:t>A</a:t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/>
                  <a:t>B</a:t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/>
                  <a:t>C</a:t>
                </a:r>
                <a:endParaRPr/>
              </a:p>
            </p:txBody>
          </p:sp>
          <p:sp>
            <p:nvSpPr>
              <p:cNvPr id="571" name="Google Shape;571;p64"/>
              <p:cNvSpPr txBox="1"/>
              <p:nvPr/>
            </p:nvSpPr>
            <p:spPr>
              <a:xfrm>
                <a:off x="852425" y="3525125"/>
                <a:ext cx="18951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/>
                  <a:t>P	E	S	H</a:t>
                </a:r>
                <a:endParaRPr/>
              </a:p>
            </p:txBody>
          </p:sp>
        </p:grpSp>
        <p:sp>
          <p:nvSpPr>
            <p:cNvPr id="572" name="Google Shape;572;p64"/>
            <p:cNvSpPr txBox="1"/>
            <p:nvPr/>
          </p:nvSpPr>
          <p:spPr>
            <a:xfrm>
              <a:off x="661750" y="3684525"/>
              <a:ext cx="1694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0	12	0	3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2	5	1	0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1	1	1	1</a:t>
              </a:r>
              <a:endParaRPr/>
            </a:p>
          </p:txBody>
        </p:sp>
      </p:grpSp>
      <p:grpSp>
        <p:nvGrpSpPr>
          <p:cNvPr id="573" name="Google Shape;573;p64"/>
          <p:cNvGrpSpPr/>
          <p:nvPr/>
        </p:nvGrpSpPr>
        <p:grpSpPr>
          <a:xfrm>
            <a:off x="2657937" y="3667675"/>
            <a:ext cx="656903" cy="1046700"/>
            <a:chOff x="2962738" y="3667675"/>
            <a:chExt cx="656903" cy="1046700"/>
          </a:xfrm>
        </p:grpSpPr>
        <p:grpSp>
          <p:nvGrpSpPr>
            <p:cNvPr id="574" name="Google Shape;574;p64"/>
            <p:cNvGrpSpPr/>
            <p:nvPr/>
          </p:nvGrpSpPr>
          <p:grpSpPr>
            <a:xfrm>
              <a:off x="3011734" y="3667675"/>
              <a:ext cx="607907" cy="1046700"/>
              <a:chOff x="774000" y="3846125"/>
              <a:chExt cx="2432600" cy="1046700"/>
            </a:xfrm>
          </p:grpSpPr>
          <p:sp>
            <p:nvSpPr>
              <p:cNvPr id="575" name="Google Shape;575;p64"/>
              <p:cNvSpPr/>
              <p:nvPr/>
            </p:nvSpPr>
            <p:spPr>
              <a:xfrm>
                <a:off x="774000" y="3925325"/>
                <a:ext cx="1895100" cy="967500"/>
              </a:xfrm>
              <a:prstGeom prst="bracketPair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1800">
                    <a:solidFill>
                      <a:schemeClr val="dk1"/>
                    </a:solidFill>
                  </a:rPr>
                  <a:t> </a:t>
                </a:r>
                <a:endParaRPr sz="1800"/>
              </a:p>
            </p:txBody>
          </p:sp>
          <p:sp>
            <p:nvSpPr>
              <p:cNvPr id="576" name="Google Shape;576;p64"/>
              <p:cNvSpPr txBox="1"/>
              <p:nvPr/>
            </p:nvSpPr>
            <p:spPr>
              <a:xfrm>
                <a:off x="2857700" y="3846125"/>
                <a:ext cx="348900" cy="104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7" name="Google Shape;577;p64"/>
            <p:cNvSpPr txBox="1"/>
            <p:nvPr/>
          </p:nvSpPr>
          <p:spPr>
            <a:xfrm>
              <a:off x="2962738" y="3667675"/>
              <a:ext cx="5655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250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45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170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/>
                <a:t>220</a:t>
              </a:r>
              <a:endParaRPr/>
            </a:p>
          </p:txBody>
        </p:sp>
      </p:grpSp>
      <p:sp>
        <p:nvSpPr>
          <p:cNvPr id="578" name="Google Shape;578;p64"/>
          <p:cNvSpPr txBox="1"/>
          <p:nvPr/>
        </p:nvSpPr>
        <p:spPr>
          <a:xfrm>
            <a:off x="3188375" y="3990925"/>
            <a:ext cx="30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=</a:t>
            </a:r>
            <a:endParaRPr/>
          </a:p>
        </p:txBody>
      </p:sp>
      <p:sp>
        <p:nvSpPr>
          <p:cNvPr id="579" name="Google Shape;579;p64"/>
          <p:cNvSpPr/>
          <p:nvPr/>
        </p:nvSpPr>
        <p:spPr>
          <a:xfrm>
            <a:off x="3529275" y="3859675"/>
            <a:ext cx="657000" cy="6837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 </a:t>
            </a:r>
            <a:endParaRPr sz="1800"/>
          </a:p>
        </p:txBody>
      </p:sp>
      <p:sp>
        <p:nvSpPr>
          <p:cNvPr id="580" name="Google Shape;580;p64"/>
          <p:cNvSpPr txBox="1"/>
          <p:nvPr/>
        </p:nvSpPr>
        <p:spPr>
          <a:xfrm>
            <a:off x="3555350" y="3775375"/>
            <a:ext cx="65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120</a:t>
            </a:r>
            <a:r>
              <a:rPr lang="es"/>
              <a:t>0	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895	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685	</a:t>
            </a:r>
            <a:endParaRPr/>
          </a:p>
        </p:txBody>
      </p:sp>
      <p:cxnSp>
        <p:nvCxnSpPr>
          <p:cNvPr id="581" name="Google Shape;581;p64"/>
          <p:cNvCxnSpPr/>
          <p:nvPr/>
        </p:nvCxnSpPr>
        <p:spPr>
          <a:xfrm>
            <a:off x="4100775" y="3970425"/>
            <a:ext cx="671700" cy="14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2" name="Google Shape;582;p64"/>
          <p:cNvSpPr txBox="1"/>
          <p:nvPr/>
        </p:nvSpPr>
        <p:spPr>
          <a:xfrm>
            <a:off x="4740450" y="3950375"/>
            <a:ext cx="26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Ana recaudó más plata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